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Accueil et ouverture de la formation
Souhaiter la bienvenue aux participants BFORBANK, se presenter (parcours, experience en IA generative / data engineering) et presenter rapidement le deroule de la semaine.
Rappeler le cadre : formation de 5 jours (Du 19 au 23 octobre 2026), 5 jours / 35 heures, en presentiel a Presentiel a Paris La Defense.
Faire un tour de table rapide : fonction de chacun, niveau d'aisance avec Python et les API, attentes vis-a-vis de la semaine.
Annoncer le fil conducteur : construire progressivement, jour apres jour, un pipeline data engineering integrant un LLM, jusqu'au projet fil rouge du Jour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Vue d'ensemble du programme des 5 jours
Parcourir chaque jour en une phrase, en insistant sur la progression : comprehension (J1) -&gt; manipulation technique de l'API/LangChain (J2) -&gt; generation et validation de donnees (J3) -&gt; securite/monitoring (J4) -&gt; projet integrateur (J5).
Jour 1 : Fondamentaux de l'IA generative
Jour 2 : Manipulation de LLM avec Python et LangChain
Jour 3 : Generation et evaluation de donnees synthetiques
Jour 4 : Securisation, industrialisation et cas d'usage avances
Jour 5 : Projet de fin : pipeline intelligent
Preciser que chaque journee alterne apports theoriques courts et travaux pratiques sur poste, et que le Jour 5 est entierement consacre au projet fil rouge.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Objectifs pedagogiques de la formation
Detailler chaque objectif en donnant un exemple concret de mise en oeuvre en environnement data engineering.
1. Comprendre les concepts fondamentaux de l'IA generative
2. Identifier les cas d'usage pertinents pour les Data Engineers
3. Manipuler des modeles de langage comme GPT dans des flux de traitement
4. Generer et valider des donnees synthetiques pour enrichir les jeux de donnees
5. Automatiser certaines taches grace a des API d'IA generative
6. Evaluer les risques ethiques et de securite lies a ces usages
Insister sur le fait que ces objectifs seront mobilises et evalues via le projet fil rouge du Jour 5 et le quiz de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Prerequis et public vise
Verifier collectivement que les prerequis techniques (bases Python, notions d'API REST, bases SQL) sont bien acquis par tous ; proposer un accompagnement individuel des le debut de semaine si besoin.
Prerequis apprenants :
- Bonne maitrise de Python (fonctions, structures de donnees, environnements virtuels)
- Connaissance des architectures de donnees (pipelines ETL/ELT, bases relationnelles, formats semi-structures)
- Connaissance des API REST (methodes HTTP, authentification, format JSON)
- A l'aise avec au moins un outil cloud (stockage, calcul ou orchestration)
Public cible :
- Data Engineers
- Data Architects
- Developpeurs backend en charge de flux de donnees
- Ingenieurs data en charge des pipelines de traitement de donnees
Rappeler que le niveau des explications donnees toute la semaine est cadre par ce public 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Modalites pedagogiques et evaluation
Expliquer l'alternance apports theoriques / TP / debriefing collectif, et le principe d'evaluation continue (quiz de revision + projet fil rouge du Jour 5, pas d'examen final isole).
Pedagogie :
- Alternance apports theoriques courts, demonstrations en direct avec des LLM et travaux pratiques
- 1 travail pratique par module, en lien direct avec la theorie qui precede
- Projet fil rouge le dernier jour : conception d'un pipeline intelligent integrant un LLM
- Debriefing ou correction collective apres chaque TP
- Utilisation exclusive de donnees fictives : aucune donnee reelle ou de production BFORBANK n'est manipulee
Evaluation :
- Evaluation formative continue (observation pendant les travaux pratiques)
- Quiz de revision en fin de parcours (10 questions couvrant les 5 jours)
- Qualite et conformite des donnees synthetiques produites (TP5, TP6)
- Soutenance du projet fil rouge devant le groupe (Jour 5)
- Questionnaire de satisfaction a chaud en fin de formation
Preciser les horaires : Jour 1 9h15 (installation formateur) - 9h30-13h00 / 14h00-17h30 ; Jours 2 a 5 9h00-12h30 / 13h30-17h00.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Ouverture du Jour 1
Annoncer les modules de la journee et rappeler le fil conducteur avec la journee precedente.
Module 1 (3h30) : Fondamentaux de l'IA generative — objectif : Comprendre les concepts fondamentaux de l'IA generative et le principe de fonctionnement des LLM.
Module 2 (3h30) : Usages et enjeux pour les Data Engineers — objectif : Identifier les cas d'usage de l'IA generative pertinents pour un Data Engineer et les risques associes.
Rappeler l'horaire du jour (9h15 (installation formateur) - 9h30-13h00 / 14h00-17h30) et la position de la pause dejeuner.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1 · Module 1 — Fondamentaux de l'IA generative
Objectif du module : Comprendre les concepts fondamentaux de l'IA generative et le principe de fonctionnement des LLM.
Minutage indicatif du module :
0-20 min : Accueil, tour de table, presentation du programme des 5 jours
20-50 min : Definition, historique, IA classique vs IA generative
50-90 min : Panorama des modeles (LLM texte, image, multimodaux)
90-130 min : Fonctionnement d'un LLM : tokenisation, embeddings, attention
130-145 min : Pause
145-200 min : TP1 en autonomie sur Hugging Face
200-210 min : Debriefing collectif
Points a developper a l'oral pour cette diapositive :
- Definition de l'IA generative : des modeles capables de produire du contenu inedit (texte, code, image, donnees) plutot que de seulement classer ou predire
- Historique resume : des reseaux de neurones classiques aux Transformers (2017), puis aux LLM grand public (GPT-3, ChatGPT en 2022)
- IA classique (regles, scoring, classification supervisee) versus IA generative (production de contenu nouveau par des modeles pre-entraines)
- Panorama des modeles existants : LLM texte (GPT, Claude, Llama, Mistral), generation d'image (DALL-E, Stable Diffusion), modeles multimodaux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1 · Module 1 — Fondamentaux de l'IA generative
Points a developper a l'oral pour cette diapositive :
- Principes de fonctionnement d'un LLM : tokenisation, embeddings, mecanisme d'attention, generation autoregressive token par token
- Notion de parametres, de fenetre de contexte (context window), et distinction fine-tuning versus prompt engineering
- Panorama des plateformes : Hugging Face (hub de modeles), OpenAI, Anthropic, Mistral AI, Google
Point de vigilance formateur : Verifier en amont que chaque poste a bien acces a huggingface.co (proxy/pare-feu BFORBANK). Le TP1 est volontairement exploratoire : l'objectif est la comprehension par la manipulation, pas la production d'un livrable.
A retenir : Retenez la chaine Texte -&gt; Tokens -&gt; Embeddings -&gt; Transformer -&gt; Generation : c'est le socle commun a tous les LLM que vous manipulerez cette semaine.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1 · Module 1 — Fondamentaux de l'IA generative (schéma)
Commenter le schema "IA classique vs IA generative, et pipeline d'un LLM" pas a pas avec les participants, en reliant chaque etape/zone aux points vus juste avant.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1 · Module 1 — TP n°1
Lancer le TP (duree indicative 55 min) : relire les consignes a voix haute et s'assurer que l'environnement de chacun est operationnel avant de laisser le travail en autonomie.
Consignes :
1. Se rendre sur huggingface.co et explorer le Hub de modeles en filtrant par tache (text-generation, text-classification)
2. Comparer un modele de classification (ex. BERT fine-tune pour l'analyse de sentiment) et un LLM generatif (ex. Mistral-7B-Instruct, GPT-2) : nombre de parametres, carte modele (model card), tache visee
3. Tester le widget d'inference en ligne sur 2 a 3 modeles et noter les differences de sortie obtenues
4. Lister 3 criteres permettant de distinguer un LLM d'un modele classique de machine learning
Circuler dans la salle pour debloquer les participants en difficulte ; garder 5 a 10 minutes de marge avant la correction collective.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1 · Module 1 — Corrigé TP n°1
Passer en revue le corrige avec le groupe, en sollicitant les participants sur les points ou ils ont rencontre des difficultes plutot que de derouler la solution telle quelle.
- Un modele classique produit une sortie bornee (une classe, un score) pour une tache unique pour laquelle il a ete entraine ou fine-tune
- Un LLM genere du texte libre, non borne, et peut etre reutilise pour de nombreuses taches via le prompt (few-shot, zero-shot) sans reentrainement
- Criteres de distinction attendus : taille du modele (nombre de parametres), nature de la sortie (classe vs texte libre), generalite (tache unique vs multi-taches par prompt), methode d'adaptation (fine-tuning vs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1 · Module 2 — Usages et enjeux pour les Data Engineers
Objectif du module : Identifier les cas d'usage de l'IA generative pertinents pour un Data Engineer et les risques associes.
Minutage indicatif du module :
0-30 min : Generation de donnees synthetiques : pourquoi et comment
30-55 min : Anonymisation de donnees via IA
55-85 min : Assistants intelligents pour les pipelines de donnees
85-115 min : Risques : hallucinations, biais, RGPD
115-130 min : Pause
130-195 min : TP2 en binomes : etude de cas
195-210 min : Restitution collective, bilan Jour 1
Points a developper a l'oral pour cette diapositive :
- Generation de donnees synthetiques : pourquoi (jeux de test, environnements de recette, equilibrage de classes rares) et comment (prompt structure, bibliotheques dediees)
- Anonymisation de donnees via IA : pseudonymisation assistee, generation de substituts realistes preservant la structure statistique des donnees d'origine
- Assistants intelligents pour les pipelines de donnees : generation de requetes SQL, documentation automatique de schemas, aide au debug de jobs ETL/ELT
- Risques : hallucinations (invention de faits ou de valeurs), biais herites des donnees d'entrainement, non-conformite RGPD (donnees personnelles dans les prompts, transfert hors UE)
- Panorama des cas d'usage prioritaires pour un Data Engineer : qualite de donnees, documentation, generation de tests, acceleration du developpement de pipelines
Point de vigilance formateur : Le TP2 se fait en binomes : constituer les binomes en amont pour melanger les profils (Data Engineer / Data Architect). Cadrer explicitement que les cas d'usage doivent rester generiques ou fictifs, sans reference a un systeme ou une donnee reelle BFORBANK.
A retenir : Face a un cas d'usage IA generative, posez-vous toujours 2 questions : quelle valeur metier, et quel risque (hallucination, RGPD, criticite)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1 · Module 2 — Usages et enjeux pour les Data Engineers (schéma)
Commenter le schema "Prioriser un cas d'usage : valeur vs risque" pas a pas avec les participants, en reliant chaque etape/zone aux points vus juste avant.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1 · Module 2 — TP n°2
Lancer le TP (duree indicative 65 min) : relire les consignes a voix haute et s'assurer que l'environnement de chacun est operationnel avant de laisser le travail en autonomie.
Consignes :
1. En binome, choisir un pipeline ou un jeu de donnees representatif de votre contexte (ou un cas bancaire fictif propose par le formateur)
2. Lister 3 cas d'usage possibles de l'IA generative sur ce pipeline (generation de donnees de test, documentation, detection d'anomalies...)
3. Prioriser ces cas d'usage selon 2 criteres : valeur metier et risque (RGPD, hallucination, criticite du systeme)
4. Restituer en 5 minutes maximum a l'ensemble du groupe
Circuler dans la salle pour debloquer les participants en difficulte ; garder 5 a 10 minutes de marge avant la correction collective.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1 · Module 2 — Corrigé TP n°2
Passer en revue le corrige avec le groupe, en sollicitant les participants sur les points ou ils ont rencontre des difficultes plutot que de derouler la solution telle quelle.
- Grille de priorisation a utiliser en debrief : axe X = risque, axe Y = valeur metier ; privilegier les cas a forte valeur et faible risque (ex. generation de donnees de test)
- Exemples de cas d'usage bancaires attendus : generation de jeux de test anonymises pour un environnement de recette, documentation automatique de modeles de donnees, assistant de generation de requetes SQL pour les analystes
- Exemples a haut risque a identifier comme tels : generation directe de donnees envoyees en production, ou tout usage exposant des donnees clients reelles dans un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Bilan de fin de Jour 1
Reprendre les points cles de la journee 1 avec le groupe, en les laissant reformuler avant de valider.
- Panorama de l'IA generative, de son historique et des grandes familles de modeles
- Cas d'usage et risques (hallucinations, biais, RGPD) pour un Data Engineer
- Premiere manipulation exploratoire de modeles sur Hugging Face
Annoncer en une phrase le programme du lendemain avant de clore la journee.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Ouverture du Jour 2
Annoncer les modules de la journee et rappeler le fil conducteur avec la journee precedente.
Module 3 (3h30) : Manipulation de LLM avec Python — objectif : Maitriser les appels a une API d'IA generative depuis Python et la validation des reponses obtenues.
Module 4 (3h30) : LangChain pour orchestrer les LLM — objectif : Orchestrer plusieurs appels a des LLM au sein d'un meme traitement, avec logging et observabilite.
Rappeler l'horaire du jour (9h00-12h30 / 13h30-17h00) et la position de la pause dejeuner.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2 · Module 3 — Manipulation de LLM avec Python
Objectif du module : Maitriser les appels a une API d'IA generative depuis Python et la validation des reponses obtenues.
Minutage indicatif du module :
0-20 min : Introduction a l'API OpenAI, modeles disponibles
20-50 min : Authentification, gestion securisee des cles API
50-90 min : Parametres d'appel : temperature, tokens, top_p
90-120 min : Traitement des retours : parsing JSON, validation
120-135 min : Pause
135-195 min : TP3 en autonomie
195-210 min : Correction collective
Points a developper a l'oral pour cette diapositive :
- Introduction a l'API OpenAI (ChatGPT) : modeles disponibles, endpoint de chat completions
- Authentification et gestion des cles API : variable d'environnement, jamais de cle en dur dans le code
- Parametres d'appel : messages system/user/assistant, temperature (creativite), max_tokens, top_p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2 · Module 3 — Manipulation de LLM avec Python
Points a developper a l'oral pour cette diapositive :
- Notion de token : unite de decoupage du texte, impact direct sur le cout et la latence d'un appel
- Traitement des retours : structuration de la reponse, parsing JSON, validation du format attendu (pydantic, jsonschema)
- Integration dans un pipeline de donnees : appel LLM comme etape d'un pipeline Python, gestion des erreurs et des retries
Point de vigilance formateur : S'assurer avant la session que chaque participant dispose d'une cle API de test valide (fournie par le formateur) et que le reseau BFORBANK autorise les appels sortants vers l'API choisie. Prevoir un compte de secours en cas de quota atteint.
A retenir : Ne jamais faire confiance aveuglement a une sortie de LLM : un prompt mal formule produit une reponse plausible mais non fiable. Validez systematiquement le format et le contenu.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2 · Module 3 — Manipulation de LLM avec Python (schéma)
Commenter le schema "Anatomie d'un appel API LLM dans un pipeline" pas a pas avec les participants, en reliant chaque etape/zone aux points vus juste avant.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2 · Module 3 — TP n°3
Lancer le TP (duree indicative 60 min) : relire les consignes a voix haute et s'assurer que l'environnement de chacun est operationnel avant de laisser le travail en autonomie.
Consignes :
1. Ecrire un script Python qui envoie un prompt a l'API OpenAI (ou Anthropic) et affiche la reponse
2. Parametrer la temperature et observer l'effet sur des appels repetes avec le meme prompt
3. Demander une sortie structuree en JSON (ex. extraction d'entites d'un texte) et la parser avec le module json
4. Tester volontairement un prompt ambigu ou incomplet et observer le comportement du modele
Circuler dans la salle pour debloquer les participants en difficulte ; garder 5 a 10 minutes de marge avant la correction collective.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2 · Module 3 — Corrigé TP n°3
Passer en revue le corrige avec le groupe, en sollicitant les participants sur les points ou ils ont rencontre des difficultes plutot que de derouler la solution telle quelle.
Le corrige est presente sous forme de code : commenter chaque bloc et repondre aux questions du 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2 · Module 4 — LangChain pour orchestrer les LLM
Objectif du module : Orchestrer plusieurs appels a des LLM au sein d'un meme traitement, avec logging et observabilite.
Minutage indicatif du module :
0-20 min : Introduction a LangChain, chaines et agents
20-55 min : Prompts chaines et modeles hybrides
55-85 min : Memorisation et gestion de l'etat
85-110 min : Logging, monitoring et observabilite
110-125 min : Pause
125-190 min : TP4 en autonomie
190-210 min : Correction, bilan Jour 2
Points a developper a l'oral pour cette diapositive :
- Introduction a LangChain : chaines (chains), composants (prompts, modeles, parsers), notion d'agent intelligent
- Prompts chaines : decomposer une tache complexe en plusieurs appels successifs
- Modeles hybrides : combiner un LLM puissant et un modele plus leger selon l'etape (routing, cout, latence)
- Memorisation et gestion de l'etat : conserver le contexte d'une conversation ou d'un pipeline multi-etapes
- Logging, monitoring et observabilite : tracer les appels, les prompts, les couts et les temps de reponse
Point de vigilance formateur : Le TP4 peut etre realise sans LangChain (chaine de prompts manuelle en Python) si l'installation pose probleme en salle - prevoir cette alternative en secours pour ne pas bloquer le groupe.
A retenir : Une chaine de prompts n'est robuste que si chaque etape est loguee et validee independamment : ne jamais enchainer des appels IA sans point de controle intermediaire.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2 · Module 4 — LangChain pour orchestrer les LLM (schéma)
Commenter le schema "Chaine LangChain simulant un ETL" pas a pas avec les participants, en reliant chaque etape/zone aux points vus juste avant.
Point cle a souligner : Logging a chaque etape : prompt envoye, reponse recue, duree, statut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2 · Module 4 — TP n°4
Lancer le TP (duree indicative 75 min) : relire les consignes a voix haute et s'assurer que l'environnement de chacun est operationnel avant de laisser le travail en autonomie.
Consignes :
1. Concevoir avec LangChain (ou une chaine de prompts manuelle) un mini pipeline en 3 etapes : extraction d'un texte source, transformation/nettoyage assiste par LLM, generation d'un resume structure
2. Ajouter un mecanisme de logging a chaque etape (prompt envoye, reponse recue, duree)
3. Documenter les mecanismes de logging necessaires dans un contexte de production bancaire (tracabilite, audit)
Circuler dans la salle pour debloquer les participants en difficulte ; garder 5 a 10 minutes de marge avant la correction collective.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2 · Module 4 — Corrigé TP n°4
Passer en revue le corrige avec le groupe, en sollicitant les participants sur les points ou ils ont rencontre des difficultes plutot que de derouler la solution telle quelle.
- Pipeline attendu : Extraction -&gt; Prompt de nettoyage -&gt; Prompt de resume structure -&gt; sortie JSON validee, avec un log par etape
- Mecanismes de logging a integrer en contexte bancaire : horodatage, identifiant de requete/correlation, prompt et reponse (tronques ou masques si donnees sensibles), nombre de tokens et cout, statut succes/echec, conservation conforme a la politique de retention RGPD interne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Bilan de fin de Jour 2
Reprendre les points cles de la journee 2 avec le groupe, en les laissant reformuler avant de valider.
- Maitrise des appels a l'API d'un LLM depuis Python (parametres, parsing, validation)
- Orchestration de plusieurs appels avec LangChain : chaines, memoire, logging
- Bonne pratique : ne jamais exposer une cle d'API dans le code
Annoncer en une phrase le programme du lendemain avant de clore la journee.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Ouverture du Jour 3
Annoncer les modules de la journee et rappeler le fil conducteur avec la journee precedente.
Module 5 (3h30) : Generation de donnees synthetiques — objectif : Generer des donnees synthetiques conformes a un schema cible, dans le respect du RGPD.
Module 6 (3h30) : Evaluation de la qualite de sortie — objectif : Evaluer et fiabiliser la qualite d'une sortie generee par un LLM.
Rappeler l'horaire du jour (9h00-12h30 / 13h30-17h00) et la position de la pause dejeuner.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3 · Module 5 — Generation de donnees synthetiques
Objectif du module : Generer des donnees synthetiques conformes a un schema cible, dans le respect du RGPD.
Minutage indicatif du module :
0-25 min : Cas d'usage de la generation de donnees synthetiques
25-60 min : Methodes d'augmentation de donnees
60-95 min : Generation de schemas conformes (JSON Schema, SQL)
95-120 min : Validation des jeux synthetiques
120-135 min : Pause
135-195 min : TP5 en autonomie
195-210 min : Debriefing collectif
Points a developper a l'oral pour cette diapositive :
- Cas d'usage de la generation : jeux de test, environnements de recette, anonymisation par substitution, equilibrage de classes rares en ML
- Methodes d'augmentation de donnees : generation par prompt structure, bibliotheques specialisees (Faker couple a un LLM, Synthetic Data Vault), generation conditionnelle
- Generation de schemas conformes : JSON Schema pour structurer la sortie, generation de DDL SQL conforme a un schema de donnees existant
- Validation des jeux synthetiques : coherence referentielle (cles etrangeres), respect des contraintes metier, absence de fuite de donnees reelles
Point de vigilance formateur : Rappeler explicitement avant le TP5 que le jeu de donnees RH genere doit etre entierement fictif : aucun nom, matricule ou donnee ne doit pouvoir correspondre a une personne reelle, y compris par coincidence plausible.
A retenir : Un jeu de donnees synthetique n'est utilisable que s'il est a la fois plausible ET verifiable : toujours valider automatiquement le schema et les contraintes avant de le considerer exploitable.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3 · Module 5 — Generation de donnees synthetiques (schéma)
Commenter le schema "Pipeline de generation de donnees synthetiques" pas a pas avec les participants, en reliant chaque etape/zone aux points vus juste avant.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3 · Module 5 — TP n°5
Lancer le TP (duree indicative 70 min) : relire les consignes a voix haute et s'assurer que l'environnement de chacun est operationnel avant de laisser le travail en autonomie.
Consignes :
1. Definir un schema de donnees RH (matricule, nom, prenom, date de naissance, poste, departement, date d'entree)
2. Rediger un prompt de generation produisant N enregistrements respectant ce schema, avec des valeurs realistes mais entierement fictives
3. Verifier la coherence des donnees generees (types, plages de valeurs, unicite du matricule)
4. Documenter comment garantir qu'aucune donnee reelle ne s'est glissee dans le jeu genere
Circuler dans la salle pour debloquer les participants en difficulte ; garder 5 a 10 minutes de marge avant la correction collective.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3 · Module 5 — Corrigé TP n°5
Passer en revue le corrige avec le groupe, en sollicitant les participants sur les points ou ils ont rencontre des difficultes plutot que de derouler la solution telle quelle.
- Prompt attendu : role + schema JSON explicite + contrainte 'toutes les personnes sont fictives, aucune ne doit correspondre a une personne reelle connue' + format de sortie en tableau JSON
- Comment garantir l'absence de donnees reelles : consigne explicite dans le prompt, controle croisé avec une liste noire de noms connus si disponible, relecture humaine par sondage, et interdiction de fournir au modele un exemple issu de donnees reelles en few-shot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3 · Module 6 — Evaluation de la qualite de sortie
Objectif du module : Evaluer et fiabiliser la qualite d'une sortie generee par un LLM.
Minutage indicatif du module :
0-25 min : Metriques qualite sur donnees generees
25-55 min : Outils de validation semantique, LLM-as-a-judge
55-85 min : Detection d'hallucinations et filtres
85-105 min : Post-traitement et enrichissement
105-120 min : Pause
120-190 min : TP6 en autonomie
190-210 min : Correction collective, bilan Jour 3
Points a developper a l'oral pour cette diapositive :
- Metriques qualite sur donnees generees : taux de conformite au schema, diversite (absence de duplication excessive), plausibilite statistique
- Outils de validation semantique : comparaison par embeddings, LLM-as-a-judge (faire evaluer une sortie par un second appel LLM)
- Detection d'hallucinations et filtres : recoupement avec une source de verite, filtrage par regles metier, score de confiance
- Post-traitement et enrichissement : nettoyage, normalisation, complement d'information par appel API ou jointure avec un referentiel
Point de vigilance formateur : Le TP6 reutilise le jeu de donnees du TP5 : prevoir un jeu de secours pre-genere pour les binomes qui n'auraient pas termine le TP5, afin de ne pas bloquer la progression.
A retenir : La qualite d'une sortie generative ne se juge jamais au feeling : definissez vos metriques (conformite, plausibilite, diversite) avant de generer, pas apres.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3 · Module 6 — Evaluation de la qualite de sortie (schéma)
Commenter le schema "Chaine d'evaluation d'une sortie LLM" pas a pas avec les participants, en reliant chaque etape/zone aux points vus juste avant.
Point cle a souligner : Un enregistrement qui echoue le filtre est rejete ou regenere, jamais integre tel quel au jeu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3 · Module 6 — TP n°6
Lancer le TP (duree indicative 70 min) : relire les consignes a voix haute et s'assurer que l'environnement de chacun est operationnel avant de laisser le travail en autonomie.
Consignes :
1. Reprendre le jeu de donnees RH genere au TP5 (ou un jeu fourni par le formateur)
2. Definir 3 metriques de qualite : conformite de schema, plausibilite des valeurs, absence de doublons
3. Identifier les enregistrements suspects (noms incoherents, valeurs hors plage, doublons)
4. Proposer une action corrective pour chaque anomalie detectee
Circuler dans la salle pour debloquer les participants en difficulte ; garder 5 a 10 minutes de marge avant la correction collective.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3 · Module 6 — Corrigé TP n°6
Passer en revue le corrige avec le groupe, en sollicitant les participants sur les points ou ils ont rencontre des difficultes plutot que de derouler la solution telle quelle.
- Exemples d'anomalies a repérer : prenom incoherent de type 'Xyz123', salaire negatif ou hors plage, date de naissance posterieure a la date d'entree, matricules dupliques
- Actions correctives attendues : ajout d'une regle de validation (regex, plage), regeneration ciblee de l'enregistrement fautif, filtre de rejet automatique avant integration dans le jeu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Bilan de fin de Jour 3
Reprendre les points cles de la journee 3 avec le groupe, en les laissant reformuler avant de valider.
- Generation de donnees synthetiques conformes a un schema cible (JSON Schema, SQL)
- Definition et application de metriques de qualite sur des donnees generees
- Detection d'hallucinations et mise en place de filtres de validation
Annoncer en une phrase le programme du lendemain avant de clore la journee.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Ouverture du Jour 4
Annoncer les modules de la journee et rappeler le fil conducteur avec la journee precedente.
Module 7 (3h30) : Securiser et industrialiser l'usage de l'IA generative — objectif : Securiser une chaine d'appels IA generative et connaitre le cadre legal applicable.
Module 8 (3h30) : Cas d'usage avances — objectif : Mettre en oeuvre un copilote IA generative sur un flux de donnees concret.
Rappeler l'horaire du jour (9h00-12h30 / 13h30-17h00) et la position de la pause dejeuner.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4 · Module 7 — Securiser et industrialiser l'usage de l'IA generative
Objectif du module : Securiser une chaine d'appels IA generative et connaitre le cadre legal applicable.
Minutage indicatif du module :
0-30 min : Aspects legaux : RGPD, CGU des fournisseurs, AI Act
30-60 min : Securite des API et stockage des prompts
60-85 min : Monitoring et cout des appels API
85-105 min : Limites de responsabilite des ingenieurs
105-120 min : Pause
120-190 min : TP7 en autonomie
190-210 min : Demonstration collective, bilan
Points a developper a l'oral pour cette diapositive :
- Aspects legaux : RGPD (minimisation, base legale, donnees personnelles dans les prompts), conditions d'utilisation des fournisseurs (OpenAI, Anthropic), reglementation europeenne (AI Act, niveaux de risque)
- Securite des API et stockage des prompts : gestion des secrets (coffre-fort/vault, variables d'environnement), chiffrement, politique de retention des logs de prompts
- Monitoring et cout des appels API : suivi de la consommation de tokens, alerting sur les depassements de budget, quotas par equipe ou projet
- Limites de responsabilite des ingenieurs : obligation de relecture humaine (human-in-the-loop) avant usage en production, tracabilite des decisions assistees par IA
Point de vigilance formateur : Ce module touche directement a la politique de securite BFORBANK : rester factuel sur les principes generaux (RGPD, AI Act, bonnes pratiques) sans se substituer a la politique de securite interne de la DSI, qui prevaut toujours.
A retenir : Une chaine IA n'est consideree securisee que si elle filtre les entrees ET les sorties, et que chaque appel reste tracable et attribuable a un usage precis.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4 · Module 7 — Securiser et industrialiser l'usage de l'IA generative (schéma)
Commenter le schema "Proxy de securisation d'une chaine IA" pas a pas avec les participants, en reliant chaque etape/zone aux points vus juste avant.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4 · Module 7 — TP n°7
Lancer le TP (duree indicative 70 min) : relire les consignes a voix haute et s'assurer que l'environnement de chacun est operationnel avant de laisser le travail en autonomie.
Consignes :
1. Concevoir (schema ou pseudo-code) un proxy applicatif s'interposant entre l'application et l'API du LLM
2. Definir les regles de filtrage a appliquer sur les entrees : detection de donnees personnelles/sensibles avant envoi, longueur maximale, liste de mots-cles interdits
3. Definir le niveau de logging a mettre en place : quoi logger, quoi masquer, duree de retention
Circuler dans la salle pour debloquer les participants en difficulte ; garder 5 a 10 minutes de marge avant la correction collective.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4 · Module 7 — Corrigé TP n°7
Passer en revue le corrige avec le groupe, en sollicitant les participants sur les points ou ils ont rencontre des difficultes plutot que de derouler la solution telle quelle.
- Schema attendu : Application -&gt; Filtre d'entree -&gt; Proxy/Gateway -&gt; API LLM -&gt; Filtre de sortie -&gt; Application
- Niveau de logging attendu : logger systematiquement les metadonnees et le statut de chaque appel ; masquer ou ne pas logger le contenu des prompts contenant des donnees personnelles detectees ; rétention alignee sur la politique RGPD interne (ex. 30 jours) ; alerting en cas de detection repetee de donnees sensibles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4 · Module 8 — Cas d'usage avances
Objectif du module : Mettre en oeuvre un copilote IA generative sur un flux de donnees concret.
Minutage indicatif du module :
0-25 min : Resume automatique de logs
25-50 min : Documentation de code automatisee
50-80 min : Generation de SQL a la volee (text-to-SQL)
80-105 min : IA copilote pour l'ingestion de donnees
105-120 min : Pause
120-190 min : TP8 en autonomie
190-210 min : Demonstrations, bilan Jour 4
Points a developper a l'oral pour cette diapositive :
- Resume automatique de logs : synthese de logs applicatifs volumineux, detection d'anomalies recurrentes, priorisation des incidents
- Documentation de code automatisee : generation de docstrings, de README, de schemas d'architecture a partir du code existant
- Generation de SQL a la volee : traduction langage naturel vers SQL (text-to-SQL), assistance a l'ecriture de requetes complexes
- IA copilote pour l'ingestion de donnees : detection automatique de schema, proposition de mapping source/cible, generation de scripts d'ingestion
Point de vigilance formateur : Preparer un extrait de logs applicatifs fictifs mais realistes (formats varies : erreurs, warnings, infos) pour eviter tout usage de logs reels issus de systemes BFORBANK.
A retenir : L'IA generative excelle sur les logs texte semi-structures et explicites ; elle n'est pas le bon outil pour du monitoring de metriques strictement numeriques, mieux traite par des regles deterministes.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4 · Module 8 — Cas d'usage avances (schéma)
Commenter le schema "4 familles de cas d'usage avances" pas a pas avec les participants, en reliant chaque etape/zone aux points vus juste avant.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4 · Module 8 — TP n°8
Lancer le TP (duree indicative 70 min) : relire les consignes a voix haute et s'assurer que l'environnement de chacun est operationnel avant de laisser le travail en autonomie.
Consignes :
1. A partir d'un extrait de logs fourni (ou simule), rediger un prompt permettant d'obtenir un resume structure (nombre d'erreurs, types d'erreurs, recommandation)
2. Tester le prompt et evaluer la pertinence du resume obtenu
3. Identifier les types de logs les mieux adaptes a un traitement par IA generative, et ceux qui ne le sont pas
Circuler dans la salle pour debloquer les participants en difficulte ; garder 5 a 10 minutes de marge avant la correction collective.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4 · Module 8 — Corrigé TP n°8
Passer en revue le corrige avec le groupe, en sollicitant les participants sur les points ou ils ont rencontre des difficultes plutot que de derouler la solution telle quelle.
- Prompt attendu : role 'analyste SRE' + logs en entree + consigne de sortie structuree (JSON ou tableau : nb erreurs, types, criticite, recommandation)
- Logs bien adaptes a l'IA generative : logs texte semi-structures avec messages explicites (erreurs applicatives, stack traces courtes). Logs mal adaptes : logs tres volumineux, binaires, ou purement numeriques (metriques), mieux traites par des outils de monitoring classiques et des regles deterministes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Bilan de fin de Jour 4
Reprendre les points cles de la journee 4 avec le groupe, en les laissant reformuler avant de valider.
- Cadre legal (RGPD, AI Act) et bonnes pratiques de securisation d'une chaine IA
- Monitoring des couts et principe du human-in-the-loop
- Cas d'usage avances : logs, documentation de code, text-to-SQL, copilote d'ingestion
Annoncer en une phrase le programme du lendemain avant de clore la journee.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Ouverture du Jour 5
Annoncer les modules de la journee et rappeler le fil conducteur avec la journee precedente.
Module 9 (3h30) : Design d'un projet integrant un LLM — objectif : Cadrer et concevoir l'architecture du pipeline intelligent du projet fil rouge.
Module 10 (3h30) : Tests, evaluation, monitoring et presentation des projets — objectif : Finaliser, tester et presenter le pipeline intelligent concu le matin.
Rappeler l'horaire du jour (9h00-12h30 / 13h30-17h00) et la position de la pause dejeuner.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5 · Module 9 — Design d'un projet integrant un LLM
Objectif du module : Cadrer et concevoir l'architecture du pipeline intelligent du projet fil rouge.
Minutage indicatif du module :
0-20 min : Lancement du projet fil rouge, presentation des consignes (voir Projet pedagogique)
20-50 min : Cadrage du besoin, choix du cas d'usage par groupe
50-90 min : Choix de l'architecture et des modeles
90-120 min : Redaction de la specification technique
120-135 min : Pause
135-210 min : Travail en autonomie sur le projet (conception + debut d'implementation)
Points a developper a l'oral pour cette diapositive :
- Cadrage du besoin : definir un cas d'usage data engineering concret a resoudre avec un LLM (donnees de test, documentation, requetage, resume de logs...)
- Choix de l'architecture : appel API direct vs orchestration LangChain, modele unique vs routing multi-modeles, synchrone vs asynchrone
- Choix du ou des modeles : criteres de decision (cout, latence, qualite, confidentialite), modele cloud vs local
- Specification technique : schema d'entree/sortie, contraintes de validation, strategie de gestion des erreurs
Point de vigilance formateur : Constituer les groupes projet en debut de matinee (3-4 personnes). Faire valider par le formateur le cas d'usage et l'architecture de chaque groupe avant la pause, pour eviter un cadrage trop ambitieux impossible a tenir en une journee.
A retenir : Un bon cadrage de projet IA generative tient sur une page : cas d'usage, entree/sortie, contraintes, criteres de succes. Si ce n'est pas le cas, le perimetre est trop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5 · Module 9 — Design d'un projet integrant un LLM (schéma)
Commenter le schema "De l'idee a la specification technique" pas a pas avec les participants, en reliant chaque etape/zone aux points vus juste avant.
Point cle a souligner : Chaque etape est validee par le formateur avant de passer a la suivante, pour eviter un cadrage trop ambitieux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5 · Module 10 — Tests, evaluation, monitoring et presentation des projets
Objectif du module : Finaliser, tester et presenter le pipeline intelligent concu le matin.
Minutage indicatif du module :
0-90 min : Finalisation de l'implementation en autonomie (par groupe)
90-120 min : Tests et evaluation du pipeline realise
120-135 min : Pause
135-180 min : Presentation des projets a la classe (10 min par groupe)
180-200 min : Debriefing collectif, quiz de revision
200-210 min : Bilan de la formation, evaluation a chaud
Points a developper a l'oral pour cette diapositive :
- Strategie de test : jeux de test representatifs, cas limites, prompts adverses
- Evaluation : application des metriques vues en Jour 3 (conformite, plausibilite, hallucinations), controle humain
- Monitoring : logging et gestion des couts, vus en Jour 4, appliques au pipeline du projet
- Presentation des projets a la classe : format de restitution, grille d'evaluation, retours d'experience
Point de vigilance formateur : Cadrer strictement le temps de presentation (10 minutes par groupe, questions comprises) pour que tous les groupes passent. Utiliser la grille d'evaluation du Projet pedagogique pour cadrer le retour donne a chaque groupe.
A retenir : Un pipeline intelligent n'est termine que lorsqu'il a ete teste sur des cas limites et que son cout/latence a ete mesure, pas seulement lorsqu'il fonctionne sur le cas nominal.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5 · Module 10 — Tests, evaluation, monitoring et presentation des projets (schéma)
Commenter le schema "De la validation a la restitution" pas a pas avec les participants, en reliant chaque etape/zone aux points vus juste avant.
Point cle a souligner : Un pipeline n'est termine que lorsqu'il a ete teste sur des cas limites et que son cout/latence a ete mesure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5 · Module 10 — TP n°9
Lancer le TP (duree indicative 210 min) : relire les consignes a voix haute et s'assurer que l'environnement de chacun est operationnel avant de laisser le travail en autonomie.
Consignes :
1. Implementer le pipeline specifie le matin : appel(s) LLM, validation de la sortie, logging
2. Tester le pipeline sur au moins un cas limite ou un prompt adverse
3. Mesurer le cout et la latence du pipeline sur un jeu de test representatif
4. Preparer une presentation de 10 minutes : cas d'usage, architecture, demonstration, retour d'experience
Circuler dans la salle pour debloquer les participants en difficulte ; garder 5 a 10 minutes de marge avant la correction collective.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5 · Module 10 — Corrigé TP n°9
Passer en revue le corrige avec le groupe, en sollicitant les participants sur les points ou ils ont rencontre des difficultes plutot que de derouler la solution telle quelle.
- Le detail des livrables attendus et de la grille d'evaluation figure dans le document Projet pedagogique remis separement.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5 — Lancement du projet fil rouge
Constituer les groupes (3 a 4 personnes) en debut de matinee et presenter le contexte du projet.
Le dernier jour de la formation est consacre a un projet de synthese realise en petits groupes (3 a 4 personnes). Chaque groupe concoit, implemente et presente un pipeline de donnees integrant un ou plusieurs appels a un LLM, en appliquant l'ensemble des notions vues durant la semaine : manipulation de l'API, orchestration, generation et validation de donnees, securisation, monitoring.
Cas d'usage suggeres :
- Generateur de jeux de donnees de test synthetiques et valides pour un environnement de recette
- Assistant de documentation automatique d'un schema de donnees ou d'un pipeline existant
- Copilote de generation de requetes SQL a partir d'une demande en langage naturel
- Assistant de resume et de priorisation de logs applicatifs
- Pipeline d'anonymisation assistee par IA d'un jeu de donnees fictif
Livrables attendus :
- Une specification courte (1 page) : cas d'usage, schema d'entree/sortie, contraintes de validation
- Un pipeline fonctionnel (script ou notebook Python) integrant au moins un appel LLM et une etape de validation de la sortie
- Un mecanisme de logging minimal (prompt, reponse, duree, statut) sur chaque appel
- Un jeu de test (au moins 3 cas, dont 1 cas limite ou adverse) et les resultats obtenus
- Une mesure indicative du cout et de la latence du pipeline sur le jeu de test
- Un support de presentation de 10 minutes (slides ou demonstration live)
Preciser que le detail complet des consignes figure dans le document « Projet pedagogique » remis a chaque groupe, et que le cas d'usage doit etre valide par le formateur avant la pause du matin.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Jour 5 — Planning et évaluation du projet
Derouler le planning de la journee avec les points de passage obligatoires : cadrage et architecture valides avant 12h30, pipeline fonctionnel sur le cas nominal avant 15h00, presentation prete a 16h30.
Planning :
9h00 - 9h20 : Lancement, presentation des consignes et des cas d'usage suggeres
9h20 - 11h15 : Cadrage (module 9) : choix du cas d'usage, architecture, specification technique
11h15 - 12h30 : Debut d'implementation en autonomie (sur la base de la specification validee)
12h30 - 13h30 : Pause dejeuner
13h30 - 15h00 : Implementation du pipeline en autonomie
15h00 - 15h30 : Tests, evaluation, mesure du cout et de la latence
15h30 - 15h45 : Pause
15h45 - 16h30 : Presentations des projets (10 min par groupe)
16h30 - 17h00 : Debriefing collectif, quiz de revision, bilan de formation
Rappeler que la grille d'evaluation est formative : elle cadre le retour donne a chaque groupe, ce n'est pas une notation sommative.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Quiz de révision (corrigé) — partie 1/3
Laisser les participants repondre individuellement (ou en binome) dans leur livret avant de reveler et commenter chaque reponse a l'oral.
1. Quelle est la difference fondamentale entre IA classique et IA generative ?
   Reponse : L'IA classique produit une sortie bornee (une classe, un score) a partir de regles ou d'un apprentissage supervise ; l'IA generative produit un contenu nouveau (texte, code, donnees) a partir de modeles pre-entraines sur de grands volumes de donnees.
2. Qu'est-ce qu'un token et pourquoi son nombre influence-t-il le cout d'un appel API a un LLM ?
   Reponse : Un token est une unite de decoupage du texte (mot, sous-mot ou caractere) manipulee par le modele. Le nombre total de tokens en entree et en sortie determine directement le cout facture et la latence de la reponse.
3. A quoi sert le parametre 'temperature' lors d'un appel a un LLM ?
   Reponse : Il controle le caractere aleatoire/creatif de la generation : une temperature basse donne des reponses plus deterministes et reproductibles, une temperature elevee donne des reponses plus diverses mais moins previsibles.
4. Pourquoi ne faut-il jamais ecrire une cle d'API directement dans le code ?
   Reponse : Risque de fuite (depot de code, historique Git), de facturation frauduleuse et de compromission du compte. Il faut utiliser une variable d'environnement ou un gestionnaire de secrets, jamais une valeur en dur.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Quiz de révision (corrigé) — partie 2/3
Laisser les participants repondre individuellement (ou en binome) dans leur livret avant de reveler et commenter chaque reponse a l'oral.
5. Citez deux mecanismes permettant d'orchestrer plusieurs appels LLM au sein d'un meme traitement (LangChain).
   Reponse : Les prompts chaines (chains, plusieurs appels successifs decomposant une tache complexe) et le couplage de modeles hybrides (routing entre un LLM puissant et un LLM leger selon l'etape, pour optimiser cout et latence).
6. Quelles sont les grandes etapes d'un pipeline de generation de donnees synthetiques ?
   Reponse : Definition du schema cible (JSON Schema ou DDL), redaction du prompt de generation, appel au LLM, validation de la sortie (conformite au schema et aux contraintes metier), puis obtention du jeu de donnees valide.
7. Citez deux metriques permettant d'evaluer la qualite d'un jeu de donnees genere par IA.
   Reponse : Le taux de conformite au schema attendu, la plausibilite statistique des valeurs, l'absence de doublons/la diversite, et la coherence referentielle (cles etrangeres) sont des metriques attendues (2 suffisent).
8. Qu'est-ce qu'une hallucination et comment peut-on la limiter ?
   Reponse : Une hallucination est une information inventee par le LLM mais presentee comme factuelle. On la limite par la validation systematique de la sortie, le recoupement avec une source de verite et le controle humain (human-in-the-loop).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Quiz de révision (corrigé) — partie 3/3
Laisser les participants repondre individuellement (ou en binome) dans leur livret avant de reveler et commenter chaque reponse a l'oral.
9. Quelles sont les principales obligations a respecter lors de l'usage d'un LLM sur des donnees d'entreprise (RGPD) ?
   Reponse : Minimiser les donnees personnelles envoyees dans les prompts, disposer d'une base legale, connaitre la politique de sous-traitance et de transfert du fournisseur, tracer les traitements et respecter une politique de retention des logs.
10. Pourquoi le principe de 'human-in-the-loop' est-il essentiel avant tout usage en production d'une sortie generee par IA ?
   Reponse : Parce qu'un LLM peut halluciner ou produire un resultat biaise ; une relecture humaine avant usage en production limite le risque d'erreur et permet d'engager la responsabilite de facon maitrisee.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Bilan de la formation
Reprendre les points cles de la semaine avec le groupe, en les laissant reformuler avant de valider.
- Conception, implementation et presentation d'un pipeline intelligent integrant un LLM
- Mise en pratique de l'ensemble des notions de la semaine : appels API, orchestration, generation et validation de donnees, securisation, monitoring
- La formation est terminee : merci pour votre participation active toute la semaine !
Ne pas oublier de distribuer et de collecter le questionnaire de satisfaction a chaud.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Repère : Clôture de la formation
Remercier les participants pour leur implication durant la semaine, revenir en une phrase sur le chemin parcouru (du premier appel API au Jour 2 au pipeline complet du projet fil rouge presente en fin de Jour 5).
Rappeler les pistes « pour aller plus loin » (RAG, agents multi-etapes, fine-tuning, MCP, observabilite) presentees dans le livret apprenant.
Inviter les participants a completer le questionnaire de satisfaction a chaud avant de partir.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slideLayout" Target="../slideLayouts/slideLayout1.xml"/><Relationship Id="rId8"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2.png"/><Relationship Id="rId6" Type="http://schemas.openxmlformats.org/officeDocument/2006/relationships/image" Target="../media/image-40-6.png"/><Relationship Id="rId7" Type="http://schemas.openxmlformats.org/officeDocument/2006/relationships/slideLayout" Target="../slideLayouts/slideLayout1.xml"/><Relationship Id="rId8"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slideLayout" Target="../slideLayouts/slideLayout1.xml"/><Relationship Id="rId6"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1.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slideLayout" Target="../slideLayouts/slideLayout1.xml"/><Relationship Id="rId7"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3A"/>
        </a:solidFill>
      </p:bgPr>
    </p:bg>
    <p:spTree>
      <p:nvGrpSpPr>
        <p:cNvPr id="1" name=""/>
        <p:cNvGrpSpPr/>
        <p:nvPr/>
      </p:nvGrpSpPr>
      <p:grpSpPr>
        <a:xfrm>
          <a:off x="0" y="0"/>
          <a:ext cx="0" cy="0"/>
          <a:chOff x="0" y="0"/>
          <a:chExt cx="0" cy="0"/>
        </a:xfrm>
      </p:grpSpPr>
      <p:sp>
        <p:nvSpPr>
          <p:cNvPr id="2" name="Shape 0"/>
          <p:cNvSpPr/>
          <p:nvPr/>
        </p:nvSpPr>
        <p:spPr>
          <a:xfrm>
            <a:off x="8778240" y="2377440"/>
            <a:ext cx="5669280" cy="5669280"/>
          </a:xfrm>
          <a:prstGeom prst="ellipse">
            <a:avLst/>
          </a:prstGeom>
          <a:solidFill>
            <a:srgbClr val="1E2761"/>
          </a:solidFill>
          <a:ln/>
        </p:spPr>
      </p:sp>
      <p:sp>
        <p:nvSpPr>
          <p:cNvPr id="3" name="Shape 1"/>
          <p:cNvSpPr/>
          <p:nvPr/>
        </p:nvSpPr>
        <p:spPr>
          <a:xfrm>
            <a:off x="0" y="0"/>
            <a:ext cx="12191695" cy="6858000"/>
          </a:xfrm>
          <a:prstGeom prst="rect">
            <a:avLst/>
          </a:prstGeom>
          <a:ln/>
        </p:spPr>
      </p:sp>
      <p:pic>
        <p:nvPicPr>
          <p:cNvPr id="4" name="Image 0" descr="/home/claude/formation-genai-de/assets/png/icon-bulb-gold.png">    </p:cNvPr>
          <p:cNvPicPr>
            <a:picLocks noChangeAspect="1"/>
          </p:cNvPicPr>
          <p:nvPr/>
        </p:nvPicPr>
        <p:blipFill>
          <a:blip r:embed="rId1"/>
          <a:stretch>
            <a:fillRect/>
          </a:stretch>
        </p:blipFill>
        <p:spPr>
          <a:xfrm>
            <a:off x="10195560" y="3794760"/>
            <a:ext cx="2651760" cy="2651760"/>
          </a:xfrm>
          <a:prstGeom prst="rect">
            <a:avLst/>
          </a:prstGeom>
        </p:spPr>
      </p:pic>
      <p:sp>
        <p:nvSpPr>
          <p:cNvPr id="5" name="Text 2"/>
          <p:cNvSpPr/>
          <p:nvPr/>
        </p:nvSpPr>
        <p:spPr>
          <a:xfrm>
            <a:off x="548640" y="1051560"/>
            <a:ext cx="7315200" cy="365760"/>
          </a:xfrm>
          <a:prstGeom prst="rect">
            <a:avLst/>
          </a:prstGeom>
          <a:noFill/>
          <a:ln/>
        </p:spPr>
        <p:txBody>
          <a:bodyPr wrap="square" lIns="0" tIns="0" rIns="0" bIns="0" rtlCol="0" anchor="ctr"/>
          <a:lstStyle/>
          <a:p>
            <a:pPr indent="0" marL="0">
              <a:buNone/>
            </a:pPr>
            <a:r>
              <a:rPr lang="en-US" sz="1300" b="1" spc="300" kern="0" dirty="0">
                <a:solidFill>
                  <a:srgbClr val="F2B134"/>
                </a:solidFill>
                <a:latin typeface="Calibri" pitchFamily="34" charset="0"/>
                <a:ea typeface="Calibri" pitchFamily="34" charset="-122"/>
                <a:cs typeface="Calibri" pitchFamily="34" charset="-120"/>
              </a:rPr>
              <a:t>FORMATION</a:t>
            </a:r>
            <a:endParaRPr lang="en-US" sz="1300" dirty="0"/>
          </a:p>
        </p:txBody>
      </p:sp>
      <p:sp>
        <p:nvSpPr>
          <p:cNvPr id="6" name="Text 3"/>
          <p:cNvSpPr/>
          <p:nvPr/>
        </p:nvSpPr>
        <p:spPr>
          <a:xfrm>
            <a:off x="548640" y="1417320"/>
            <a:ext cx="8778240" cy="137160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Cambria" pitchFamily="34" charset="0"/>
                <a:ea typeface="Cambria" pitchFamily="34" charset="-122"/>
                <a:cs typeface="Cambria" pitchFamily="34" charset="-120"/>
              </a:rPr>
              <a:t>L'IA generative pour les Data Engineers</a:t>
            </a:r>
            <a:endParaRPr lang="en-US" sz="3600" dirty="0"/>
          </a:p>
        </p:txBody>
      </p:sp>
      <p:sp>
        <p:nvSpPr>
          <p:cNvPr id="7" name="Text 4"/>
          <p:cNvSpPr/>
          <p:nvPr/>
        </p:nvSpPr>
        <p:spPr>
          <a:xfrm>
            <a:off x="548640" y="2788920"/>
            <a:ext cx="8412480" cy="73152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Manipuler, industrialiser et securiser l'IA generative au service des pipelines de donnees</a:t>
            </a:r>
            <a:endParaRPr lang="en-US" sz="1600" dirty="0"/>
          </a:p>
        </p:txBody>
      </p:sp>
      <p:sp>
        <p:nvSpPr>
          <p:cNvPr id="8" name="Text 5"/>
          <p:cNvSpPr/>
          <p:nvPr/>
        </p:nvSpPr>
        <p:spPr>
          <a:xfrm>
            <a:off x="548640" y="5257800"/>
            <a:ext cx="7315200" cy="914400"/>
          </a:xfrm>
          <a:prstGeom prst="rect">
            <a:avLst/>
          </a:prstGeom>
          <a:noFill/>
          <a:ln/>
        </p:spPr>
        <p:txBody>
          <a:bodyPr wrap="square" lIns="0" tIns="0" rIns="0" bIns="0" rtlCol="0" anchor="ctr"/>
          <a:lstStyle/>
          <a:p>
            <a:pPr indent="0" marL="0">
              <a:lnSpc>
                <a:spcPct val="130000"/>
              </a:lnSpc>
              <a:buNone/>
            </a:pPr>
            <a:r>
              <a:rPr lang="en-US" sz="1250" dirty="0">
                <a:solidFill>
                  <a:srgbClr val="CADCFC"/>
                </a:solidFill>
                <a:latin typeface="Calibri" pitchFamily="34" charset="0"/>
                <a:ea typeface="Calibri" pitchFamily="34" charset="-122"/>
                <a:cs typeface="Calibri" pitchFamily="34" charset="-120"/>
              </a:rPr>
              <a:t>Client : BFORBANK</a:t>
            </a:r>
            <a:endParaRPr lang="en-US" sz="1250" dirty="0"/>
          </a:p>
          <a:p>
            <a:pPr indent="0" marL="0">
              <a:lnSpc>
                <a:spcPct val="130000"/>
              </a:lnSpc>
              <a:buNone/>
            </a:pPr>
            <a:r>
              <a:rPr lang="en-US" sz="1250" dirty="0">
                <a:solidFill>
                  <a:srgbClr val="CADCFC"/>
                </a:solidFill>
                <a:latin typeface="Calibri" pitchFamily="34" charset="0"/>
                <a:ea typeface="Calibri" pitchFamily="34" charset="-122"/>
                <a:cs typeface="Calibri" pitchFamily="34" charset="-120"/>
              </a:rPr>
              <a:t>Lieu : Presentiel a Paris La Defense</a:t>
            </a:r>
            <a:endParaRPr lang="en-US" sz="1250" dirty="0"/>
          </a:p>
          <a:p>
            <a:pPr indent="0" marL="0">
              <a:lnSpc>
                <a:spcPct val="130000"/>
              </a:lnSpc>
              <a:buNone/>
            </a:pPr>
            <a:r>
              <a:rPr lang="en-US" sz="1250" dirty="0">
                <a:solidFill>
                  <a:srgbClr val="CADCFC"/>
                </a:solidFill>
                <a:latin typeface="Calibri" pitchFamily="34" charset="0"/>
                <a:ea typeface="Calibri" pitchFamily="34" charset="-122"/>
                <a:cs typeface="Calibri" pitchFamily="34" charset="-120"/>
              </a:rPr>
              <a:t>Du 19 au 23 octobre 2026 - 5 jours / 35 heures</a:t>
            </a:r>
            <a:endParaRPr lang="en-US" sz="1250" dirty="0"/>
          </a:p>
        </p:txBody>
      </p:sp>
      <p:sp>
        <p:nvSpPr>
          <p:cNvPr id="9" name="Text 6"/>
          <p:cNvSpPr/>
          <p:nvPr/>
        </p:nvSpPr>
        <p:spPr>
          <a:xfrm>
            <a:off x="548640" y="6263640"/>
            <a:ext cx="4572000" cy="320040"/>
          </a:xfrm>
          <a:prstGeom prst="rect">
            <a:avLst/>
          </a:prstGeom>
          <a:noFill/>
          <a:ln/>
        </p:spPr>
        <p:txBody>
          <a:bodyPr wrap="square" lIns="0" tIns="0" rIns="0" bIns="0" rtlCol="0" anchor="ctr"/>
          <a:lstStyle/>
          <a:p>
            <a:pPr indent="0" marL="0">
              <a:buNone/>
            </a:pPr>
            <a:r>
              <a:rPr lang="en-US" sz="1200" i="1" dirty="0">
                <a:solidFill>
                  <a:srgbClr val="F2B134"/>
                </a:solidFill>
                <a:latin typeface="Calibri" pitchFamily="34" charset="0"/>
                <a:ea typeface="Calibri" pitchFamily="34" charset="-122"/>
                <a:cs typeface="Calibri" pitchFamily="34" charset="-120"/>
              </a:rPr>
              <a:t>Support formateur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5486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Programme de la formation</a:t>
            </a:r>
            <a:endParaRPr lang="en-US" sz="2800" dirty="0"/>
          </a:p>
        </p:txBody>
      </p:sp>
      <p:sp>
        <p:nvSpPr>
          <p:cNvPr id="3" name="Text 1"/>
          <p:cNvSpPr/>
          <p:nvPr/>
        </p:nvSpPr>
        <p:spPr>
          <a:xfrm>
            <a:off x="548640" y="960120"/>
            <a:ext cx="5486400" cy="320040"/>
          </a:xfrm>
          <a:prstGeom prst="rect">
            <a:avLst/>
          </a:prstGeom>
          <a:noFill/>
          <a:ln/>
        </p:spPr>
        <p:txBody>
          <a:bodyPr wrap="square" lIns="0" tIns="0" rIns="0" bIns="0" rtlCol="0" anchor="ctr"/>
          <a:lstStyle/>
          <a:p>
            <a:pPr indent="0" marL="0">
              <a:buNone/>
            </a:pPr>
            <a:r>
              <a:rPr lang="en-US" sz="1300" dirty="0">
                <a:solidFill>
                  <a:srgbClr val="7C8194"/>
                </a:solidFill>
                <a:latin typeface="Calibri" pitchFamily="34" charset="0"/>
                <a:ea typeface="Calibri" pitchFamily="34" charset="-122"/>
                <a:cs typeface="Calibri" pitchFamily="34" charset="-120"/>
              </a:rPr>
              <a:t>5 jours / 35 heures</a:t>
            </a:r>
            <a:endParaRPr lang="en-US" sz="1300" dirty="0"/>
          </a:p>
        </p:txBody>
      </p:sp>
      <p:sp>
        <p:nvSpPr>
          <p:cNvPr id="4" name="Shape 2"/>
          <p:cNvSpPr/>
          <p:nvPr/>
        </p:nvSpPr>
        <p:spPr>
          <a:xfrm>
            <a:off x="548640" y="1600200"/>
            <a:ext cx="2087209" cy="4160520"/>
          </a:xfrm>
          <a:prstGeom prst="roundRect">
            <a:avLst>
              <a:gd name="adj" fmla="val 3505"/>
            </a:avLst>
          </a:prstGeom>
          <a:solidFill>
            <a:srgbClr val="F3F6FC"/>
          </a:solidFill>
          <a:ln/>
        </p:spPr>
      </p:sp>
      <p:sp>
        <p:nvSpPr>
          <p:cNvPr id="5" name="Shape 3"/>
          <p:cNvSpPr/>
          <p:nvPr/>
        </p:nvSpPr>
        <p:spPr>
          <a:xfrm>
            <a:off x="749808" y="1874520"/>
            <a:ext cx="566928" cy="566928"/>
          </a:xfrm>
          <a:prstGeom prst="ellipse">
            <a:avLst/>
          </a:prstGeom>
          <a:solidFill>
            <a:srgbClr val="1E2761"/>
          </a:solidFill>
          <a:ln/>
        </p:spPr>
      </p:sp>
      <p:sp>
        <p:nvSpPr>
          <p:cNvPr id="6" name="Text 4"/>
          <p:cNvSpPr/>
          <p:nvPr/>
        </p:nvSpPr>
        <p:spPr>
          <a:xfrm>
            <a:off x="749808" y="187452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J1</a:t>
            </a:r>
            <a:endParaRPr lang="en-US" sz="1300" dirty="0"/>
          </a:p>
        </p:txBody>
      </p:sp>
      <p:sp>
        <p:nvSpPr>
          <p:cNvPr id="7" name="Text 5"/>
          <p:cNvSpPr/>
          <p:nvPr/>
        </p:nvSpPr>
        <p:spPr>
          <a:xfrm>
            <a:off x="749808" y="2651760"/>
            <a:ext cx="1684873" cy="1554480"/>
          </a:xfrm>
          <a:prstGeom prst="rect">
            <a:avLst/>
          </a:prstGeom>
          <a:noFill/>
          <a:ln/>
        </p:spPr>
        <p:txBody>
          <a:bodyPr wrap="square" lIns="0" tIns="0" rIns="0" bIns="0" rtlCol="0" anchor="ctr"/>
          <a:lstStyle/>
          <a:p>
            <a:pPr indent="0" marL="0">
              <a:lnSpc>
                <a:spcPct val="115000"/>
              </a:lnSpc>
              <a:buNone/>
            </a:pPr>
            <a:r>
              <a:rPr lang="en-US" sz="1300" b="1" dirty="0">
                <a:solidFill>
                  <a:srgbClr val="1E2761"/>
                </a:solidFill>
                <a:latin typeface="Calibri" pitchFamily="34" charset="0"/>
                <a:ea typeface="Calibri" pitchFamily="34" charset="-122"/>
                <a:cs typeface="Calibri" pitchFamily="34" charset="-120"/>
              </a:rPr>
              <a:t>Fondamentaux de l'IA generative</a:t>
            </a:r>
            <a:endParaRPr lang="en-US" sz="1300" dirty="0"/>
          </a:p>
        </p:txBody>
      </p:sp>
      <p:pic>
        <p:nvPicPr>
          <p:cNvPr id="8" name="Image 0" descr="/home/claude/formation-genai-de/assets/png/icon-brain-ice.png">    </p:cNvPr>
          <p:cNvPicPr>
            <a:picLocks noChangeAspect="1"/>
          </p:cNvPicPr>
          <p:nvPr/>
        </p:nvPicPr>
        <p:blipFill>
          <a:blip r:embed="rId1"/>
          <a:stretch>
            <a:fillRect/>
          </a:stretch>
        </p:blipFill>
        <p:spPr>
          <a:xfrm>
            <a:off x="997885" y="4343400"/>
            <a:ext cx="1188720" cy="1188720"/>
          </a:xfrm>
          <a:prstGeom prst="rect">
            <a:avLst/>
          </a:prstGeom>
        </p:spPr>
      </p:pic>
      <p:sp>
        <p:nvSpPr>
          <p:cNvPr id="9" name="Text 6"/>
          <p:cNvSpPr/>
          <p:nvPr/>
        </p:nvSpPr>
        <p:spPr>
          <a:xfrm>
            <a:off x="749808" y="5212080"/>
            <a:ext cx="1684873" cy="320040"/>
          </a:xfrm>
          <a:prstGeom prst="rect">
            <a:avLst/>
          </a:prstGeom>
          <a:noFill/>
          <a:ln/>
        </p:spPr>
        <p:txBody>
          <a:bodyPr wrap="square" lIns="0" tIns="0" rIns="0" bIns="0" rtlCol="0" anchor="ctr"/>
          <a:lstStyle/>
          <a:p>
            <a:pPr indent="0" marL="0">
              <a:buNone/>
            </a:pPr>
            <a:r>
              <a:rPr lang="en-US" sz="1300" b="1" dirty="0">
                <a:solidFill>
                  <a:srgbClr val="F2B134"/>
                </a:solidFill>
                <a:latin typeface="Calibri" pitchFamily="34" charset="0"/>
                <a:ea typeface="Calibri" pitchFamily="34" charset="-122"/>
                <a:cs typeface="Calibri" pitchFamily="34" charset="-120"/>
              </a:rPr>
              <a:t>7h</a:t>
            </a:r>
            <a:endParaRPr lang="en-US" sz="1300" dirty="0"/>
          </a:p>
        </p:txBody>
      </p:sp>
      <p:sp>
        <p:nvSpPr>
          <p:cNvPr id="10" name="Shape 7"/>
          <p:cNvSpPr/>
          <p:nvPr/>
        </p:nvSpPr>
        <p:spPr>
          <a:xfrm>
            <a:off x="2800441" y="1600200"/>
            <a:ext cx="2087209" cy="4160520"/>
          </a:xfrm>
          <a:prstGeom prst="roundRect">
            <a:avLst>
              <a:gd name="adj" fmla="val 3505"/>
            </a:avLst>
          </a:prstGeom>
          <a:solidFill>
            <a:srgbClr val="F3F6FC"/>
          </a:solidFill>
          <a:ln/>
        </p:spPr>
      </p:sp>
      <p:sp>
        <p:nvSpPr>
          <p:cNvPr id="11" name="Shape 8"/>
          <p:cNvSpPr/>
          <p:nvPr/>
        </p:nvSpPr>
        <p:spPr>
          <a:xfrm>
            <a:off x="3001609" y="1874520"/>
            <a:ext cx="566928" cy="566928"/>
          </a:xfrm>
          <a:prstGeom prst="ellipse">
            <a:avLst/>
          </a:prstGeom>
          <a:solidFill>
            <a:srgbClr val="1E2761"/>
          </a:solidFill>
          <a:ln/>
        </p:spPr>
      </p:sp>
      <p:sp>
        <p:nvSpPr>
          <p:cNvPr id="12" name="Text 9"/>
          <p:cNvSpPr/>
          <p:nvPr/>
        </p:nvSpPr>
        <p:spPr>
          <a:xfrm>
            <a:off x="3001609" y="187452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J2</a:t>
            </a:r>
            <a:endParaRPr lang="en-US" sz="1300" dirty="0"/>
          </a:p>
        </p:txBody>
      </p:sp>
      <p:sp>
        <p:nvSpPr>
          <p:cNvPr id="13" name="Text 10"/>
          <p:cNvSpPr/>
          <p:nvPr/>
        </p:nvSpPr>
        <p:spPr>
          <a:xfrm>
            <a:off x="3001609" y="2651760"/>
            <a:ext cx="1684873" cy="1554480"/>
          </a:xfrm>
          <a:prstGeom prst="rect">
            <a:avLst/>
          </a:prstGeom>
          <a:noFill/>
          <a:ln/>
        </p:spPr>
        <p:txBody>
          <a:bodyPr wrap="square" lIns="0" tIns="0" rIns="0" bIns="0" rtlCol="0" anchor="ctr"/>
          <a:lstStyle/>
          <a:p>
            <a:pPr indent="0" marL="0">
              <a:lnSpc>
                <a:spcPct val="115000"/>
              </a:lnSpc>
              <a:buNone/>
            </a:pPr>
            <a:r>
              <a:rPr lang="en-US" sz="1300" b="1" dirty="0">
                <a:solidFill>
                  <a:srgbClr val="1E2761"/>
                </a:solidFill>
                <a:latin typeface="Calibri" pitchFamily="34" charset="0"/>
                <a:ea typeface="Calibri" pitchFamily="34" charset="-122"/>
                <a:cs typeface="Calibri" pitchFamily="34" charset="-120"/>
              </a:rPr>
              <a:t>Manipulation de LLM avec Python et LangChain</a:t>
            </a:r>
            <a:endParaRPr lang="en-US" sz="1300" dirty="0"/>
          </a:p>
        </p:txBody>
      </p:sp>
      <p:pic>
        <p:nvPicPr>
          <p:cNvPr id="14" name="Image 1" descr="/home/claude/formation-genai-de/assets/png/icon-terminal-2-ice.png">    </p:cNvPr>
          <p:cNvPicPr>
            <a:picLocks noChangeAspect="1"/>
          </p:cNvPicPr>
          <p:nvPr/>
        </p:nvPicPr>
        <p:blipFill>
          <a:blip r:embed="rId2"/>
          <a:stretch>
            <a:fillRect/>
          </a:stretch>
        </p:blipFill>
        <p:spPr>
          <a:xfrm>
            <a:off x="3249686" y="4343400"/>
            <a:ext cx="1188720" cy="1188720"/>
          </a:xfrm>
          <a:prstGeom prst="rect">
            <a:avLst/>
          </a:prstGeom>
        </p:spPr>
      </p:pic>
      <p:sp>
        <p:nvSpPr>
          <p:cNvPr id="15" name="Text 11"/>
          <p:cNvSpPr/>
          <p:nvPr/>
        </p:nvSpPr>
        <p:spPr>
          <a:xfrm>
            <a:off x="3001609" y="5212080"/>
            <a:ext cx="1684873" cy="320040"/>
          </a:xfrm>
          <a:prstGeom prst="rect">
            <a:avLst/>
          </a:prstGeom>
          <a:noFill/>
          <a:ln/>
        </p:spPr>
        <p:txBody>
          <a:bodyPr wrap="square" lIns="0" tIns="0" rIns="0" bIns="0" rtlCol="0" anchor="ctr"/>
          <a:lstStyle/>
          <a:p>
            <a:pPr indent="0" marL="0">
              <a:buNone/>
            </a:pPr>
            <a:r>
              <a:rPr lang="en-US" sz="1300" b="1" dirty="0">
                <a:solidFill>
                  <a:srgbClr val="F2B134"/>
                </a:solidFill>
                <a:latin typeface="Calibri" pitchFamily="34" charset="0"/>
                <a:ea typeface="Calibri" pitchFamily="34" charset="-122"/>
                <a:cs typeface="Calibri" pitchFamily="34" charset="-120"/>
              </a:rPr>
              <a:t>7h</a:t>
            </a:r>
            <a:endParaRPr lang="en-US" sz="1300" dirty="0"/>
          </a:p>
        </p:txBody>
      </p:sp>
      <p:sp>
        <p:nvSpPr>
          <p:cNvPr id="16" name="Shape 12"/>
          <p:cNvSpPr/>
          <p:nvPr/>
        </p:nvSpPr>
        <p:spPr>
          <a:xfrm>
            <a:off x="5052243" y="1600200"/>
            <a:ext cx="2087209" cy="4160520"/>
          </a:xfrm>
          <a:prstGeom prst="roundRect">
            <a:avLst>
              <a:gd name="adj" fmla="val 3505"/>
            </a:avLst>
          </a:prstGeom>
          <a:solidFill>
            <a:srgbClr val="F3F6FC"/>
          </a:solidFill>
          <a:ln/>
        </p:spPr>
      </p:sp>
      <p:sp>
        <p:nvSpPr>
          <p:cNvPr id="17" name="Shape 13"/>
          <p:cNvSpPr/>
          <p:nvPr/>
        </p:nvSpPr>
        <p:spPr>
          <a:xfrm>
            <a:off x="5253411" y="1874520"/>
            <a:ext cx="566928" cy="566928"/>
          </a:xfrm>
          <a:prstGeom prst="ellipse">
            <a:avLst/>
          </a:prstGeom>
          <a:solidFill>
            <a:srgbClr val="1E2761"/>
          </a:solidFill>
          <a:ln/>
        </p:spPr>
      </p:sp>
      <p:sp>
        <p:nvSpPr>
          <p:cNvPr id="18" name="Text 14"/>
          <p:cNvSpPr/>
          <p:nvPr/>
        </p:nvSpPr>
        <p:spPr>
          <a:xfrm>
            <a:off x="5253411" y="187452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J3</a:t>
            </a:r>
            <a:endParaRPr lang="en-US" sz="1300" dirty="0"/>
          </a:p>
        </p:txBody>
      </p:sp>
      <p:sp>
        <p:nvSpPr>
          <p:cNvPr id="19" name="Text 15"/>
          <p:cNvSpPr/>
          <p:nvPr/>
        </p:nvSpPr>
        <p:spPr>
          <a:xfrm>
            <a:off x="5253411" y="2651760"/>
            <a:ext cx="1684873" cy="1554480"/>
          </a:xfrm>
          <a:prstGeom prst="rect">
            <a:avLst/>
          </a:prstGeom>
          <a:noFill/>
          <a:ln/>
        </p:spPr>
        <p:txBody>
          <a:bodyPr wrap="square" lIns="0" tIns="0" rIns="0" bIns="0" rtlCol="0" anchor="ctr"/>
          <a:lstStyle/>
          <a:p>
            <a:pPr indent="0" marL="0">
              <a:lnSpc>
                <a:spcPct val="115000"/>
              </a:lnSpc>
              <a:buNone/>
            </a:pPr>
            <a:r>
              <a:rPr lang="en-US" sz="1300" b="1" dirty="0">
                <a:solidFill>
                  <a:srgbClr val="1E2761"/>
                </a:solidFill>
                <a:latin typeface="Calibri" pitchFamily="34" charset="0"/>
                <a:ea typeface="Calibri" pitchFamily="34" charset="-122"/>
                <a:cs typeface="Calibri" pitchFamily="34" charset="-120"/>
              </a:rPr>
              <a:t>Generation et evaluation de donnees synthetiques</a:t>
            </a:r>
            <a:endParaRPr lang="en-US" sz="1300" dirty="0"/>
          </a:p>
        </p:txBody>
      </p:sp>
      <p:pic>
        <p:nvPicPr>
          <p:cNvPr id="20" name="Image 2" descr="/home/claude/formation-genai-de/assets/png/icon-database-ice.png">    </p:cNvPr>
          <p:cNvPicPr>
            <a:picLocks noChangeAspect="1"/>
          </p:cNvPicPr>
          <p:nvPr/>
        </p:nvPicPr>
        <p:blipFill>
          <a:blip r:embed="rId3"/>
          <a:stretch>
            <a:fillRect/>
          </a:stretch>
        </p:blipFill>
        <p:spPr>
          <a:xfrm>
            <a:off x="5501488" y="4343400"/>
            <a:ext cx="1188720" cy="1188720"/>
          </a:xfrm>
          <a:prstGeom prst="rect">
            <a:avLst/>
          </a:prstGeom>
        </p:spPr>
      </p:pic>
      <p:sp>
        <p:nvSpPr>
          <p:cNvPr id="21" name="Text 16"/>
          <p:cNvSpPr/>
          <p:nvPr/>
        </p:nvSpPr>
        <p:spPr>
          <a:xfrm>
            <a:off x="5253411" y="5212080"/>
            <a:ext cx="1684873" cy="320040"/>
          </a:xfrm>
          <a:prstGeom prst="rect">
            <a:avLst/>
          </a:prstGeom>
          <a:noFill/>
          <a:ln/>
        </p:spPr>
        <p:txBody>
          <a:bodyPr wrap="square" lIns="0" tIns="0" rIns="0" bIns="0" rtlCol="0" anchor="ctr"/>
          <a:lstStyle/>
          <a:p>
            <a:pPr indent="0" marL="0">
              <a:buNone/>
            </a:pPr>
            <a:r>
              <a:rPr lang="en-US" sz="1300" b="1" dirty="0">
                <a:solidFill>
                  <a:srgbClr val="F2B134"/>
                </a:solidFill>
                <a:latin typeface="Calibri" pitchFamily="34" charset="0"/>
                <a:ea typeface="Calibri" pitchFamily="34" charset="-122"/>
                <a:cs typeface="Calibri" pitchFamily="34" charset="-120"/>
              </a:rPr>
              <a:t>7h</a:t>
            </a:r>
            <a:endParaRPr lang="en-US" sz="1300" dirty="0"/>
          </a:p>
        </p:txBody>
      </p:sp>
      <p:sp>
        <p:nvSpPr>
          <p:cNvPr id="22" name="Shape 17"/>
          <p:cNvSpPr/>
          <p:nvPr/>
        </p:nvSpPr>
        <p:spPr>
          <a:xfrm>
            <a:off x="7304044" y="1600200"/>
            <a:ext cx="2087209" cy="4160520"/>
          </a:xfrm>
          <a:prstGeom prst="roundRect">
            <a:avLst>
              <a:gd name="adj" fmla="val 3505"/>
            </a:avLst>
          </a:prstGeom>
          <a:solidFill>
            <a:srgbClr val="F3F6FC"/>
          </a:solidFill>
          <a:ln/>
        </p:spPr>
      </p:sp>
      <p:sp>
        <p:nvSpPr>
          <p:cNvPr id="23" name="Shape 18"/>
          <p:cNvSpPr/>
          <p:nvPr/>
        </p:nvSpPr>
        <p:spPr>
          <a:xfrm>
            <a:off x="7505212" y="1874520"/>
            <a:ext cx="566928" cy="566928"/>
          </a:xfrm>
          <a:prstGeom prst="ellipse">
            <a:avLst/>
          </a:prstGeom>
          <a:solidFill>
            <a:srgbClr val="1E2761"/>
          </a:solidFill>
          <a:ln/>
        </p:spPr>
      </p:sp>
      <p:sp>
        <p:nvSpPr>
          <p:cNvPr id="24" name="Text 19"/>
          <p:cNvSpPr/>
          <p:nvPr/>
        </p:nvSpPr>
        <p:spPr>
          <a:xfrm>
            <a:off x="7505212" y="187452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J4</a:t>
            </a:r>
            <a:endParaRPr lang="en-US" sz="1300" dirty="0"/>
          </a:p>
        </p:txBody>
      </p:sp>
      <p:sp>
        <p:nvSpPr>
          <p:cNvPr id="25" name="Text 20"/>
          <p:cNvSpPr/>
          <p:nvPr/>
        </p:nvSpPr>
        <p:spPr>
          <a:xfrm>
            <a:off x="7505212" y="2651760"/>
            <a:ext cx="1684873" cy="1554480"/>
          </a:xfrm>
          <a:prstGeom prst="rect">
            <a:avLst/>
          </a:prstGeom>
          <a:noFill/>
          <a:ln/>
        </p:spPr>
        <p:txBody>
          <a:bodyPr wrap="square" lIns="0" tIns="0" rIns="0" bIns="0" rtlCol="0" anchor="ctr"/>
          <a:lstStyle/>
          <a:p>
            <a:pPr indent="0" marL="0">
              <a:lnSpc>
                <a:spcPct val="115000"/>
              </a:lnSpc>
              <a:buNone/>
            </a:pPr>
            <a:r>
              <a:rPr lang="en-US" sz="1300" b="1" dirty="0">
                <a:solidFill>
                  <a:srgbClr val="1E2761"/>
                </a:solidFill>
                <a:latin typeface="Calibri" pitchFamily="34" charset="0"/>
                <a:ea typeface="Calibri" pitchFamily="34" charset="-122"/>
                <a:cs typeface="Calibri" pitchFamily="34" charset="-120"/>
              </a:rPr>
              <a:t>Securisation, industrialisation et cas d'usage avances</a:t>
            </a:r>
            <a:endParaRPr lang="en-US" sz="1300" dirty="0"/>
          </a:p>
        </p:txBody>
      </p:sp>
      <p:pic>
        <p:nvPicPr>
          <p:cNvPr id="26" name="Image 3" descr="/home/claude/formation-genai-de/assets/png/icon-shield-lock-ice.png">    </p:cNvPr>
          <p:cNvPicPr>
            <a:picLocks noChangeAspect="1"/>
          </p:cNvPicPr>
          <p:nvPr/>
        </p:nvPicPr>
        <p:blipFill>
          <a:blip r:embed="rId4"/>
          <a:stretch>
            <a:fillRect/>
          </a:stretch>
        </p:blipFill>
        <p:spPr>
          <a:xfrm>
            <a:off x="7753289" y="4343400"/>
            <a:ext cx="1188720" cy="1188720"/>
          </a:xfrm>
          <a:prstGeom prst="rect">
            <a:avLst/>
          </a:prstGeom>
        </p:spPr>
      </p:pic>
      <p:sp>
        <p:nvSpPr>
          <p:cNvPr id="27" name="Text 21"/>
          <p:cNvSpPr/>
          <p:nvPr/>
        </p:nvSpPr>
        <p:spPr>
          <a:xfrm>
            <a:off x="7505212" y="5212080"/>
            <a:ext cx="1684873" cy="320040"/>
          </a:xfrm>
          <a:prstGeom prst="rect">
            <a:avLst/>
          </a:prstGeom>
          <a:noFill/>
          <a:ln/>
        </p:spPr>
        <p:txBody>
          <a:bodyPr wrap="square" lIns="0" tIns="0" rIns="0" bIns="0" rtlCol="0" anchor="ctr"/>
          <a:lstStyle/>
          <a:p>
            <a:pPr indent="0" marL="0">
              <a:buNone/>
            </a:pPr>
            <a:r>
              <a:rPr lang="en-US" sz="1300" b="1" dirty="0">
                <a:solidFill>
                  <a:srgbClr val="F2B134"/>
                </a:solidFill>
                <a:latin typeface="Calibri" pitchFamily="34" charset="0"/>
                <a:ea typeface="Calibri" pitchFamily="34" charset="-122"/>
                <a:cs typeface="Calibri" pitchFamily="34" charset="-120"/>
              </a:rPr>
              <a:t>7h</a:t>
            </a:r>
            <a:endParaRPr lang="en-US" sz="1300" dirty="0"/>
          </a:p>
        </p:txBody>
      </p:sp>
      <p:sp>
        <p:nvSpPr>
          <p:cNvPr id="28" name="Shape 22"/>
          <p:cNvSpPr/>
          <p:nvPr/>
        </p:nvSpPr>
        <p:spPr>
          <a:xfrm>
            <a:off x="9555846" y="1600200"/>
            <a:ext cx="2087209" cy="4160520"/>
          </a:xfrm>
          <a:prstGeom prst="roundRect">
            <a:avLst>
              <a:gd name="adj" fmla="val 3505"/>
            </a:avLst>
          </a:prstGeom>
          <a:solidFill>
            <a:srgbClr val="F3F6FC"/>
          </a:solidFill>
          <a:ln/>
        </p:spPr>
      </p:sp>
      <p:sp>
        <p:nvSpPr>
          <p:cNvPr id="29" name="Shape 23"/>
          <p:cNvSpPr/>
          <p:nvPr/>
        </p:nvSpPr>
        <p:spPr>
          <a:xfrm>
            <a:off x="9757014" y="1874520"/>
            <a:ext cx="566928" cy="566928"/>
          </a:xfrm>
          <a:prstGeom prst="ellipse">
            <a:avLst/>
          </a:prstGeom>
          <a:solidFill>
            <a:srgbClr val="1E2761"/>
          </a:solidFill>
          <a:ln/>
        </p:spPr>
      </p:sp>
      <p:sp>
        <p:nvSpPr>
          <p:cNvPr id="30" name="Text 24"/>
          <p:cNvSpPr/>
          <p:nvPr/>
        </p:nvSpPr>
        <p:spPr>
          <a:xfrm>
            <a:off x="9757014" y="1874520"/>
            <a:ext cx="566928" cy="56692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J5</a:t>
            </a:r>
            <a:endParaRPr lang="en-US" sz="1300" dirty="0"/>
          </a:p>
        </p:txBody>
      </p:sp>
      <p:sp>
        <p:nvSpPr>
          <p:cNvPr id="31" name="Text 25"/>
          <p:cNvSpPr/>
          <p:nvPr/>
        </p:nvSpPr>
        <p:spPr>
          <a:xfrm>
            <a:off x="9757014" y="2651760"/>
            <a:ext cx="1684873" cy="1554480"/>
          </a:xfrm>
          <a:prstGeom prst="rect">
            <a:avLst/>
          </a:prstGeom>
          <a:noFill/>
          <a:ln/>
        </p:spPr>
        <p:txBody>
          <a:bodyPr wrap="square" lIns="0" tIns="0" rIns="0" bIns="0" rtlCol="0" anchor="ctr"/>
          <a:lstStyle/>
          <a:p>
            <a:pPr indent="0" marL="0">
              <a:lnSpc>
                <a:spcPct val="115000"/>
              </a:lnSpc>
              <a:buNone/>
            </a:pPr>
            <a:r>
              <a:rPr lang="en-US" sz="1300" b="1" dirty="0">
                <a:solidFill>
                  <a:srgbClr val="1E2761"/>
                </a:solidFill>
                <a:latin typeface="Calibri" pitchFamily="34" charset="0"/>
                <a:ea typeface="Calibri" pitchFamily="34" charset="-122"/>
                <a:cs typeface="Calibri" pitchFamily="34" charset="-120"/>
              </a:rPr>
              <a:t>Projet de fin : pipeline intelligent</a:t>
            </a:r>
            <a:endParaRPr lang="en-US" sz="1300" dirty="0"/>
          </a:p>
        </p:txBody>
      </p:sp>
      <p:pic>
        <p:nvPicPr>
          <p:cNvPr id="32" name="Image 4" descr="/home/claude/formation-genai-de/assets/png/icon-rocket-ice.png">    </p:cNvPr>
          <p:cNvPicPr>
            <a:picLocks noChangeAspect="1"/>
          </p:cNvPicPr>
          <p:nvPr/>
        </p:nvPicPr>
        <p:blipFill>
          <a:blip r:embed="rId5"/>
          <a:stretch>
            <a:fillRect/>
          </a:stretch>
        </p:blipFill>
        <p:spPr>
          <a:xfrm>
            <a:off x="10005090" y="4343400"/>
            <a:ext cx="1188720" cy="1188720"/>
          </a:xfrm>
          <a:prstGeom prst="rect">
            <a:avLst/>
          </a:prstGeom>
        </p:spPr>
      </p:pic>
      <p:sp>
        <p:nvSpPr>
          <p:cNvPr id="33" name="Text 26"/>
          <p:cNvSpPr/>
          <p:nvPr/>
        </p:nvSpPr>
        <p:spPr>
          <a:xfrm>
            <a:off x="9757014" y="5212080"/>
            <a:ext cx="1684873" cy="320040"/>
          </a:xfrm>
          <a:prstGeom prst="rect">
            <a:avLst/>
          </a:prstGeom>
          <a:noFill/>
          <a:ln/>
        </p:spPr>
        <p:txBody>
          <a:bodyPr wrap="square" lIns="0" tIns="0" rIns="0" bIns="0" rtlCol="0" anchor="ctr"/>
          <a:lstStyle/>
          <a:p>
            <a:pPr indent="0" marL="0">
              <a:buNone/>
            </a:pPr>
            <a:r>
              <a:rPr lang="en-US" sz="1300" b="1" dirty="0">
                <a:solidFill>
                  <a:srgbClr val="F2B134"/>
                </a:solidFill>
                <a:latin typeface="Calibri" pitchFamily="34" charset="0"/>
                <a:ea typeface="Calibri" pitchFamily="34" charset="-122"/>
                <a:cs typeface="Calibri" pitchFamily="34" charset="-120"/>
              </a:rPr>
              <a:t>7h</a:t>
            </a:r>
            <a:endParaRPr lang="en-US" sz="1300" dirty="0"/>
          </a:p>
        </p:txBody>
      </p:sp>
      <p:sp>
        <p:nvSpPr>
          <p:cNvPr id="35" name="Text 27"/>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36" name="Text 28"/>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Programme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5486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Objectifs pedagogiques</a:t>
            </a:r>
            <a:endParaRPr lang="en-US" sz="2800" dirty="0"/>
          </a:p>
        </p:txBody>
      </p:sp>
      <p:sp>
        <p:nvSpPr>
          <p:cNvPr id="3" name="Text 1"/>
          <p:cNvSpPr/>
          <p:nvPr/>
        </p:nvSpPr>
        <p:spPr>
          <a:xfrm>
            <a:off x="548640" y="960120"/>
            <a:ext cx="9144000" cy="320040"/>
          </a:xfrm>
          <a:prstGeom prst="rect">
            <a:avLst/>
          </a:prstGeom>
          <a:noFill/>
          <a:ln/>
        </p:spPr>
        <p:txBody>
          <a:bodyPr wrap="square" lIns="0" tIns="0" rIns="0" bIns="0" rtlCol="0" anchor="ctr"/>
          <a:lstStyle/>
          <a:p>
            <a:pPr indent="0" marL="0">
              <a:buNone/>
            </a:pPr>
            <a:r>
              <a:rPr lang="en-US" sz="1300" dirty="0">
                <a:solidFill>
                  <a:srgbClr val="7C8194"/>
                </a:solidFill>
                <a:latin typeface="Calibri" pitchFamily="34" charset="0"/>
                <a:ea typeface="Calibri" pitchFamily="34" charset="-122"/>
                <a:cs typeface="Calibri" pitchFamily="34" charset="-120"/>
              </a:rPr>
              <a:t>A l'issue de la formation, chaque participant sera capable de :</a:t>
            </a:r>
            <a:endParaRPr lang="en-US" sz="1300" dirty="0"/>
          </a:p>
        </p:txBody>
      </p:sp>
      <p:sp>
        <p:nvSpPr>
          <p:cNvPr id="4" name="Shape 2"/>
          <p:cNvSpPr/>
          <p:nvPr/>
        </p:nvSpPr>
        <p:spPr>
          <a:xfrm>
            <a:off x="548640" y="1508760"/>
            <a:ext cx="5410048" cy="1097280"/>
          </a:xfrm>
          <a:prstGeom prst="roundRect">
            <a:avLst>
              <a:gd name="adj" fmla="val 6667"/>
            </a:avLst>
          </a:prstGeom>
          <a:solidFill>
            <a:srgbClr val="F3F6FC"/>
          </a:solidFill>
          <a:ln/>
        </p:spPr>
      </p:sp>
      <p:sp>
        <p:nvSpPr>
          <p:cNvPr id="5" name="Shape 3"/>
          <p:cNvSpPr/>
          <p:nvPr/>
        </p:nvSpPr>
        <p:spPr>
          <a:xfrm>
            <a:off x="749808" y="1828800"/>
            <a:ext cx="457200" cy="457200"/>
          </a:xfrm>
          <a:prstGeom prst="ellipse">
            <a:avLst/>
          </a:prstGeom>
          <a:solidFill>
            <a:srgbClr val="1E2761"/>
          </a:solidFill>
          <a:ln/>
        </p:spPr>
      </p:sp>
      <p:sp>
        <p:nvSpPr>
          <p:cNvPr id="6" name="Text 4"/>
          <p:cNvSpPr/>
          <p:nvPr/>
        </p:nvSpPr>
        <p:spPr>
          <a:xfrm>
            <a:off x="749808"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371600" y="1618488"/>
            <a:ext cx="4404208" cy="877824"/>
          </a:xfrm>
          <a:prstGeom prst="rect">
            <a:avLst/>
          </a:prstGeom>
          <a:noFill/>
          <a:ln/>
        </p:spPr>
        <p:txBody>
          <a:bodyPr wrap="square" lIns="0" tIns="0" rIns="0" bIns="0" rtlCol="0" anchor="ctr"/>
          <a:lstStyle/>
          <a:p>
            <a:pPr indent="0" marL="0">
              <a:lnSpc>
                <a:spcPct val="110000"/>
              </a:lnSpc>
              <a:buNone/>
            </a:pPr>
            <a:r>
              <a:rPr lang="en-US" sz="1250" dirty="0">
                <a:solidFill>
                  <a:srgbClr val="1E2761"/>
                </a:solidFill>
                <a:latin typeface="Calibri" pitchFamily="34" charset="0"/>
                <a:ea typeface="Calibri" pitchFamily="34" charset="-122"/>
                <a:cs typeface="Calibri" pitchFamily="34" charset="-120"/>
              </a:rPr>
              <a:t>Comprendre les concepts fondamentaux de l'IA generative</a:t>
            </a:r>
            <a:endParaRPr lang="en-US" sz="1250" dirty="0"/>
          </a:p>
        </p:txBody>
      </p:sp>
      <p:sp>
        <p:nvSpPr>
          <p:cNvPr id="8" name="Shape 6"/>
          <p:cNvSpPr/>
          <p:nvPr/>
        </p:nvSpPr>
        <p:spPr>
          <a:xfrm>
            <a:off x="6233008" y="1508760"/>
            <a:ext cx="5410048" cy="1097280"/>
          </a:xfrm>
          <a:prstGeom prst="roundRect">
            <a:avLst>
              <a:gd name="adj" fmla="val 6667"/>
            </a:avLst>
          </a:prstGeom>
          <a:solidFill>
            <a:srgbClr val="F3F6FC"/>
          </a:solidFill>
          <a:ln/>
        </p:spPr>
      </p:sp>
      <p:sp>
        <p:nvSpPr>
          <p:cNvPr id="9" name="Shape 7"/>
          <p:cNvSpPr/>
          <p:nvPr/>
        </p:nvSpPr>
        <p:spPr>
          <a:xfrm>
            <a:off x="6434176" y="1828800"/>
            <a:ext cx="457200" cy="457200"/>
          </a:xfrm>
          <a:prstGeom prst="ellipse">
            <a:avLst/>
          </a:prstGeom>
          <a:solidFill>
            <a:srgbClr val="1E2761"/>
          </a:solidFill>
          <a:ln/>
        </p:spPr>
      </p:sp>
      <p:sp>
        <p:nvSpPr>
          <p:cNvPr id="10" name="Text 8"/>
          <p:cNvSpPr/>
          <p:nvPr/>
        </p:nvSpPr>
        <p:spPr>
          <a:xfrm>
            <a:off x="6434176" y="1828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7055968" y="1618488"/>
            <a:ext cx="4404208" cy="877824"/>
          </a:xfrm>
          <a:prstGeom prst="rect">
            <a:avLst/>
          </a:prstGeom>
          <a:noFill/>
          <a:ln/>
        </p:spPr>
        <p:txBody>
          <a:bodyPr wrap="square" lIns="0" tIns="0" rIns="0" bIns="0" rtlCol="0" anchor="ctr"/>
          <a:lstStyle/>
          <a:p>
            <a:pPr indent="0" marL="0">
              <a:lnSpc>
                <a:spcPct val="110000"/>
              </a:lnSpc>
              <a:buNone/>
            </a:pPr>
            <a:r>
              <a:rPr lang="en-US" sz="1250" dirty="0">
                <a:solidFill>
                  <a:srgbClr val="1E2761"/>
                </a:solidFill>
                <a:latin typeface="Calibri" pitchFamily="34" charset="0"/>
                <a:ea typeface="Calibri" pitchFamily="34" charset="-122"/>
                <a:cs typeface="Calibri" pitchFamily="34" charset="-120"/>
              </a:rPr>
              <a:t>Identifier les cas d'usage pertinents pour les Data Engineers</a:t>
            </a:r>
            <a:endParaRPr lang="en-US" sz="1250" dirty="0"/>
          </a:p>
        </p:txBody>
      </p:sp>
      <p:sp>
        <p:nvSpPr>
          <p:cNvPr id="12" name="Shape 10"/>
          <p:cNvSpPr/>
          <p:nvPr/>
        </p:nvSpPr>
        <p:spPr>
          <a:xfrm>
            <a:off x="548640" y="2807208"/>
            <a:ext cx="5410048" cy="1097280"/>
          </a:xfrm>
          <a:prstGeom prst="roundRect">
            <a:avLst>
              <a:gd name="adj" fmla="val 6667"/>
            </a:avLst>
          </a:prstGeom>
          <a:solidFill>
            <a:srgbClr val="F3F6FC"/>
          </a:solidFill>
          <a:ln/>
        </p:spPr>
      </p:sp>
      <p:sp>
        <p:nvSpPr>
          <p:cNvPr id="13" name="Shape 11"/>
          <p:cNvSpPr/>
          <p:nvPr/>
        </p:nvSpPr>
        <p:spPr>
          <a:xfrm>
            <a:off x="749808" y="3127248"/>
            <a:ext cx="457200" cy="457200"/>
          </a:xfrm>
          <a:prstGeom prst="ellipse">
            <a:avLst/>
          </a:prstGeom>
          <a:solidFill>
            <a:srgbClr val="1E2761"/>
          </a:solidFill>
          <a:ln/>
        </p:spPr>
      </p:sp>
      <p:sp>
        <p:nvSpPr>
          <p:cNvPr id="14" name="Text 12"/>
          <p:cNvSpPr/>
          <p:nvPr/>
        </p:nvSpPr>
        <p:spPr>
          <a:xfrm>
            <a:off x="749808" y="31272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371600" y="2916936"/>
            <a:ext cx="4404208" cy="877824"/>
          </a:xfrm>
          <a:prstGeom prst="rect">
            <a:avLst/>
          </a:prstGeom>
          <a:noFill/>
          <a:ln/>
        </p:spPr>
        <p:txBody>
          <a:bodyPr wrap="square" lIns="0" tIns="0" rIns="0" bIns="0" rtlCol="0" anchor="ctr"/>
          <a:lstStyle/>
          <a:p>
            <a:pPr indent="0" marL="0">
              <a:lnSpc>
                <a:spcPct val="110000"/>
              </a:lnSpc>
              <a:buNone/>
            </a:pPr>
            <a:r>
              <a:rPr lang="en-US" sz="1250" dirty="0">
                <a:solidFill>
                  <a:srgbClr val="1E2761"/>
                </a:solidFill>
                <a:latin typeface="Calibri" pitchFamily="34" charset="0"/>
                <a:ea typeface="Calibri" pitchFamily="34" charset="-122"/>
                <a:cs typeface="Calibri" pitchFamily="34" charset="-120"/>
              </a:rPr>
              <a:t>Manipuler des modeles de langage comme GPT dans des flux de traitement</a:t>
            </a:r>
            <a:endParaRPr lang="en-US" sz="1250" dirty="0"/>
          </a:p>
        </p:txBody>
      </p:sp>
      <p:sp>
        <p:nvSpPr>
          <p:cNvPr id="16" name="Shape 14"/>
          <p:cNvSpPr/>
          <p:nvPr/>
        </p:nvSpPr>
        <p:spPr>
          <a:xfrm>
            <a:off x="6233008" y="2807208"/>
            <a:ext cx="5410048" cy="1097280"/>
          </a:xfrm>
          <a:prstGeom prst="roundRect">
            <a:avLst>
              <a:gd name="adj" fmla="val 6667"/>
            </a:avLst>
          </a:prstGeom>
          <a:solidFill>
            <a:srgbClr val="F3F6FC"/>
          </a:solidFill>
          <a:ln/>
        </p:spPr>
      </p:sp>
      <p:sp>
        <p:nvSpPr>
          <p:cNvPr id="17" name="Shape 15"/>
          <p:cNvSpPr/>
          <p:nvPr/>
        </p:nvSpPr>
        <p:spPr>
          <a:xfrm>
            <a:off x="6434176" y="3127248"/>
            <a:ext cx="457200" cy="457200"/>
          </a:xfrm>
          <a:prstGeom prst="ellipse">
            <a:avLst/>
          </a:prstGeom>
          <a:solidFill>
            <a:srgbClr val="1E2761"/>
          </a:solidFill>
          <a:ln/>
        </p:spPr>
      </p:sp>
      <p:sp>
        <p:nvSpPr>
          <p:cNvPr id="18" name="Text 16"/>
          <p:cNvSpPr/>
          <p:nvPr/>
        </p:nvSpPr>
        <p:spPr>
          <a:xfrm>
            <a:off x="6434176" y="312724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7055968" y="2916936"/>
            <a:ext cx="4404208" cy="877824"/>
          </a:xfrm>
          <a:prstGeom prst="rect">
            <a:avLst/>
          </a:prstGeom>
          <a:noFill/>
          <a:ln/>
        </p:spPr>
        <p:txBody>
          <a:bodyPr wrap="square" lIns="0" tIns="0" rIns="0" bIns="0" rtlCol="0" anchor="ctr"/>
          <a:lstStyle/>
          <a:p>
            <a:pPr indent="0" marL="0">
              <a:lnSpc>
                <a:spcPct val="110000"/>
              </a:lnSpc>
              <a:buNone/>
            </a:pPr>
            <a:r>
              <a:rPr lang="en-US" sz="1250" dirty="0">
                <a:solidFill>
                  <a:srgbClr val="1E2761"/>
                </a:solidFill>
                <a:latin typeface="Calibri" pitchFamily="34" charset="0"/>
                <a:ea typeface="Calibri" pitchFamily="34" charset="-122"/>
                <a:cs typeface="Calibri" pitchFamily="34" charset="-120"/>
              </a:rPr>
              <a:t>Generer et valider des donnees synthetiques pour enrichir les jeux de donnees</a:t>
            </a:r>
            <a:endParaRPr lang="en-US" sz="1250" dirty="0"/>
          </a:p>
        </p:txBody>
      </p:sp>
      <p:sp>
        <p:nvSpPr>
          <p:cNvPr id="20" name="Shape 18"/>
          <p:cNvSpPr/>
          <p:nvPr/>
        </p:nvSpPr>
        <p:spPr>
          <a:xfrm>
            <a:off x="548640" y="4105656"/>
            <a:ext cx="5410048" cy="1097280"/>
          </a:xfrm>
          <a:prstGeom prst="roundRect">
            <a:avLst>
              <a:gd name="adj" fmla="val 6667"/>
            </a:avLst>
          </a:prstGeom>
          <a:solidFill>
            <a:srgbClr val="F3F6FC"/>
          </a:solidFill>
          <a:ln/>
        </p:spPr>
      </p:sp>
      <p:sp>
        <p:nvSpPr>
          <p:cNvPr id="21" name="Shape 19"/>
          <p:cNvSpPr/>
          <p:nvPr/>
        </p:nvSpPr>
        <p:spPr>
          <a:xfrm>
            <a:off x="749808" y="4425696"/>
            <a:ext cx="457200" cy="457200"/>
          </a:xfrm>
          <a:prstGeom prst="ellipse">
            <a:avLst/>
          </a:prstGeom>
          <a:solidFill>
            <a:srgbClr val="1E2761"/>
          </a:solidFill>
          <a:ln/>
        </p:spPr>
      </p:sp>
      <p:sp>
        <p:nvSpPr>
          <p:cNvPr id="22" name="Text 20"/>
          <p:cNvSpPr/>
          <p:nvPr/>
        </p:nvSpPr>
        <p:spPr>
          <a:xfrm>
            <a:off x="749808" y="44256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371600" y="4215384"/>
            <a:ext cx="4404208" cy="877824"/>
          </a:xfrm>
          <a:prstGeom prst="rect">
            <a:avLst/>
          </a:prstGeom>
          <a:noFill/>
          <a:ln/>
        </p:spPr>
        <p:txBody>
          <a:bodyPr wrap="square" lIns="0" tIns="0" rIns="0" bIns="0" rtlCol="0" anchor="ctr"/>
          <a:lstStyle/>
          <a:p>
            <a:pPr indent="0" marL="0">
              <a:lnSpc>
                <a:spcPct val="110000"/>
              </a:lnSpc>
              <a:buNone/>
            </a:pPr>
            <a:r>
              <a:rPr lang="en-US" sz="1250" dirty="0">
                <a:solidFill>
                  <a:srgbClr val="1E2761"/>
                </a:solidFill>
                <a:latin typeface="Calibri" pitchFamily="34" charset="0"/>
                <a:ea typeface="Calibri" pitchFamily="34" charset="-122"/>
                <a:cs typeface="Calibri" pitchFamily="34" charset="-120"/>
              </a:rPr>
              <a:t>Automatiser certaines taches grace a des API d'IA generative</a:t>
            </a:r>
            <a:endParaRPr lang="en-US" sz="1250" dirty="0"/>
          </a:p>
        </p:txBody>
      </p:sp>
      <p:sp>
        <p:nvSpPr>
          <p:cNvPr id="24" name="Shape 22"/>
          <p:cNvSpPr/>
          <p:nvPr/>
        </p:nvSpPr>
        <p:spPr>
          <a:xfrm>
            <a:off x="6233008" y="4105656"/>
            <a:ext cx="5410048" cy="1097280"/>
          </a:xfrm>
          <a:prstGeom prst="roundRect">
            <a:avLst>
              <a:gd name="adj" fmla="val 6667"/>
            </a:avLst>
          </a:prstGeom>
          <a:solidFill>
            <a:srgbClr val="F3F6FC"/>
          </a:solidFill>
          <a:ln/>
        </p:spPr>
      </p:sp>
      <p:sp>
        <p:nvSpPr>
          <p:cNvPr id="25" name="Shape 23"/>
          <p:cNvSpPr/>
          <p:nvPr/>
        </p:nvSpPr>
        <p:spPr>
          <a:xfrm>
            <a:off x="6434176" y="4425696"/>
            <a:ext cx="457200" cy="457200"/>
          </a:xfrm>
          <a:prstGeom prst="ellipse">
            <a:avLst/>
          </a:prstGeom>
          <a:solidFill>
            <a:srgbClr val="1E2761"/>
          </a:solidFill>
          <a:ln/>
        </p:spPr>
      </p:sp>
      <p:sp>
        <p:nvSpPr>
          <p:cNvPr id="26" name="Text 24"/>
          <p:cNvSpPr/>
          <p:nvPr/>
        </p:nvSpPr>
        <p:spPr>
          <a:xfrm>
            <a:off x="6434176" y="442569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7055968" y="4215384"/>
            <a:ext cx="4404208" cy="877824"/>
          </a:xfrm>
          <a:prstGeom prst="rect">
            <a:avLst/>
          </a:prstGeom>
          <a:noFill/>
          <a:ln/>
        </p:spPr>
        <p:txBody>
          <a:bodyPr wrap="square" lIns="0" tIns="0" rIns="0" bIns="0" rtlCol="0" anchor="ctr"/>
          <a:lstStyle/>
          <a:p>
            <a:pPr indent="0" marL="0">
              <a:lnSpc>
                <a:spcPct val="110000"/>
              </a:lnSpc>
              <a:buNone/>
            </a:pPr>
            <a:r>
              <a:rPr lang="en-US" sz="1250" dirty="0">
                <a:solidFill>
                  <a:srgbClr val="1E2761"/>
                </a:solidFill>
                <a:latin typeface="Calibri" pitchFamily="34" charset="0"/>
                <a:ea typeface="Calibri" pitchFamily="34" charset="-122"/>
                <a:cs typeface="Calibri" pitchFamily="34" charset="-120"/>
              </a:rPr>
              <a:t>Evaluer les risques ethiques et de securite lies a ces usages</a:t>
            </a:r>
            <a:endParaRPr lang="en-US" sz="1250" dirty="0"/>
          </a:p>
        </p:txBody>
      </p:sp>
      <p:sp>
        <p:nvSpPr>
          <p:cNvPr id="29" name="Text 2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30" name="Text 27"/>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Objectifs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548640"/>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Prerequis et public vise</a:t>
            </a:r>
            <a:endParaRPr lang="en-US" sz="2800" dirty="0"/>
          </a:p>
        </p:txBody>
      </p:sp>
      <p:sp>
        <p:nvSpPr>
          <p:cNvPr id="3" name="Text 1"/>
          <p:cNvSpPr/>
          <p:nvPr/>
        </p:nvSpPr>
        <p:spPr>
          <a:xfrm>
            <a:off x="548640" y="1371600"/>
            <a:ext cx="512064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Prerequis apprenants</a:t>
            </a:r>
            <a:endParaRPr lang="en-US" sz="1500" dirty="0"/>
          </a:p>
        </p:txBody>
      </p:sp>
      <p:sp>
        <p:nvSpPr>
          <p:cNvPr id="4" name="Text 2"/>
          <p:cNvSpPr/>
          <p:nvPr/>
        </p:nvSpPr>
        <p:spPr>
          <a:xfrm>
            <a:off x="548640" y="1828800"/>
            <a:ext cx="5120640" cy="310896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300" dirty="0">
                <a:solidFill>
                  <a:srgbClr val="26293A"/>
                </a:solidFill>
                <a:latin typeface="Calibri" pitchFamily="34" charset="0"/>
                <a:ea typeface="Calibri" pitchFamily="34" charset="-122"/>
                <a:cs typeface="Calibri" pitchFamily="34" charset="-120"/>
              </a:rPr>
              <a:t>Bonne maitrise de Python (fonctions, structures de donnees, environnements virtuels)</a:t>
            </a:r>
            <a:endParaRPr lang="en-US" sz="1300" dirty="0"/>
          </a:p>
          <a:p>
            <a:pPr marL="228600" indent="-228600">
              <a:lnSpc>
                <a:spcPct val="115000"/>
              </a:lnSpc>
              <a:spcAft>
                <a:spcPts val="1000"/>
              </a:spcAft>
              <a:buSzPct val="100000"/>
              <a:buChar char="●"/>
            </a:pPr>
            <a:r>
              <a:rPr lang="en-US" sz="1300" dirty="0">
                <a:solidFill>
                  <a:srgbClr val="26293A"/>
                </a:solidFill>
                <a:latin typeface="Calibri" pitchFamily="34" charset="0"/>
                <a:ea typeface="Calibri" pitchFamily="34" charset="-122"/>
                <a:cs typeface="Calibri" pitchFamily="34" charset="-120"/>
              </a:rPr>
              <a:t>Connaissance des architectures de donnees (pipelines ETL/ELT, bases relationnelles, formats semi-structures)</a:t>
            </a:r>
            <a:endParaRPr lang="en-US" sz="1300" dirty="0"/>
          </a:p>
          <a:p>
            <a:pPr marL="228600" indent="-228600">
              <a:lnSpc>
                <a:spcPct val="115000"/>
              </a:lnSpc>
              <a:spcAft>
                <a:spcPts val="1000"/>
              </a:spcAft>
              <a:buSzPct val="100000"/>
              <a:buChar char="●"/>
            </a:pPr>
            <a:r>
              <a:rPr lang="en-US" sz="1300" dirty="0">
                <a:solidFill>
                  <a:srgbClr val="26293A"/>
                </a:solidFill>
                <a:latin typeface="Calibri" pitchFamily="34" charset="0"/>
                <a:ea typeface="Calibri" pitchFamily="34" charset="-122"/>
                <a:cs typeface="Calibri" pitchFamily="34" charset="-120"/>
              </a:rPr>
              <a:t>Connaissance des API REST (methodes HTTP, authentification, format JSON)</a:t>
            </a:r>
            <a:endParaRPr lang="en-US" sz="1300" dirty="0"/>
          </a:p>
          <a:p>
            <a:pPr marL="228600" indent="-228600">
              <a:lnSpc>
                <a:spcPct val="115000"/>
              </a:lnSpc>
              <a:spcAft>
                <a:spcPts val="1000"/>
              </a:spcAft>
              <a:buSzPct val="100000"/>
              <a:buChar char="●"/>
            </a:pPr>
            <a:r>
              <a:rPr lang="en-US" sz="1300" dirty="0">
                <a:solidFill>
                  <a:srgbClr val="26293A"/>
                </a:solidFill>
                <a:latin typeface="Calibri" pitchFamily="34" charset="0"/>
                <a:ea typeface="Calibri" pitchFamily="34" charset="-122"/>
                <a:cs typeface="Calibri" pitchFamily="34" charset="-120"/>
              </a:rPr>
              <a:t>A l'aise avec au moins un outil cloud (stockage, calcul ou orchestration)</a:t>
            </a:r>
            <a:endParaRPr lang="en-US" sz="1300" dirty="0"/>
          </a:p>
        </p:txBody>
      </p:sp>
      <p:sp>
        <p:nvSpPr>
          <p:cNvPr id="5" name="Text 3"/>
          <p:cNvSpPr/>
          <p:nvPr/>
        </p:nvSpPr>
        <p:spPr>
          <a:xfrm>
            <a:off x="6309360" y="1371600"/>
            <a:ext cx="512064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Public cible</a:t>
            </a:r>
            <a:endParaRPr lang="en-US" sz="1500" dirty="0"/>
          </a:p>
        </p:txBody>
      </p:sp>
      <p:sp>
        <p:nvSpPr>
          <p:cNvPr id="6" name="Text 4"/>
          <p:cNvSpPr/>
          <p:nvPr/>
        </p:nvSpPr>
        <p:spPr>
          <a:xfrm>
            <a:off x="6309360" y="1828800"/>
            <a:ext cx="5120640" cy="310896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300" dirty="0">
                <a:solidFill>
                  <a:srgbClr val="26293A"/>
                </a:solidFill>
                <a:latin typeface="Calibri" pitchFamily="34" charset="0"/>
                <a:ea typeface="Calibri" pitchFamily="34" charset="-122"/>
                <a:cs typeface="Calibri" pitchFamily="34" charset="-120"/>
              </a:rPr>
              <a:t>Data Engineers</a:t>
            </a:r>
            <a:endParaRPr lang="en-US" sz="1300" dirty="0"/>
          </a:p>
          <a:p>
            <a:pPr marL="228600" indent="-228600">
              <a:lnSpc>
                <a:spcPct val="115000"/>
              </a:lnSpc>
              <a:spcAft>
                <a:spcPts val="1000"/>
              </a:spcAft>
              <a:buSzPct val="100000"/>
              <a:buChar char="●"/>
            </a:pPr>
            <a:r>
              <a:rPr lang="en-US" sz="1300" dirty="0">
                <a:solidFill>
                  <a:srgbClr val="26293A"/>
                </a:solidFill>
                <a:latin typeface="Calibri" pitchFamily="34" charset="0"/>
                <a:ea typeface="Calibri" pitchFamily="34" charset="-122"/>
                <a:cs typeface="Calibri" pitchFamily="34" charset="-120"/>
              </a:rPr>
              <a:t>Data Architects</a:t>
            </a:r>
            <a:endParaRPr lang="en-US" sz="1300" dirty="0"/>
          </a:p>
          <a:p>
            <a:pPr marL="228600" indent="-228600">
              <a:lnSpc>
                <a:spcPct val="115000"/>
              </a:lnSpc>
              <a:spcAft>
                <a:spcPts val="1000"/>
              </a:spcAft>
              <a:buSzPct val="100000"/>
              <a:buChar char="●"/>
            </a:pPr>
            <a:r>
              <a:rPr lang="en-US" sz="1300" dirty="0">
                <a:solidFill>
                  <a:srgbClr val="26293A"/>
                </a:solidFill>
                <a:latin typeface="Calibri" pitchFamily="34" charset="0"/>
                <a:ea typeface="Calibri" pitchFamily="34" charset="-122"/>
                <a:cs typeface="Calibri" pitchFamily="34" charset="-120"/>
              </a:rPr>
              <a:t>Developpeurs backend en charge de flux de donnees</a:t>
            </a:r>
            <a:endParaRPr lang="en-US" sz="1300" dirty="0"/>
          </a:p>
          <a:p>
            <a:pPr marL="228600" indent="-228600">
              <a:lnSpc>
                <a:spcPct val="115000"/>
              </a:lnSpc>
              <a:spcAft>
                <a:spcPts val="1000"/>
              </a:spcAft>
              <a:buSzPct val="100000"/>
              <a:buChar char="●"/>
            </a:pPr>
            <a:r>
              <a:rPr lang="en-US" sz="1300" dirty="0">
                <a:solidFill>
                  <a:srgbClr val="26293A"/>
                </a:solidFill>
                <a:latin typeface="Calibri" pitchFamily="34" charset="0"/>
                <a:ea typeface="Calibri" pitchFamily="34" charset="-122"/>
                <a:cs typeface="Calibri" pitchFamily="34" charset="-120"/>
              </a:rPr>
              <a:t>Ingenieurs data en charge des pipelines de traitement de donnees</a:t>
            </a:r>
            <a:endParaRPr lang="en-US" sz="130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Prerequis &amp; public</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5486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Modalites pedagogiques et evaluation</a:t>
            </a:r>
            <a:endParaRPr lang="en-US" sz="2600" dirty="0"/>
          </a:p>
        </p:txBody>
      </p:sp>
      <p:sp>
        <p:nvSpPr>
          <p:cNvPr id="3" name="Text 1"/>
          <p:cNvSpPr/>
          <p:nvPr/>
        </p:nvSpPr>
        <p:spPr>
          <a:xfrm>
            <a:off x="548640" y="1234440"/>
            <a:ext cx="51206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Pedagogie</a:t>
            </a:r>
            <a:endParaRPr lang="en-US" sz="1400" dirty="0"/>
          </a:p>
        </p:txBody>
      </p:sp>
      <p:sp>
        <p:nvSpPr>
          <p:cNvPr id="4" name="Text 2"/>
          <p:cNvSpPr/>
          <p:nvPr/>
        </p:nvSpPr>
        <p:spPr>
          <a:xfrm>
            <a:off x="548640" y="1645920"/>
            <a:ext cx="5120640" cy="2834640"/>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Alternance apports theoriques courts, demonstrations en direct avec des LLM et travaux pratiques</a:t>
            </a:r>
            <a:endParaRPr lang="en-US" sz="1150" dirty="0"/>
          </a:p>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1 travail pratique par module, en lien direct avec la theorie qui precede</a:t>
            </a:r>
            <a:endParaRPr lang="en-US" sz="1150" dirty="0"/>
          </a:p>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Projet fil rouge le dernier jour : conception d'un pipeline intelligent integrant un LLM</a:t>
            </a:r>
            <a:endParaRPr lang="en-US" sz="1150" dirty="0"/>
          </a:p>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Debriefing ou correction collective apres chaque TP</a:t>
            </a:r>
            <a:endParaRPr lang="en-US" sz="1150" dirty="0"/>
          </a:p>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Utilisation exclusive de donnees fictives : aucune donnee reelle ou de production BFORBANK n'est manipulee</a:t>
            </a:r>
            <a:endParaRPr lang="en-US" sz="1150" dirty="0"/>
          </a:p>
        </p:txBody>
      </p:sp>
      <p:sp>
        <p:nvSpPr>
          <p:cNvPr id="5" name="Text 3"/>
          <p:cNvSpPr/>
          <p:nvPr/>
        </p:nvSpPr>
        <p:spPr>
          <a:xfrm>
            <a:off x="6309360" y="1234440"/>
            <a:ext cx="51206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Evaluation</a:t>
            </a:r>
            <a:endParaRPr lang="en-US" sz="1400" dirty="0"/>
          </a:p>
        </p:txBody>
      </p:sp>
      <p:sp>
        <p:nvSpPr>
          <p:cNvPr id="6" name="Text 4"/>
          <p:cNvSpPr/>
          <p:nvPr/>
        </p:nvSpPr>
        <p:spPr>
          <a:xfrm>
            <a:off x="6309360" y="1645920"/>
            <a:ext cx="5120640" cy="2834640"/>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Evaluation formative continue (observation pendant les travaux pratiques)</a:t>
            </a:r>
            <a:endParaRPr lang="en-US" sz="1150" dirty="0"/>
          </a:p>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Quiz de revision en fin de parcours (10 questions couvrant les 5 jours)</a:t>
            </a:r>
            <a:endParaRPr lang="en-US" sz="1150" dirty="0"/>
          </a:p>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Qualite et conformite des donnees synthetiques produites (TP5, TP6)</a:t>
            </a:r>
            <a:endParaRPr lang="en-US" sz="1150" dirty="0"/>
          </a:p>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Soutenance du projet fil rouge devant le groupe (Jour 5)</a:t>
            </a:r>
            <a:endParaRPr lang="en-US" sz="1150" dirty="0"/>
          </a:p>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Questionnaire de satisfaction a chaud en fin de formation</a:t>
            </a:r>
            <a:endParaRPr lang="en-US" sz="1150" dirty="0"/>
          </a:p>
        </p:txBody>
      </p:sp>
      <p:sp>
        <p:nvSpPr>
          <p:cNvPr id="7" name="Shape 5"/>
          <p:cNvSpPr/>
          <p:nvPr/>
        </p:nvSpPr>
        <p:spPr>
          <a:xfrm>
            <a:off x="548640" y="4892040"/>
            <a:ext cx="11094415" cy="1005840"/>
          </a:xfrm>
          <a:prstGeom prst="roundRect">
            <a:avLst>
              <a:gd name="adj" fmla="val 5455"/>
            </a:avLst>
          </a:prstGeom>
          <a:solidFill>
            <a:srgbClr val="1E2761"/>
          </a:solidFill>
          <a:ln/>
        </p:spPr>
      </p:sp>
      <p:sp>
        <p:nvSpPr>
          <p:cNvPr id="8" name="Text 6"/>
          <p:cNvSpPr/>
          <p:nvPr/>
        </p:nvSpPr>
        <p:spPr>
          <a:xfrm>
            <a:off x="822960" y="5029200"/>
            <a:ext cx="10545775"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Repartition des 35 heures : Jour 1 a 5 = 7h chacun</a:t>
            </a:r>
            <a:endParaRPr lang="en-US" sz="1300" dirty="0"/>
          </a:p>
        </p:txBody>
      </p:sp>
      <p:sp>
        <p:nvSpPr>
          <p:cNvPr id="9" name="Text 7"/>
          <p:cNvSpPr/>
          <p:nvPr/>
        </p:nvSpPr>
        <p:spPr>
          <a:xfrm>
            <a:off x="822960" y="5394960"/>
            <a:ext cx="10545775" cy="411480"/>
          </a:xfrm>
          <a:prstGeom prst="rect">
            <a:avLst/>
          </a:prstGeom>
          <a:noFill/>
          <a:ln/>
        </p:spPr>
        <p:txBody>
          <a:bodyPr wrap="square" lIns="0" tIns="0" rIns="0" bIns="0" rtlCol="0" anchor="ctr"/>
          <a:lstStyle/>
          <a:p>
            <a:pPr indent="0" marL="0">
              <a:buNone/>
            </a:pPr>
            <a:r>
              <a:rPr lang="en-US" sz="1150" dirty="0">
                <a:solidFill>
                  <a:srgbClr val="CADCFC"/>
                </a:solidFill>
                <a:latin typeface="Calibri" pitchFamily="34" charset="0"/>
                <a:ea typeface="Calibri" pitchFamily="34" charset="-122"/>
                <a:cs typeface="Calibri" pitchFamily="34" charset="-120"/>
              </a:rPr>
              <a:t>Jour 1 : 9h15 (installation formateur) - 9h30-13h00 / 14h00-17h30  |  Jours 2 a 5 : 9h00-12h30 / 13h30-17h00</a:t>
            </a:r>
            <a:endParaRPr lang="en-US" sz="1150" dirty="0"/>
          </a:p>
        </p:txBody>
      </p:sp>
      <p:sp>
        <p:nvSpPr>
          <p:cNvPr id="11" name="Text 8"/>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2" name="Text 9"/>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Modalites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73A"/>
        </a:solidFill>
      </p:bgPr>
    </p:bg>
    <p:spTree>
      <p:nvGrpSpPr>
        <p:cNvPr id="1" name=""/>
        <p:cNvGrpSpPr/>
        <p:nvPr/>
      </p:nvGrpSpPr>
      <p:grpSpPr>
        <a:xfrm>
          <a:off x="0" y="0"/>
          <a:ext cx="0" cy="0"/>
          <a:chOff x="0" y="0"/>
          <a:chExt cx="0" cy="0"/>
        </a:xfrm>
      </p:grpSpPr>
      <p:sp>
        <p:nvSpPr>
          <p:cNvPr id="2" name="Shape 0"/>
          <p:cNvSpPr/>
          <p:nvPr/>
        </p:nvSpPr>
        <p:spPr>
          <a:xfrm>
            <a:off x="9052560" y="2651760"/>
            <a:ext cx="5120640" cy="5120640"/>
          </a:xfrm>
          <a:prstGeom prst="ellipse">
            <a:avLst/>
          </a:prstGeom>
          <a:solidFill>
            <a:srgbClr val="1E2761"/>
          </a:solidFill>
          <a:ln/>
        </p:spPr>
      </p:sp>
      <p:pic>
        <p:nvPicPr>
          <p:cNvPr id="3" name="Image 0" descr="/home/claude/formation-genai-de/assets/png/icon-brain-gold.png">    </p:cNvPr>
          <p:cNvPicPr>
            <a:picLocks noChangeAspect="1"/>
          </p:cNvPicPr>
          <p:nvPr/>
        </p:nvPicPr>
        <p:blipFill>
          <a:blip r:embed="rId1"/>
          <a:stretch>
            <a:fillRect/>
          </a:stretch>
        </p:blipFill>
        <p:spPr>
          <a:xfrm>
            <a:off x="10149840" y="3749040"/>
            <a:ext cx="2377440" cy="2377440"/>
          </a:xfrm>
          <a:prstGeom prst="rect">
            <a:avLst/>
          </a:prstGeom>
        </p:spPr>
      </p:pic>
      <p:sp>
        <p:nvSpPr>
          <p:cNvPr id="4" name="Text 1"/>
          <p:cNvSpPr/>
          <p:nvPr/>
        </p:nvSpPr>
        <p:spPr>
          <a:xfrm>
            <a:off x="548640" y="2286000"/>
            <a:ext cx="7315200" cy="365760"/>
          </a:xfrm>
          <a:prstGeom prst="rect">
            <a:avLst/>
          </a:prstGeom>
          <a:noFill/>
          <a:ln/>
        </p:spPr>
        <p:txBody>
          <a:bodyPr wrap="square" lIns="0" tIns="0" rIns="0" bIns="0" rtlCol="0" anchor="ctr"/>
          <a:lstStyle/>
          <a:p>
            <a:pPr indent="0" marL="0">
              <a:buNone/>
            </a:pPr>
            <a:r>
              <a:rPr lang="en-US" sz="1300" b="1" spc="300" kern="0" dirty="0">
                <a:solidFill>
                  <a:srgbClr val="F2B134"/>
                </a:solidFill>
                <a:latin typeface="Calibri" pitchFamily="34" charset="0"/>
                <a:ea typeface="Calibri" pitchFamily="34" charset="-122"/>
                <a:cs typeface="Calibri" pitchFamily="34" charset="-120"/>
              </a:rPr>
              <a:t>JOUR 1</a:t>
            </a:r>
            <a:endParaRPr lang="en-US" sz="1300" dirty="0"/>
          </a:p>
        </p:txBody>
      </p:sp>
      <p:sp>
        <p:nvSpPr>
          <p:cNvPr id="5" name="Text 2"/>
          <p:cNvSpPr/>
          <p:nvPr/>
        </p:nvSpPr>
        <p:spPr>
          <a:xfrm>
            <a:off x="548640" y="2651760"/>
            <a:ext cx="8595360" cy="118872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Fondamentaux de l'IA generative</a:t>
            </a:r>
            <a:endParaRPr lang="en-US" sz="3000" dirty="0"/>
          </a:p>
        </p:txBody>
      </p:sp>
      <p:sp>
        <p:nvSpPr>
          <p:cNvPr id="6" name="Text 3"/>
          <p:cNvSpPr/>
          <p:nvPr/>
        </p:nvSpPr>
        <p:spPr>
          <a:xfrm>
            <a:off x="548640" y="3794760"/>
            <a:ext cx="82296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7 heures - 9h15 (installation formateur) - 9h30-13h00 / 14h00-17h30</a:t>
            </a:r>
            <a:endParaRPr lang="en-US" sz="1400" dirty="0"/>
          </a:p>
        </p:txBody>
      </p:sp>
      <p:sp>
        <p:nvSpPr>
          <p:cNvPr id="7" name="Text 4"/>
          <p:cNvSpPr/>
          <p:nvPr/>
        </p:nvSpPr>
        <p:spPr>
          <a:xfrm>
            <a:off x="548640" y="4434840"/>
            <a:ext cx="8229600" cy="137160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Module 1 - Fondamentaux de l'IA generative (3h30)</a:t>
            </a:r>
            <a:endParaRPr lang="en-US" sz="1300" dirty="0"/>
          </a:p>
          <a:p>
            <a:pPr marL="203200" indent="-203200">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Module 2 - Usages et enjeux pour les Data Engineers (3h30)</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234440" y="457200"/>
            <a:ext cx="941832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Fondamentaux de l'IA generative (1/2)</a:t>
            </a:r>
            <a:endParaRPr lang="en-US" sz="2100" dirty="0"/>
          </a:p>
        </p:txBody>
      </p:sp>
      <p:sp>
        <p:nvSpPr>
          <p:cNvPr id="5" name="Text 3"/>
          <p:cNvSpPr/>
          <p:nvPr/>
        </p:nvSpPr>
        <p:spPr>
          <a:xfrm>
            <a:off x="548640" y="1143000"/>
            <a:ext cx="11094415" cy="457200"/>
          </a:xfrm>
          <a:prstGeom prst="rect">
            <a:avLst/>
          </a:prstGeom>
          <a:noFill/>
          <a:ln/>
        </p:spPr>
        <p:txBody>
          <a:bodyPr wrap="square" lIns="0" tIns="0" rIns="0" bIns="0" rtlCol="0" anchor="ctr"/>
          <a:lstStyle/>
          <a:p>
            <a:pPr indent="0" marL="0">
              <a:buNone/>
            </a:pPr>
            <a:r>
              <a:rPr lang="en-US" sz="1250" i="1" dirty="0">
                <a:solidFill>
                  <a:srgbClr val="7C8194"/>
                </a:solidFill>
                <a:latin typeface="Calibri" pitchFamily="34" charset="0"/>
                <a:ea typeface="Calibri" pitchFamily="34" charset="-122"/>
                <a:cs typeface="Calibri" pitchFamily="34" charset="-120"/>
              </a:rPr>
              <a:t>Objectif : Comprendre les concepts fondamentaux de l'IA generative et le principe de fonctionnement des LLM.</a:t>
            </a:r>
            <a:endParaRPr lang="en-US" sz="1250" dirty="0"/>
          </a:p>
        </p:txBody>
      </p:sp>
      <p:sp>
        <p:nvSpPr>
          <p:cNvPr id="6" name="Text 4"/>
          <p:cNvSpPr/>
          <p:nvPr/>
        </p:nvSpPr>
        <p:spPr>
          <a:xfrm>
            <a:off x="548640" y="1737360"/>
            <a:ext cx="11094415" cy="438912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Definition de l'IA generative : des modeles capables de produire du contenu inedit (texte, code, image, donnees) plutot que de seulement classer ou predire</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Historique resume : des reseaux de neurones classiques aux Transformers (2017), puis aux LLM grand public (GPT-3, ChatGPT en 2022)</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IA classique (regles, scoring, classification supervisee) versus IA generative (production de contenu nouveau par des modeles pre-entraines)</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Panorama des modeles existants : LLM texte (GPT, Claude, Llama, Mistral), generation d'image (DALL-E, Stable Diffusion), modeles multimodaux</a:t>
            </a:r>
            <a:endParaRPr lang="en-US" sz="150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234440" y="457200"/>
            <a:ext cx="941832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Fondamentaux de l'IA generative (2/2)</a:t>
            </a:r>
            <a:endParaRPr lang="en-US" sz="2100" dirty="0"/>
          </a:p>
        </p:txBody>
      </p:sp>
      <p:sp>
        <p:nvSpPr>
          <p:cNvPr id="5" name="Text 3"/>
          <p:cNvSpPr/>
          <p:nvPr/>
        </p:nvSpPr>
        <p:spPr>
          <a:xfrm>
            <a:off x="548640" y="1234440"/>
            <a:ext cx="11094415" cy="438912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Principes de fonctionnement d'un LLM : tokenisation, embeddings, mecanisme d'attention, generation autoregressive token par token</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Notion de parametres, de fenetre de contexte (context window), et distinction fine-tuning versus prompt engineering</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Panorama des plateformes : Hugging Face (hub de modeles), OpenAI, Anthropic, Mistral AI, Google</a:t>
            </a:r>
            <a:endParaRPr lang="en-US" sz="1500" dirty="0"/>
          </a:p>
        </p:txBody>
      </p:sp>
      <p:sp>
        <p:nvSpPr>
          <p:cNvPr id="6" name="Text 4"/>
          <p:cNvSpPr/>
          <p:nvPr/>
        </p:nvSpPr>
        <p:spPr>
          <a:xfrm>
            <a:off x="8534095" y="5779008"/>
            <a:ext cx="3108960" cy="201168"/>
          </a:xfrm>
          <a:prstGeom prst="rect">
            <a:avLst/>
          </a:prstGeom>
          <a:noFill/>
          <a:ln/>
        </p:spPr>
        <p:txBody>
          <a:bodyPr wrap="square" lIns="0" tIns="0" rIns="0" bIns="0" rtlCol="0" anchor="ctr"/>
          <a:lstStyle/>
          <a:p>
            <a:pPr algn="r" indent="0" marL="0">
              <a:buNone/>
            </a:pPr>
            <a:r>
              <a:rPr lang="en-US" sz="800" b="1" spc="150" kern="0" dirty="0">
                <a:solidFill>
                  <a:srgbClr val="7C8194"/>
                </a:solidFill>
                <a:latin typeface="Calibri" pitchFamily="34" charset="0"/>
                <a:ea typeface="Calibri" pitchFamily="34" charset="-122"/>
                <a:cs typeface="Calibri" pitchFamily="34" charset="-120"/>
              </a:rPr>
              <a:t>OUTILS EVOQUES</a:t>
            </a:r>
            <a:endParaRPr lang="en-US" sz="800" dirty="0"/>
          </a:p>
        </p:txBody>
      </p:sp>
      <p:pic>
        <p:nvPicPr>
          <p:cNvPr id="7" name="Image 0" descr="/home/claude/formation-genai-de/assets/png/logo-huggingface-trim.png">    </p:cNvPr>
          <p:cNvPicPr>
            <a:picLocks noChangeAspect="1"/>
          </p:cNvPicPr>
          <p:nvPr/>
        </p:nvPicPr>
        <p:blipFill>
          <a:blip r:embed="rId1"/>
          <a:stretch>
            <a:fillRect/>
          </a:stretch>
        </p:blipFill>
        <p:spPr>
          <a:xfrm>
            <a:off x="7146585" y="6016752"/>
            <a:ext cx="1375989" cy="365760"/>
          </a:xfrm>
          <a:prstGeom prst="rect">
            <a:avLst/>
          </a:prstGeom>
        </p:spPr>
      </p:pic>
      <p:pic>
        <p:nvPicPr>
          <p:cNvPr id="8" name="Image 1" descr="/home/claude/formation-genai-de/assets/png/logo-openai-trim.png">    </p:cNvPr>
          <p:cNvPicPr>
            <a:picLocks noChangeAspect="1"/>
          </p:cNvPicPr>
          <p:nvPr/>
        </p:nvPicPr>
        <p:blipFill>
          <a:blip r:embed="rId2"/>
          <a:stretch>
            <a:fillRect/>
          </a:stretch>
        </p:blipFill>
        <p:spPr>
          <a:xfrm>
            <a:off x="8723742" y="6016752"/>
            <a:ext cx="369052" cy="365760"/>
          </a:xfrm>
          <a:prstGeom prst="rect">
            <a:avLst/>
          </a:prstGeom>
        </p:spPr>
      </p:pic>
      <p:pic>
        <p:nvPicPr>
          <p:cNvPr id="9" name="Image 2" descr="/home/claude/formation-genai-de/assets/png/logo-anthropic-trim.png">    </p:cNvPr>
          <p:cNvPicPr>
            <a:picLocks noChangeAspect="1"/>
          </p:cNvPicPr>
          <p:nvPr/>
        </p:nvPicPr>
        <p:blipFill>
          <a:blip r:embed="rId3"/>
          <a:stretch>
            <a:fillRect/>
          </a:stretch>
        </p:blipFill>
        <p:spPr>
          <a:xfrm>
            <a:off x="9293962" y="6199632"/>
            <a:ext cx="1629278" cy="182880"/>
          </a:xfrm>
          <a:prstGeom prst="rect">
            <a:avLst/>
          </a:prstGeom>
        </p:spPr>
      </p:pic>
      <p:pic>
        <p:nvPicPr>
          <p:cNvPr id="10" name="Image 3" descr="/home/claude/formation-genai-de/assets/png/logo-mistral-trim.png">    </p:cNvPr>
          <p:cNvPicPr>
            <a:picLocks noChangeAspect="1"/>
          </p:cNvPicPr>
          <p:nvPr/>
        </p:nvPicPr>
        <p:blipFill>
          <a:blip r:embed="rId4"/>
          <a:stretch>
            <a:fillRect/>
          </a:stretch>
        </p:blipFill>
        <p:spPr>
          <a:xfrm>
            <a:off x="11124408" y="6016752"/>
            <a:ext cx="518648" cy="365760"/>
          </a:xfrm>
          <a:prstGeom prst="rect">
            <a:avLst/>
          </a:prstGeom>
        </p:spPr>
      </p:pic>
      <p:sp>
        <p:nvSpPr>
          <p:cNvPr id="12"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3"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234440" y="457200"/>
            <a:ext cx="822960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Fondamentaux de l'IA generative · Schema</a:t>
            </a:r>
            <a:endParaRPr lang="en-US" sz="2100" dirty="0"/>
          </a:p>
        </p:txBody>
      </p:sp>
      <p:sp>
        <p:nvSpPr>
          <p:cNvPr id="5" name="Text 3"/>
          <p:cNvSpPr/>
          <p:nvPr/>
        </p:nvSpPr>
        <p:spPr>
          <a:xfrm>
            <a:off x="9357055" y="502920"/>
            <a:ext cx="2286000" cy="274320"/>
          </a:xfrm>
          <a:prstGeom prst="rect">
            <a:avLst/>
          </a:prstGeom>
          <a:noFill/>
          <a:ln/>
        </p:spPr>
        <p:txBody>
          <a:bodyPr wrap="square" lIns="0" tIns="0" rIns="0" bIns="0" rtlCol="0" anchor="ctr"/>
          <a:lstStyle/>
          <a:p>
            <a:pPr algn="r" indent="0" marL="0">
              <a:buNone/>
            </a:pPr>
            <a:r>
              <a:rPr lang="en-US" sz="1000" b="1" spc="200" kern="0" dirty="0">
                <a:solidFill>
                  <a:srgbClr val="1E2761"/>
                </a:solidFill>
                <a:latin typeface="Calibri" pitchFamily="34" charset="0"/>
                <a:ea typeface="Calibri" pitchFamily="34" charset="-122"/>
                <a:cs typeface="Calibri" pitchFamily="34" charset="-120"/>
              </a:rPr>
              <a:t>SCHEMA</a:t>
            </a:r>
            <a:endParaRPr lang="en-US" sz="1000" dirty="0"/>
          </a:p>
        </p:txBody>
      </p:sp>
      <p:sp>
        <p:nvSpPr>
          <p:cNvPr id="6" name="Shape 4"/>
          <p:cNvSpPr/>
          <p:nvPr/>
        </p:nvSpPr>
        <p:spPr>
          <a:xfrm>
            <a:off x="548640" y="1554480"/>
            <a:ext cx="5272888" cy="1051560"/>
          </a:xfrm>
          <a:prstGeom prst="roundRect">
            <a:avLst>
              <a:gd name="adj" fmla="val 6957"/>
            </a:avLst>
          </a:prstGeom>
          <a:solidFill>
            <a:srgbClr val="FFFFFF"/>
          </a:solidFill>
          <a:ln w="19050">
            <a:solidFill>
              <a:srgbClr val="1E2761"/>
            </a:solidFill>
            <a:prstDash val="solid"/>
          </a:ln>
        </p:spPr>
      </p:sp>
      <p:sp>
        <p:nvSpPr>
          <p:cNvPr id="7" name="Shape 5"/>
          <p:cNvSpPr/>
          <p:nvPr/>
        </p:nvSpPr>
        <p:spPr>
          <a:xfrm>
            <a:off x="2956484" y="1325880"/>
            <a:ext cx="457200" cy="457200"/>
          </a:xfrm>
          <a:prstGeom prst="ellipse">
            <a:avLst/>
          </a:prstGeom>
          <a:solidFill>
            <a:srgbClr val="1E2761"/>
          </a:solidFill>
          <a:ln w="25400">
            <a:solidFill>
              <a:srgbClr val="FFFFFF"/>
            </a:solidFill>
            <a:prstDash val="solid"/>
          </a:ln>
        </p:spPr>
      </p:sp>
      <p:pic>
        <p:nvPicPr>
          <p:cNvPr id="8" name="Image 0" descr="/home/claude/formation-genai-de/assets/png/icon-list-check-white.png">    </p:cNvPr>
          <p:cNvPicPr>
            <a:picLocks noChangeAspect="1"/>
          </p:cNvPicPr>
          <p:nvPr/>
        </p:nvPicPr>
        <p:blipFill>
          <a:blip r:embed="rId1"/>
          <a:stretch>
            <a:fillRect/>
          </a:stretch>
        </p:blipFill>
        <p:spPr>
          <a:xfrm>
            <a:off x="3057068" y="1426464"/>
            <a:ext cx="256032" cy="256032"/>
          </a:xfrm>
          <a:prstGeom prst="rect">
            <a:avLst/>
          </a:prstGeom>
        </p:spPr>
      </p:pic>
      <p:sp>
        <p:nvSpPr>
          <p:cNvPr id="9" name="Text 6"/>
          <p:cNvSpPr/>
          <p:nvPr/>
        </p:nvSpPr>
        <p:spPr>
          <a:xfrm>
            <a:off x="731520" y="1691640"/>
            <a:ext cx="4907128" cy="32004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IA classique</a:t>
            </a:r>
            <a:endParaRPr lang="en-US" sz="1300" dirty="0"/>
          </a:p>
        </p:txBody>
      </p:sp>
      <p:sp>
        <p:nvSpPr>
          <p:cNvPr id="10" name="Text 7"/>
          <p:cNvSpPr/>
          <p:nvPr/>
        </p:nvSpPr>
        <p:spPr>
          <a:xfrm>
            <a:off x="777240" y="2011680"/>
            <a:ext cx="4815688" cy="502920"/>
          </a:xfrm>
          <a:prstGeom prst="rect">
            <a:avLst/>
          </a:prstGeom>
          <a:noFill/>
          <a:ln/>
        </p:spPr>
        <p:txBody>
          <a:bodyPr wrap="square" lIns="0" tIns="0" rIns="0" bIns="0" rtlCol="0" anchor="ctr"/>
          <a:lstStyle/>
          <a:p>
            <a:pPr algn="ctr" indent="0" marL="0">
              <a:buNone/>
            </a:pPr>
            <a:r>
              <a:rPr lang="en-US" sz="1050" dirty="0">
                <a:solidFill>
                  <a:srgbClr val="26293A"/>
                </a:solidFill>
                <a:latin typeface="Calibri" pitchFamily="34" charset="0"/>
                <a:ea typeface="Calibri" pitchFamily="34" charset="-122"/>
                <a:cs typeface="Calibri" pitchFamily="34" charset="-120"/>
              </a:rPr>
              <a:t>Regles ou apprentissage supervise -&gt; sortie bornee (classe, score)</a:t>
            </a:r>
            <a:endParaRPr lang="en-US" sz="1050" dirty="0"/>
          </a:p>
        </p:txBody>
      </p:sp>
      <p:sp>
        <p:nvSpPr>
          <p:cNvPr id="11" name="Shape 8"/>
          <p:cNvSpPr/>
          <p:nvPr/>
        </p:nvSpPr>
        <p:spPr>
          <a:xfrm>
            <a:off x="6370168" y="1554480"/>
            <a:ext cx="5272888" cy="1051560"/>
          </a:xfrm>
          <a:prstGeom prst="roundRect">
            <a:avLst>
              <a:gd name="adj" fmla="val 6957"/>
            </a:avLst>
          </a:prstGeom>
          <a:solidFill>
            <a:srgbClr val="F3F6FC"/>
          </a:solidFill>
          <a:ln w="19050">
            <a:solidFill>
              <a:srgbClr val="1E2761"/>
            </a:solidFill>
            <a:prstDash val="solid"/>
          </a:ln>
        </p:spPr>
      </p:sp>
      <p:sp>
        <p:nvSpPr>
          <p:cNvPr id="12" name="Shape 9"/>
          <p:cNvSpPr/>
          <p:nvPr/>
        </p:nvSpPr>
        <p:spPr>
          <a:xfrm>
            <a:off x="8778011" y="1325880"/>
            <a:ext cx="457200" cy="457200"/>
          </a:xfrm>
          <a:prstGeom prst="ellipse">
            <a:avLst/>
          </a:prstGeom>
          <a:solidFill>
            <a:srgbClr val="F2B134"/>
          </a:solidFill>
          <a:ln w="25400">
            <a:solidFill>
              <a:srgbClr val="FFFFFF"/>
            </a:solidFill>
            <a:prstDash val="solid"/>
          </a:ln>
        </p:spPr>
      </p:sp>
      <p:pic>
        <p:nvPicPr>
          <p:cNvPr id="13" name="Image 1" descr="/home/claude/formation-genai-de/assets/png/icon-wand-navy.png">    </p:cNvPr>
          <p:cNvPicPr>
            <a:picLocks noChangeAspect="1"/>
          </p:cNvPicPr>
          <p:nvPr/>
        </p:nvPicPr>
        <p:blipFill>
          <a:blip r:embed="rId2"/>
          <a:stretch>
            <a:fillRect/>
          </a:stretch>
        </p:blipFill>
        <p:spPr>
          <a:xfrm>
            <a:off x="8878595" y="1426464"/>
            <a:ext cx="256032" cy="256032"/>
          </a:xfrm>
          <a:prstGeom prst="rect">
            <a:avLst/>
          </a:prstGeom>
        </p:spPr>
      </p:pic>
      <p:sp>
        <p:nvSpPr>
          <p:cNvPr id="14" name="Text 10"/>
          <p:cNvSpPr/>
          <p:nvPr/>
        </p:nvSpPr>
        <p:spPr>
          <a:xfrm>
            <a:off x="6553048" y="1691640"/>
            <a:ext cx="4907128" cy="32004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IA generative</a:t>
            </a:r>
            <a:endParaRPr lang="en-US" sz="1300" dirty="0"/>
          </a:p>
        </p:txBody>
      </p:sp>
      <p:sp>
        <p:nvSpPr>
          <p:cNvPr id="15" name="Text 11"/>
          <p:cNvSpPr/>
          <p:nvPr/>
        </p:nvSpPr>
        <p:spPr>
          <a:xfrm>
            <a:off x="6598768" y="2011680"/>
            <a:ext cx="4815688" cy="502920"/>
          </a:xfrm>
          <a:prstGeom prst="rect">
            <a:avLst/>
          </a:prstGeom>
          <a:noFill/>
          <a:ln/>
        </p:spPr>
        <p:txBody>
          <a:bodyPr wrap="square" lIns="0" tIns="0" rIns="0" bIns="0" rtlCol="0" anchor="ctr"/>
          <a:lstStyle/>
          <a:p>
            <a:pPr algn="ctr" indent="0" marL="0">
              <a:buNone/>
            </a:pPr>
            <a:r>
              <a:rPr lang="en-US" sz="1050" dirty="0">
                <a:solidFill>
                  <a:srgbClr val="26293A"/>
                </a:solidFill>
                <a:latin typeface="Calibri" pitchFamily="34" charset="0"/>
                <a:ea typeface="Calibri" pitchFamily="34" charset="-122"/>
                <a:cs typeface="Calibri" pitchFamily="34" charset="-120"/>
              </a:rPr>
              <a:t>Modele pre-entraine -&gt; contenu nouveau et non borne (texte, code, donnees)</a:t>
            </a:r>
            <a:endParaRPr lang="en-US" sz="1050" dirty="0"/>
          </a:p>
        </p:txBody>
      </p:sp>
      <p:sp>
        <p:nvSpPr>
          <p:cNvPr id="16" name="Text 12"/>
          <p:cNvSpPr/>
          <p:nvPr/>
        </p:nvSpPr>
        <p:spPr>
          <a:xfrm>
            <a:off x="548640" y="2697480"/>
            <a:ext cx="11094415" cy="274320"/>
          </a:xfrm>
          <a:prstGeom prst="rect">
            <a:avLst/>
          </a:prstGeom>
          <a:noFill/>
          <a:ln/>
        </p:spPr>
        <p:txBody>
          <a:bodyPr wrap="square" lIns="0" tIns="0" rIns="0" bIns="0" rtlCol="0" anchor="ctr"/>
          <a:lstStyle/>
          <a:p>
            <a:pPr algn="ctr" indent="0" marL="0">
              <a:buNone/>
            </a:pPr>
            <a:r>
              <a:rPr lang="en-US" sz="1100" i="1" dirty="0">
                <a:solidFill>
                  <a:srgbClr val="7C8194"/>
                </a:solidFill>
                <a:latin typeface="Calibri" pitchFamily="34" charset="0"/>
                <a:ea typeface="Calibri" pitchFamily="34" charset="-122"/>
                <a:cs typeface="Calibri" pitchFamily="34" charset="-120"/>
              </a:rPr>
              <a:t>- vs -</a:t>
            </a:r>
            <a:endParaRPr lang="en-US" sz="1100" dirty="0"/>
          </a:p>
        </p:txBody>
      </p:sp>
      <p:sp>
        <p:nvSpPr>
          <p:cNvPr id="17" name="Shape 13"/>
          <p:cNvSpPr/>
          <p:nvPr/>
        </p:nvSpPr>
        <p:spPr>
          <a:xfrm>
            <a:off x="548640" y="3520440"/>
            <a:ext cx="1816547" cy="868680"/>
          </a:xfrm>
          <a:prstGeom prst="roundRect">
            <a:avLst>
              <a:gd name="adj" fmla="val 8421"/>
            </a:avLst>
          </a:prstGeom>
          <a:solidFill>
            <a:srgbClr val="F3F6FC"/>
          </a:solidFill>
          <a:ln w="12700">
            <a:solidFill>
              <a:srgbClr val="1E2761"/>
            </a:solidFill>
            <a:prstDash val="solid"/>
          </a:ln>
        </p:spPr>
      </p:sp>
      <p:sp>
        <p:nvSpPr>
          <p:cNvPr id="18" name="Text 14"/>
          <p:cNvSpPr/>
          <p:nvPr/>
        </p:nvSpPr>
        <p:spPr>
          <a:xfrm>
            <a:off x="621792" y="364845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Texte</a:t>
            </a:r>
            <a:endParaRPr lang="en-US" sz="1050" dirty="0"/>
          </a:p>
        </p:txBody>
      </p:sp>
      <p:sp>
        <p:nvSpPr>
          <p:cNvPr id="19" name="Shape 15"/>
          <p:cNvSpPr/>
          <p:nvPr/>
        </p:nvSpPr>
        <p:spPr>
          <a:xfrm>
            <a:off x="1228314" y="3291840"/>
            <a:ext cx="457200" cy="457200"/>
          </a:xfrm>
          <a:prstGeom prst="ellipse">
            <a:avLst/>
          </a:prstGeom>
          <a:solidFill>
            <a:srgbClr val="1E2761"/>
          </a:solidFill>
          <a:ln w="25400">
            <a:solidFill>
              <a:srgbClr val="FFFFFF"/>
            </a:solidFill>
            <a:prstDash val="solid"/>
          </a:ln>
        </p:spPr>
      </p:sp>
      <p:pic>
        <p:nvPicPr>
          <p:cNvPr id="20" name="Image 2" descr="/home/claude/formation-genai-de/assets/png/icon-file-text-white.png">    </p:cNvPr>
          <p:cNvPicPr>
            <a:picLocks noChangeAspect="1"/>
          </p:cNvPicPr>
          <p:nvPr/>
        </p:nvPicPr>
        <p:blipFill>
          <a:blip r:embed="rId3"/>
          <a:stretch>
            <a:fillRect/>
          </a:stretch>
        </p:blipFill>
        <p:spPr>
          <a:xfrm>
            <a:off x="1328898" y="3392424"/>
            <a:ext cx="256032" cy="256032"/>
          </a:xfrm>
          <a:prstGeom prst="rect">
            <a:avLst/>
          </a:prstGeom>
        </p:spPr>
      </p:pic>
      <p:sp>
        <p:nvSpPr>
          <p:cNvPr id="21" name="Shape 16"/>
          <p:cNvSpPr/>
          <p:nvPr/>
        </p:nvSpPr>
        <p:spPr>
          <a:xfrm>
            <a:off x="2365187" y="3881628"/>
            <a:ext cx="457200" cy="146304"/>
          </a:xfrm>
          <a:prstGeom prst="rightArrow">
            <a:avLst/>
          </a:prstGeom>
          <a:solidFill>
            <a:srgbClr val="F2B134"/>
          </a:solidFill>
          <a:ln/>
        </p:spPr>
      </p:sp>
      <p:sp>
        <p:nvSpPr>
          <p:cNvPr id="22" name="Text 17"/>
          <p:cNvSpPr/>
          <p:nvPr/>
        </p:nvSpPr>
        <p:spPr>
          <a:xfrm>
            <a:off x="2228027" y="4434840"/>
            <a:ext cx="777240" cy="228600"/>
          </a:xfrm>
          <a:prstGeom prst="rect">
            <a:avLst/>
          </a:prstGeom>
          <a:noFill/>
          <a:ln/>
        </p:spPr>
        <p:txBody>
          <a:bodyPr wrap="square" lIns="0" tIns="0" rIns="0" bIns="0" rtlCol="0" anchor="ctr"/>
          <a:lstStyle/>
          <a:p>
            <a:pPr algn="ctr" indent="0" marL="0">
              <a:buNone/>
            </a:pPr>
            <a:r>
              <a:rPr lang="en-US" sz="900" i="1" dirty="0">
                <a:solidFill>
                  <a:srgbClr val="7C8194"/>
                </a:solidFill>
                <a:latin typeface="Calibri" pitchFamily="34" charset="0"/>
                <a:ea typeface="Calibri" pitchFamily="34" charset="-122"/>
                <a:cs typeface="Calibri" pitchFamily="34" charset="-120"/>
              </a:rPr>
              <a:t>tokenisation</a:t>
            </a:r>
            <a:endParaRPr lang="en-US" sz="900" dirty="0"/>
          </a:p>
        </p:txBody>
      </p:sp>
      <p:sp>
        <p:nvSpPr>
          <p:cNvPr id="23" name="Shape 18"/>
          <p:cNvSpPr/>
          <p:nvPr/>
        </p:nvSpPr>
        <p:spPr>
          <a:xfrm>
            <a:off x="2868107" y="3520440"/>
            <a:ext cx="1816547" cy="868680"/>
          </a:xfrm>
          <a:prstGeom prst="roundRect">
            <a:avLst>
              <a:gd name="adj" fmla="val 8421"/>
            </a:avLst>
          </a:prstGeom>
          <a:solidFill>
            <a:srgbClr val="F3F6FC"/>
          </a:solidFill>
          <a:ln w="12700">
            <a:solidFill>
              <a:srgbClr val="1E2761"/>
            </a:solidFill>
            <a:prstDash val="solid"/>
          </a:ln>
        </p:spPr>
      </p:sp>
      <p:sp>
        <p:nvSpPr>
          <p:cNvPr id="24" name="Text 19"/>
          <p:cNvSpPr/>
          <p:nvPr/>
        </p:nvSpPr>
        <p:spPr>
          <a:xfrm>
            <a:off x="2941259" y="364845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Tokens</a:t>
            </a:r>
            <a:endParaRPr lang="en-US" sz="1050" dirty="0"/>
          </a:p>
        </p:txBody>
      </p:sp>
      <p:sp>
        <p:nvSpPr>
          <p:cNvPr id="25" name="Shape 20"/>
          <p:cNvSpPr/>
          <p:nvPr/>
        </p:nvSpPr>
        <p:spPr>
          <a:xfrm>
            <a:off x="3547781" y="3291840"/>
            <a:ext cx="457200" cy="457200"/>
          </a:xfrm>
          <a:prstGeom prst="ellipse">
            <a:avLst/>
          </a:prstGeom>
          <a:solidFill>
            <a:srgbClr val="1E2761"/>
          </a:solidFill>
          <a:ln w="25400">
            <a:solidFill>
              <a:srgbClr val="FFFFFF"/>
            </a:solidFill>
            <a:prstDash val="solid"/>
          </a:ln>
        </p:spPr>
      </p:sp>
      <p:pic>
        <p:nvPicPr>
          <p:cNvPr id="26" name="Image 3" descr="/home/claude/formation-genai-de/assets/png/icon-hash-white.png">    </p:cNvPr>
          <p:cNvPicPr>
            <a:picLocks noChangeAspect="1"/>
          </p:cNvPicPr>
          <p:nvPr/>
        </p:nvPicPr>
        <p:blipFill>
          <a:blip r:embed="rId4"/>
          <a:stretch>
            <a:fillRect/>
          </a:stretch>
        </p:blipFill>
        <p:spPr>
          <a:xfrm>
            <a:off x="3648365" y="3392424"/>
            <a:ext cx="256032" cy="256032"/>
          </a:xfrm>
          <a:prstGeom prst="rect">
            <a:avLst/>
          </a:prstGeom>
        </p:spPr>
      </p:pic>
      <p:sp>
        <p:nvSpPr>
          <p:cNvPr id="27" name="Shape 21"/>
          <p:cNvSpPr/>
          <p:nvPr/>
        </p:nvSpPr>
        <p:spPr>
          <a:xfrm>
            <a:off x="4684654" y="3881628"/>
            <a:ext cx="457200" cy="146304"/>
          </a:xfrm>
          <a:prstGeom prst="rightArrow">
            <a:avLst/>
          </a:prstGeom>
          <a:solidFill>
            <a:srgbClr val="F2B134"/>
          </a:solidFill>
          <a:ln/>
        </p:spPr>
      </p:sp>
      <p:sp>
        <p:nvSpPr>
          <p:cNvPr id="28" name="Text 22"/>
          <p:cNvSpPr/>
          <p:nvPr/>
        </p:nvSpPr>
        <p:spPr>
          <a:xfrm>
            <a:off x="4547494" y="4434840"/>
            <a:ext cx="777240" cy="228600"/>
          </a:xfrm>
          <a:prstGeom prst="rect">
            <a:avLst/>
          </a:prstGeom>
          <a:noFill/>
          <a:ln/>
        </p:spPr>
        <p:txBody>
          <a:bodyPr wrap="square" lIns="0" tIns="0" rIns="0" bIns="0" rtlCol="0" anchor="ctr"/>
          <a:lstStyle/>
          <a:p>
            <a:pPr algn="ctr" indent="0" marL="0">
              <a:buNone/>
            </a:pPr>
            <a:r>
              <a:rPr lang="en-US" sz="900" i="1" dirty="0">
                <a:solidFill>
                  <a:srgbClr val="7C8194"/>
                </a:solidFill>
                <a:latin typeface="Calibri" pitchFamily="34" charset="0"/>
                <a:ea typeface="Calibri" pitchFamily="34" charset="-122"/>
                <a:cs typeface="Calibri" pitchFamily="34" charset="-120"/>
              </a:rPr>
              <a:t>vectorisation</a:t>
            </a:r>
            <a:endParaRPr lang="en-US" sz="900" dirty="0"/>
          </a:p>
        </p:txBody>
      </p:sp>
      <p:sp>
        <p:nvSpPr>
          <p:cNvPr id="29" name="Shape 23"/>
          <p:cNvSpPr/>
          <p:nvPr/>
        </p:nvSpPr>
        <p:spPr>
          <a:xfrm>
            <a:off x="5187574" y="3520440"/>
            <a:ext cx="1816547" cy="868680"/>
          </a:xfrm>
          <a:prstGeom prst="roundRect">
            <a:avLst>
              <a:gd name="adj" fmla="val 8421"/>
            </a:avLst>
          </a:prstGeom>
          <a:solidFill>
            <a:srgbClr val="F3F6FC"/>
          </a:solidFill>
          <a:ln w="12700">
            <a:solidFill>
              <a:srgbClr val="1E2761"/>
            </a:solidFill>
            <a:prstDash val="solid"/>
          </a:ln>
        </p:spPr>
      </p:sp>
      <p:sp>
        <p:nvSpPr>
          <p:cNvPr id="30" name="Text 24"/>
          <p:cNvSpPr/>
          <p:nvPr/>
        </p:nvSpPr>
        <p:spPr>
          <a:xfrm>
            <a:off x="5260726" y="364845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Embeddings</a:t>
            </a:r>
            <a:endParaRPr lang="en-US" sz="1050" dirty="0"/>
          </a:p>
        </p:txBody>
      </p:sp>
      <p:sp>
        <p:nvSpPr>
          <p:cNvPr id="31" name="Shape 25"/>
          <p:cNvSpPr/>
          <p:nvPr/>
        </p:nvSpPr>
        <p:spPr>
          <a:xfrm>
            <a:off x="5867248" y="3291840"/>
            <a:ext cx="457200" cy="457200"/>
          </a:xfrm>
          <a:prstGeom prst="ellipse">
            <a:avLst/>
          </a:prstGeom>
          <a:solidFill>
            <a:srgbClr val="1E2761"/>
          </a:solidFill>
          <a:ln w="25400">
            <a:solidFill>
              <a:srgbClr val="FFFFFF"/>
            </a:solidFill>
            <a:prstDash val="solid"/>
          </a:ln>
        </p:spPr>
      </p:sp>
      <p:pic>
        <p:nvPicPr>
          <p:cNvPr id="32" name="Image 4" descr="/home/claude/formation-genai-de/assets/png/icon-atom-white.png">    </p:cNvPr>
          <p:cNvPicPr>
            <a:picLocks noChangeAspect="1"/>
          </p:cNvPicPr>
          <p:nvPr/>
        </p:nvPicPr>
        <p:blipFill>
          <a:blip r:embed="rId5"/>
          <a:stretch>
            <a:fillRect/>
          </a:stretch>
        </p:blipFill>
        <p:spPr>
          <a:xfrm>
            <a:off x="5967832" y="3392424"/>
            <a:ext cx="256032" cy="256032"/>
          </a:xfrm>
          <a:prstGeom prst="rect">
            <a:avLst/>
          </a:prstGeom>
        </p:spPr>
      </p:pic>
      <p:sp>
        <p:nvSpPr>
          <p:cNvPr id="33" name="Shape 26"/>
          <p:cNvSpPr/>
          <p:nvPr/>
        </p:nvSpPr>
        <p:spPr>
          <a:xfrm>
            <a:off x="7004121" y="3881628"/>
            <a:ext cx="457200" cy="146304"/>
          </a:xfrm>
          <a:prstGeom prst="rightArrow">
            <a:avLst/>
          </a:prstGeom>
          <a:solidFill>
            <a:srgbClr val="F2B134"/>
          </a:solidFill>
          <a:ln/>
        </p:spPr>
      </p:sp>
      <p:sp>
        <p:nvSpPr>
          <p:cNvPr id="34" name="Text 27"/>
          <p:cNvSpPr/>
          <p:nvPr/>
        </p:nvSpPr>
        <p:spPr>
          <a:xfrm>
            <a:off x="6866961" y="4434840"/>
            <a:ext cx="777240" cy="228600"/>
          </a:xfrm>
          <a:prstGeom prst="rect">
            <a:avLst/>
          </a:prstGeom>
          <a:noFill/>
          <a:ln/>
        </p:spPr>
        <p:txBody>
          <a:bodyPr wrap="square" lIns="0" tIns="0" rIns="0" bIns="0" rtlCol="0" anchor="ctr"/>
          <a:lstStyle/>
          <a:p>
            <a:pPr algn="ctr" indent="0" marL="0">
              <a:buNone/>
            </a:pPr>
            <a:r>
              <a:rPr lang="en-US" sz="900" i="1" dirty="0">
                <a:solidFill>
                  <a:srgbClr val="7C8194"/>
                </a:solidFill>
                <a:latin typeface="Calibri" pitchFamily="34" charset="0"/>
                <a:ea typeface="Calibri" pitchFamily="34" charset="-122"/>
                <a:cs typeface="Calibri" pitchFamily="34" charset="-120"/>
              </a:rPr>
              <a:t>attention</a:t>
            </a:r>
            <a:endParaRPr lang="en-US" sz="900" dirty="0"/>
          </a:p>
        </p:txBody>
      </p:sp>
      <p:sp>
        <p:nvSpPr>
          <p:cNvPr id="35" name="Shape 28"/>
          <p:cNvSpPr/>
          <p:nvPr/>
        </p:nvSpPr>
        <p:spPr>
          <a:xfrm>
            <a:off x="7507041" y="3520440"/>
            <a:ext cx="1816547" cy="868680"/>
          </a:xfrm>
          <a:prstGeom prst="roundRect">
            <a:avLst>
              <a:gd name="adj" fmla="val 8421"/>
            </a:avLst>
          </a:prstGeom>
          <a:solidFill>
            <a:srgbClr val="F3F6FC"/>
          </a:solidFill>
          <a:ln w="12700">
            <a:solidFill>
              <a:srgbClr val="1E2761"/>
            </a:solidFill>
            <a:prstDash val="solid"/>
          </a:ln>
        </p:spPr>
      </p:sp>
      <p:sp>
        <p:nvSpPr>
          <p:cNvPr id="36" name="Text 29"/>
          <p:cNvSpPr/>
          <p:nvPr/>
        </p:nvSpPr>
        <p:spPr>
          <a:xfrm>
            <a:off x="7580193" y="364845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Transformer / LLM</a:t>
            </a:r>
            <a:endParaRPr lang="en-US" sz="1050" dirty="0"/>
          </a:p>
        </p:txBody>
      </p:sp>
      <p:sp>
        <p:nvSpPr>
          <p:cNvPr id="37" name="Shape 30"/>
          <p:cNvSpPr/>
          <p:nvPr/>
        </p:nvSpPr>
        <p:spPr>
          <a:xfrm>
            <a:off x="8186715" y="3291840"/>
            <a:ext cx="457200" cy="457200"/>
          </a:xfrm>
          <a:prstGeom prst="ellipse">
            <a:avLst/>
          </a:prstGeom>
          <a:solidFill>
            <a:srgbClr val="1E2761"/>
          </a:solidFill>
          <a:ln w="25400">
            <a:solidFill>
              <a:srgbClr val="FFFFFF"/>
            </a:solidFill>
            <a:prstDash val="solid"/>
          </a:ln>
        </p:spPr>
      </p:sp>
      <p:pic>
        <p:nvPicPr>
          <p:cNvPr id="38" name="Image 5" descr="/home/claude/formation-genai-de/assets/png/icon-cpu-white.png">    </p:cNvPr>
          <p:cNvPicPr>
            <a:picLocks noChangeAspect="1"/>
          </p:cNvPicPr>
          <p:nvPr/>
        </p:nvPicPr>
        <p:blipFill>
          <a:blip r:embed="rId6"/>
          <a:stretch>
            <a:fillRect/>
          </a:stretch>
        </p:blipFill>
        <p:spPr>
          <a:xfrm>
            <a:off x="8287299" y="3392424"/>
            <a:ext cx="256032" cy="256032"/>
          </a:xfrm>
          <a:prstGeom prst="rect">
            <a:avLst/>
          </a:prstGeom>
        </p:spPr>
      </p:pic>
      <p:sp>
        <p:nvSpPr>
          <p:cNvPr id="39" name="Shape 31"/>
          <p:cNvSpPr/>
          <p:nvPr/>
        </p:nvSpPr>
        <p:spPr>
          <a:xfrm>
            <a:off x="9323588" y="3881628"/>
            <a:ext cx="457200" cy="146304"/>
          </a:xfrm>
          <a:prstGeom prst="rightArrow">
            <a:avLst/>
          </a:prstGeom>
          <a:solidFill>
            <a:srgbClr val="F2B134"/>
          </a:solidFill>
          <a:ln/>
        </p:spPr>
      </p:sp>
      <p:sp>
        <p:nvSpPr>
          <p:cNvPr id="40" name="Shape 32"/>
          <p:cNvSpPr/>
          <p:nvPr/>
        </p:nvSpPr>
        <p:spPr>
          <a:xfrm>
            <a:off x="9826508" y="3520440"/>
            <a:ext cx="1816547" cy="868680"/>
          </a:xfrm>
          <a:prstGeom prst="roundRect">
            <a:avLst>
              <a:gd name="adj" fmla="val 8421"/>
            </a:avLst>
          </a:prstGeom>
          <a:solidFill>
            <a:srgbClr val="1E2761"/>
          </a:solidFill>
          <a:ln w="12700">
            <a:solidFill>
              <a:srgbClr val="1E2761"/>
            </a:solidFill>
            <a:prstDash val="solid"/>
          </a:ln>
        </p:spPr>
      </p:sp>
      <p:sp>
        <p:nvSpPr>
          <p:cNvPr id="41" name="Text 33"/>
          <p:cNvSpPr/>
          <p:nvPr/>
        </p:nvSpPr>
        <p:spPr>
          <a:xfrm>
            <a:off x="9899660" y="364845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Generation</a:t>
            </a:r>
            <a:endParaRPr lang="en-US" sz="1050" dirty="0"/>
          </a:p>
        </p:txBody>
      </p:sp>
      <p:sp>
        <p:nvSpPr>
          <p:cNvPr id="42" name="Shape 34"/>
          <p:cNvSpPr/>
          <p:nvPr/>
        </p:nvSpPr>
        <p:spPr>
          <a:xfrm>
            <a:off x="10506182" y="3291840"/>
            <a:ext cx="457200" cy="457200"/>
          </a:xfrm>
          <a:prstGeom prst="ellipse">
            <a:avLst/>
          </a:prstGeom>
          <a:solidFill>
            <a:srgbClr val="F2B134"/>
          </a:solidFill>
          <a:ln w="25400">
            <a:solidFill>
              <a:srgbClr val="FFFFFF"/>
            </a:solidFill>
            <a:prstDash val="solid"/>
          </a:ln>
        </p:spPr>
      </p:sp>
      <p:pic>
        <p:nvPicPr>
          <p:cNvPr id="43" name="Image 6" descr="/home/claude/formation-genai-de/assets/png/icon-sparkles-navy.png">    </p:cNvPr>
          <p:cNvPicPr>
            <a:picLocks noChangeAspect="1"/>
          </p:cNvPicPr>
          <p:nvPr/>
        </p:nvPicPr>
        <p:blipFill>
          <a:blip r:embed="rId7"/>
          <a:stretch>
            <a:fillRect/>
          </a:stretch>
        </p:blipFill>
        <p:spPr>
          <a:xfrm>
            <a:off x="10606766" y="3392424"/>
            <a:ext cx="256032" cy="256032"/>
          </a:xfrm>
          <a:prstGeom prst="rect">
            <a:avLst/>
          </a:prstGeom>
        </p:spPr>
      </p:pic>
      <p:sp>
        <p:nvSpPr>
          <p:cNvPr id="45" name="Text 3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46" name="Text 3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094415" cy="1051560"/>
          </a:xfrm>
          <a:prstGeom prst="roundRect">
            <a:avLst>
              <a:gd name="adj" fmla="val 5217"/>
            </a:avLst>
          </a:prstGeom>
          <a:solidFill>
            <a:srgbClr val="1E2761"/>
          </a:solidFill>
          <a:ln/>
        </p:spPr>
      </p:sp>
      <p:sp>
        <p:nvSpPr>
          <p:cNvPr id="3" name="Text 1"/>
          <p:cNvSpPr/>
          <p:nvPr/>
        </p:nvSpPr>
        <p:spPr>
          <a:xfrm>
            <a:off x="822960" y="548640"/>
            <a:ext cx="7315200" cy="274320"/>
          </a:xfrm>
          <a:prstGeom prst="rect">
            <a:avLst/>
          </a:prstGeom>
          <a:noFill/>
          <a:ln/>
        </p:spPr>
        <p:txBody>
          <a:bodyPr wrap="square" lIns="0" tIns="0" rIns="0" bIns="0" rtlCol="0" anchor="ctr"/>
          <a:lstStyle/>
          <a:p>
            <a:pPr indent="0" marL="0">
              <a:buNone/>
            </a:pPr>
            <a:r>
              <a:rPr lang="en-US" sz="1200" b="1" spc="150" kern="0" dirty="0">
                <a:solidFill>
                  <a:srgbClr val="F2B134"/>
                </a:solidFill>
                <a:latin typeface="Calibri" pitchFamily="34" charset="0"/>
                <a:ea typeface="Calibri" pitchFamily="34" charset="-122"/>
                <a:cs typeface="Calibri" pitchFamily="34" charset="-120"/>
              </a:rPr>
              <a:t>TRAVAUX PRATIQUES  N°1</a:t>
            </a:r>
            <a:endParaRPr lang="en-US" sz="1200" dirty="0"/>
          </a:p>
        </p:txBody>
      </p:sp>
      <p:sp>
        <p:nvSpPr>
          <p:cNvPr id="4" name="Text 2"/>
          <p:cNvSpPr/>
          <p:nvPr/>
        </p:nvSpPr>
        <p:spPr>
          <a:xfrm>
            <a:off x="822960" y="804672"/>
            <a:ext cx="777240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Exploration interactive de modeles sur Hugging Face</a:t>
            </a:r>
            <a:endParaRPr lang="en-US" sz="1800" dirty="0"/>
          </a:p>
        </p:txBody>
      </p:sp>
      <p:sp>
        <p:nvSpPr>
          <p:cNvPr id="5" name="Text 3"/>
          <p:cNvSpPr/>
          <p:nvPr/>
        </p:nvSpPr>
        <p:spPr>
          <a:xfrm>
            <a:off x="9265615" y="548640"/>
            <a:ext cx="2103120" cy="274320"/>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Duree : 55 min</a:t>
            </a:r>
            <a:endParaRPr lang="en-US" sz="1150" dirty="0"/>
          </a:p>
        </p:txBody>
      </p:sp>
      <p:sp>
        <p:nvSpPr>
          <p:cNvPr id="6" name="Text 4"/>
          <p:cNvSpPr/>
          <p:nvPr/>
        </p:nvSpPr>
        <p:spPr>
          <a:xfrm>
            <a:off x="548640" y="1783080"/>
            <a:ext cx="54864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Consignes</a:t>
            </a:r>
            <a:endParaRPr lang="en-US" sz="1400" dirty="0"/>
          </a:p>
        </p:txBody>
      </p:sp>
      <p:sp>
        <p:nvSpPr>
          <p:cNvPr id="7" name="Text 5"/>
          <p:cNvSpPr/>
          <p:nvPr/>
        </p:nvSpPr>
        <p:spPr>
          <a:xfrm>
            <a:off x="548640" y="2194560"/>
            <a:ext cx="11094415" cy="384048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Se rendre sur huggingface.co et explorer le Hub de modeles en filtrant par tache (text-generation, text-classification)</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Comparer un modele de classification (ex. BERT fine-tune pour l'analyse de sentiment) et un LLM generatif (ex. Mistral-7B-Instruct, GPT-2) : nombre de parametres, carte modele (model card), tache visee</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Tester le widget d'inference en ligne sur 2 a 3 modeles et noter les differences de sortie obtenues</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Lister 3 criteres permettant de distinguer un LLM d'un modele classique de machine learning</a:t>
            </a:r>
            <a:endParaRPr lang="en-US" sz="1400" dirty="0"/>
          </a:p>
        </p:txBody>
      </p:sp>
      <p:sp>
        <p:nvSpPr>
          <p:cNvPr id="9" name="Text 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0" name="Text 7"/>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TP1 · Module 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48640" cy="548640"/>
          </a:xfrm>
          <a:prstGeom prst="ellipse">
            <a:avLst/>
          </a:prstGeom>
          <a:solidFill>
            <a:srgbClr val="2E7D32"/>
          </a:solidFill>
          <a:ln/>
        </p:spPr>
      </p:sp>
      <p:sp>
        <p:nvSpPr>
          <p:cNvPr id="3" name="Text 1"/>
          <p:cNvSpPr/>
          <p:nvPr/>
        </p:nvSpPr>
        <p:spPr>
          <a:xfrm>
            <a:off x="548640" y="411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4" name="Text 2"/>
          <p:cNvSpPr/>
          <p:nvPr/>
        </p:nvSpPr>
        <p:spPr>
          <a:xfrm>
            <a:off x="1325880" y="411480"/>
            <a:ext cx="8229600" cy="54864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Elements de reponse - TP n°1</a:t>
            </a:r>
            <a:endParaRPr lang="en-US" sz="2000" dirty="0"/>
          </a:p>
        </p:txBody>
      </p:sp>
      <p:sp>
        <p:nvSpPr>
          <p:cNvPr id="5" name="Shape 3"/>
          <p:cNvSpPr/>
          <p:nvPr/>
        </p:nvSpPr>
        <p:spPr>
          <a:xfrm>
            <a:off x="548640" y="2257787"/>
            <a:ext cx="11094415" cy="2433866"/>
          </a:xfrm>
          <a:prstGeom prst="roundRect">
            <a:avLst>
              <a:gd name="adj" fmla="val 3006"/>
            </a:avLst>
          </a:prstGeom>
          <a:solidFill>
            <a:srgbClr val="F3F6FC"/>
          </a:solidFill>
          <a:ln/>
        </p:spPr>
      </p:sp>
      <p:sp>
        <p:nvSpPr>
          <p:cNvPr id="6" name="Text 4"/>
          <p:cNvSpPr/>
          <p:nvPr/>
        </p:nvSpPr>
        <p:spPr>
          <a:xfrm>
            <a:off x="868680" y="2486387"/>
            <a:ext cx="10454335" cy="1976666"/>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Un modele classique produit une sortie bornee (une classe, un score) pour une tache unique pour laquelle il a ete entraine ou fine-tune</a:t>
            </a:r>
            <a:endParaRPr lang="en-US" sz="1350" dirty="0"/>
          </a:p>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Un LLM genere du texte libre, non borne, et peut etre reutilise pour de nombreuses taches via le prompt (few-shot, zero-shot) sans reentrainement</a:t>
            </a:r>
            <a:endParaRPr lang="en-US" sz="1350" dirty="0"/>
          </a:p>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Criteres de distinction attendus : taille du modele (nombre de parametres), nature de la sortie (classe vs texte libre), generalite (tache unique vs multi-taches par prompt), methode d'adaptation (fine-tuning vs prompting)</a:t>
            </a:r>
            <a:endParaRPr lang="en-US" sz="135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Corrige TP1 · Module 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234440" y="457200"/>
            <a:ext cx="941832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Usages et enjeux pour les Data Engineers</a:t>
            </a:r>
            <a:endParaRPr lang="en-US" sz="2100" dirty="0"/>
          </a:p>
        </p:txBody>
      </p:sp>
      <p:sp>
        <p:nvSpPr>
          <p:cNvPr id="5" name="Text 3"/>
          <p:cNvSpPr/>
          <p:nvPr/>
        </p:nvSpPr>
        <p:spPr>
          <a:xfrm>
            <a:off x="548640" y="1143000"/>
            <a:ext cx="11094415" cy="457200"/>
          </a:xfrm>
          <a:prstGeom prst="rect">
            <a:avLst/>
          </a:prstGeom>
          <a:noFill/>
          <a:ln/>
        </p:spPr>
        <p:txBody>
          <a:bodyPr wrap="square" lIns="0" tIns="0" rIns="0" bIns="0" rtlCol="0" anchor="ctr"/>
          <a:lstStyle/>
          <a:p>
            <a:pPr indent="0" marL="0">
              <a:buNone/>
            </a:pPr>
            <a:r>
              <a:rPr lang="en-US" sz="1250" i="1" dirty="0">
                <a:solidFill>
                  <a:srgbClr val="7C8194"/>
                </a:solidFill>
                <a:latin typeface="Calibri" pitchFamily="34" charset="0"/>
                <a:ea typeface="Calibri" pitchFamily="34" charset="-122"/>
                <a:cs typeface="Calibri" pitchFamily="34" charset="-120"/>
              </a:rPr>
              <a:t>Objectif : Identifier les cas d'usage de l'IA generative pertinents pour un Data Engineer et les risques associes.</a:t>
            </a:r>
            <a:endParaRPr lang="en-US" sz="1250" dirty="0"/>
          </a:p>
        </p:txBody>
      </p:sp>
      <p:sp>
        <p:nvSpPr>
          <p:cNvPr id="6" name="Text 4"/>
          <p:cNvSpPr/>
          <p:nvPr/>
        </p:nvSpPr>
        <p:spPr>
          <a:xfrm>
            <a:off x="548640" y="1737360"/>
            <a:ext cx="11094415" cy="438912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Generation de donnees synthetiques : pourquoi (jeux de test, environnements de recette, equilibrage de classes rares) et comment (prompt structure, bibliotheques dediees)</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Anonymisation de donnees via IA : pseudonymisation assistee, generation de substituts realistes preservant la structure statistique des donnees d'origine</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Assistants intelligents pour les pipelines de donnees : generation de requetes SQL, documentation automatique de schemas, aide au debug de jobs ETL/ELT</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Risques : hallucinations (invention de faits ou de valeurs), biais herites des donnees d'entrainement, non-conformite RGPD (donnees personnelles dans les prompts, transfert hors UE)</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Panorama des cas d'usage prioritaires pour un Data Engineer : qualite de donnees, documentation, generation de tests, acceleration du developpement de pipelines</a:t>
            </a:r>
            <a:endParaRPr lang="en-US" sz="150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234440" y="457200"/>
            <a:ext cx="822960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Usages et enjeux pour les Data Engineers · Schema</a:t>
            </a:r>
            <a:endParaRPr lang="en-US" sz="2100" dirty="0"/>
          </a:p>
        </p:txBody>
      </p:sp>
      <p:sp>
        <p:nvSpPr>
          <p:cNvPr id="5" name="Text 3"/>
          <p:cNvSpPr/>
          <p:nvPr/>
        </p:nvSpPr>
        <p:spPr>
          <a:xfrm>
            <a:off x="9357055" y="502920"/>
            <a:ext cx="2286000" cy="274320"/>
          </a:xfrm>
          <a:prstGeom prst="rect">
            <a:avLst/>
          </a:prstGeom>
          <a:noFill/>
          <a:ln/>
        </p:spPr>
        <p:txBody>
          <a:bodyPr wrap="square" lIns="0" tIns="0" rIns="0" bIns="0" rtlCol="0" anchor="ctr"/>
          <a:lstStyle/>
          <a:p>
            <a:pPr algn="r" indent="0" marL="0">
              <a:buNone/>
            </a:pPr>
            <a:r>
              <a:rPr lang="en-US" sz="1000" b="1" spc="200" kern="0" dirty="0">
                <a:solidFill>
                  <a:srgbClr val="1E2761"/>
                </a:solidFill>
                <a:latin typeface="Calibri" pitchFamily="34" charset="0"/>
                <a:ea typeface="Calibri" pitchFamily="34" charset="-122"/>
                <a:cs typeface="Calibri" pitchFamily="34" charset="-120"/>
              </a:rPr>
              <a:t>SCHEMA</a:t>
            </a:r>
            <a:endParaRPr lang="en-US" sz="1000" dirty="0"/>
          </a:p>
        </p:txBody>
      </p:sp>
      <p:sp>
        <p:nvSpPr>
          <p:cNvPr id="6" name="Shape 4"/>
          <p:cNvSpPr/>
          <p:nvPr/>
        </p:nvSpPr>
        <p:spPr>
          <a:xfrm>
            <a:off x="1005840" y="1417320"/>
            <a:ext cx="5245456" cy="2007108"/>
          </a:xfrm>
          <a:prstGeom prst="roundRect">
            <a:avLst>
              <a:gd name="adj" fmla="val 2733"/>
            </a:avLst>
          </a:prstGeom>
          <a:solidFill>
            <a:srgbClr val="F3F6FC"/>
          </a:solidFill>
          <a:ln w="12700">
            <a:solidFill>
              <a:srgbClr val="1E2761"/>
            </a:solidFill>
            <a:prstDash val="solid"/>
          </a:ln>
        </p:spPr>
      </p:sp>
      <p:sp>
        <p:nvSpPr>
          <p:cNvPr id="7" name="Shape 5"/>
          <p:cNvSpPr/>
          <p:nvPr/>
        </p:nvSpPr>
        <p:spPr>
          <a:xfrm>
            <a:off x="1152144" y="1545336"/>
            <a:ext cx="384048" cy="384048"/>
          </a:xfrm>
          <a:prstGeom prst="ellipse">
            <a:avLst/>
          </a:prstGeom>
          <a:solidFill>
            <a:srgbClr val="1E2761"/>
          </a:solidFill>
          <a:ln/>
        </p:spPr>
      </p:sp>
      <p:pic>
        <p:nvPicPr>
          <p:cNvPr id="8" name="Image 0" descr="/home/claude/formation-genai-de/assets/png/icon-thumb-up-white.png">    </p:cNvPr>
          <p:cNvPicPr>
            <a:picLocks noChangeAspect="1"/>
          </p:cNvPicPr>
          <p:nvPr/>
        </p:nvPicPr>
        <p:blipFill>
          <a:blip r:embed="rId1"/>
          <a:stretch>
            <a:fillRect/>
          </a:stretch>
        </p:blipFill>
        <p:spPr>
          <a:xfrm>
            <a:off x="1225296" y="1618488"/>
            <a:ext cx="237744" cy="237744"/>
          </a:xfrm>
          <a:prstGeom prst="rect">
            <a:avLst/>
          </a:prstGeom>
        </p:spPr>
      </p:pic>
      <p:sp>
        <p:nvSpPr>
          <p:cNvPr id="9" name="Text 6"/>
          <p:cNvSpPr/>
          <p:nvPr/>
        </p:nvSpPr>
        <p:spPr>
          <a:xfrm>
            <a:off x="1664208" y="1508760"/>
            <a:ext cx="4422496"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 prioriser</a:t>
            </a:r>
            <a:endParaRPr lang="en-US" sz="1200" dirty="0"/>
          </a:p>
        </p:txBody>
      </p:sp>
      <p:sp>
        <p:nvSpPr>
          <p:cNvPr id="10" name="Text 7"/>
          <p:cNvSpPr/>
          <p:nvPr/>
        </p:nvSpPr>
        <p:spPr>
          <a:xfrm>
            <a:off x="1170432" y="2057400"/>
            <a:ext cx="4916272" cy="1257300"/>
          </a:xfrm>
          <a:prstGeom prst="rect">
            <a:avLst/>
          </a:prstGeom>
          <a:noFill/>
          <a:ln/>
        </p:spPr>
        <p:txBody>
          <a:bodyPr wrap="square" lIns="0" tIns="0" rIns="0" bIns="0" rtlCol="0" anchor="t"/>
          <a:lstStyle/>
          <a:p>
            <a:pPr indent="0" marL="0">
              <a:lnSpc>
                <a:spcPct val="120000"/>
              </a:lnSpc>
              <a:buNone/>
            </a:pPr>
            <a:r>
              <a:rPr lang="en-US" sz="1050" dirty="0">
                <a:solidFill>
                  <a:srgbClr val="26293A"/>
                </a:solidFill>
                <a:latin typeface="Calibri" pitchFamily="34" charset="0"/>
                <a:ea typeface="Calibri" pitchFamily="34" charset="-122"/>
                <a:cs typeface="Calibri" pitchFamily="34" charset="-120"/>
              </a:rPr>
              <a:t>Generation de donnees de test</a:t>
            </a:r>
            <a:endParaRPr lang="en-US" sz="1050" dirty="0"/>
          </a:p>
          <a:p>
            <a:pPr indent="0" marL="0">
              <a:lnSpc>
                <a:spcPct val="120000"/>
              </a:lnSpc>
              <a:buNone/>
            </a:pPr>
            <a:r>
              <a:rPr lang="en-US" sz="1050" dirty="0">
                <a:solidFill>
                  <a:srgbClr val="26293A"/>
                </a:solidFill>
                <a:latin typeface="Calibri" pitchFamily="34" charset="0"/>
                <a:ea typeface="Calibri" pitchFamily="34" charset="-122"/>
                <a:cs typeface="Calibri" pitchFamily="34" charset="-120"/>
              </a:rPr>
              <a:t>Documentation automatique</a:t>
            </a:r>
            <a:endParaRPr lang="en-US" sz="1050" dirty="0"/>
          </a:p>
        </p:txBody>
      </p:sp>
      <p:sp>
        <p:nvSpPr>
          <p:cNvPr id="11" name="Shape 8"/>
          <p:cNvSpPr/>
          <p:nvPr/>
        </p:nvSpPr>
        <p:spPr>
          <a:xfrm>
            <a:off x="6397600" y="1417320"/>
            <a:ext cx="5245456" cy="2007108"/>
          </a:xfrm>
          <a:prstGeom prst="roundRect">
            <a:avLst>
              <a:gd name="adj" fmla="val 2733"/>
            </a:avLst>
          </a:prstGeom>
          <a:solidFill>
            <a:srgbClr val="F3F6FC"/>
          </a:solidFill>
          <a:ln w="12700">
            <a:solidFill>
              <a:srgbClr val="1E2761"/>
            </a:solidFill>
            <a:prstDash val="solid"/>
          </a:ln>
        </p:spPr>
      </p:sp>
      <p:sp>
        <p:nvSpPr>
          <p:cNvPr id="12" name="Shape 9"/>
          <p:cNvSpPr/>
          <p:nvPr/>
        </p:nvSpPr>
        <p:spPr>
          <a:xfrm>
            <a:off x="6543904" y="1545336"/>
            <a:ext cx="384048" cy="384048"/>
          </a:xfrm>
          <a:prstGeom prst="ellipse">
            <a:avLst/>
          </a:prstGeom>
          <a:solidFill>
            <a:srgbClr val="1E2761"/>
          </a:solidFill>
          <a:ln/>
        </p:spPr>
      </p:sp>
      <p:pic>
        <p:nvPicPr>
          <p:cNvPr id="13" name="Image 1" descr="/home/claude/formation-genai-de/assets/png/icon-alert-triangle-white.png">    </p:cNvPr>
          <p:cNvPicPr>
            <a:picLocks noChangeAspect="1"/>
          </p:cNvPicPr>
          <p:nvPr/>
        </p:nvPicPr>
        <p:blipFill>
          <a:blip r:embed="rId2"/>
          <a:stretch>
            <a:fillRect/>
          </a:stretch>
        </p:blipFill>
        <p:spPr>
          <a:xfrm>
            <a:off x="6617056" y="1618488"/>
            <a:ext cx="237744" cy="237744"/>
          </a:xfrm>
          <a:prstGeom prst="rect">
            <a:avLst/>
          </a:prstGeom>
        </p:spPr>
      </p:pic>
      <p:sp>
        <p:nvSpPr>
          <p:cNvPr id="14" name="Text 10"/>
          <p:cNvSpPr/>
          <p:nvPr/>
        </p:nvSpPr>
        <p:spPr>
          <a:xfrm>
            <a:off x="7055968" y="1508760"/>
            <a:ext cx="4422496"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 cadrer avant de lancer</a:t>
            </a:r>
            <a:endParaRPr lang="en-US" sz="1200" dirty="0"/>
          </a:p>
        </p:txBody>
      </p:sp>
      <p:sp>
        <p:nvSpPr>
          <p:cNvPr id="15" name="Text 11"/>
          <p:cNvSpPr/>
          <p:nvPr/>
        </p:nvSpPr>
        <p:spPr>
          <a:xfrm>
            <a:off x="6562192" y="2057400"/>
            <a:ext cx="4916272" cy="1257300"/>
          </a:xfrm>
          <a:prstGeom prst="rect">
            <a:avLst/>
          </a:prstGeom>
          <a:noFill/>
          <a:ln/>
        </p:spPr>
        <p:txBody>
          <a:bodyPr wrap="square" lIns="0" tIns="0" rIns="0" bIns="0" rtlCol="0" anchor="t"/>
          <a:lstStyle/>
          <a:p>
            <a:pPr indent="0" marL="0">
              <a:lnSpc>
                <a:spcPct val="120000"/>
              </a:lnSpc>
              <a:buNone/>
            </a:pPr>
            <a:r>
              <a:rPr lang="en-US" sz="1050" dirty="0">
                <a:solidFill>
                  <a:srgbClr val="26293A"/>
                </a:solidFill>
                <a:latin typeface="Calibri" pitchFamily="34" charset="0"/>
                <a:ea typeface="Calibri" pitchFamily="34" charset="-122"/>
                <a:cs typeface="Calibri" pitchFamily="34" charset="-120"/>
              </a:rPr>
              <a:t>Assistant SQL en production</a:t>
            </a:r>
            <a:endParaRPr lang="en-US" sz="1050" dirty="0"/>
          </a:p>
          <a:p>
            <a:pPr indent="0" marL="0">
              <a:lnSpc>
                <a:spcPct val="120000"/>
              </a:lnSpc>
              <a:buNone/>
            </a:pPr>
            <a:r>
              <a:rPr lang="en-US" sz="1050" dirty="0">
                <a:solidFill>
                  <a:srgbClr val="26293A"/>
                </a:solidFill>
                <a:latin typeface="Calibri" pitchFamily="34" charset="0"/>
                <a:ea typeface="Calibri" pitchFamily="34" charset="-122"/>
                <a:cs typeface="Calibri" pitchFamily="34" charset="-120"/>
              </a:rPr>
              <a:t>Anonymisation avant recette</a:t>
            </a:r>
            <a:endParaRPr lang="en-US" sz="1050" dirty="0"/>
          </a:p>
        </p:txBody>
      </p:sp>
      <p:sp>
        <p:nvSpPr>
          <p:cNvPr id="16" name="Shape 12"/>
          <p:cNvSpPr/>
          <p:nvPr/>
        </p:nvSpPr>
        <p:spPr>
          <a:xfrm>
            <a:off x="1005840" y="3570732"/>
            <a:ext cx="5245456" cy="2007108"/>
          </a:xfrm>
          <a:prstGeom prst="roundRect">
            <a:avLst>
              <a:gd name="adj" fmla="val 2733"/>
            </a:avLst>
          </a:prstGeom>
          <a:solidFill>
            <a:srgbClr val="F3F6FC"/>
          </a:solidFill>
          <a:ln w="12700">
            <a:solidFill>
              <a:srgbClr val="1E2761"/>
            </a:solidFill>
            <a:prstDash val="solid"/>
          </a:ln>
        </p:spPr>
      </p:sp>
      <p:sp>
        <p:nvSpPr>
          <p:cNvPr id="17" name="Shape 13"/>
          <p:cNvSpPr/>
          <p:nvPr/>
        </p:nvSpPr>
        <p:spPr>
          <a:xfrm>
            <a:off x="1152144" y="3698748"/>
            <a:ext cx="384048" cy="384048"/>
          </a:xfrm>
          <a:prstGeom prst="ellipse">
            <a:avLst/>
          </a:prstGeom>
          <a:solidFill>
            <a:srgbClr val="1E2761"/>
          </a:solidFill>
          <a:ln/>
        </p:spPr>
      </p:sp>
      <p:pic>
        <p:nvPicPr>
          <p:cNvPr id="18" name="Image 2" descr="/home/claude/formation-genai-de/assets/png/icon-circle-minus-white.png">    </p:cNvPr>
          <p:cNvPicPr>
            <a:picLocks noChangeAspect="1"/>
          </p:cNvPicPr>
          <p:nvPr/>
        </p:nvPicPr>
        <p:blipFill>
          <a:blip r:embed="rId3"/>
          <a:stretch>
            <a:fillRect/>
          </a:stretch>
        </p:blipFill>
        <p:spPr>
          <a:xfrm>
            <a:off x="1225296" y="3771900"/>
            <a:ext cx="237744" cy="237744"/>
          </a:xfrm>
          <a:prstGeom prst="rect">
            <a:avLst/>
          </a:prstGeom>
        </p:spPr>
      </p:pic>
      <p:sp>
        <p:nvSpPr>
          <p:cNvPr id="19" name="Text 14"/>
          <p:cNvSpPr/>
          <p:nvPr/>
        </p:nvSpPr>
        <p:spPr>
          <a:xfrm>
            <a:off x="1664208" y="3662172"/>
            <a:ext cx="4422496"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Utile mais secondaire</a:t>
            </a:r>
            <a:endParaRPr lang="en-US" sz="1200" dirty="0"/>
          </a:p>
        </p:txBody>
      </p:sp>
      <p:sp>
        <p:nvSpPr>
          <p:cNvPr id="20" name="Text 15"/>
          <p:cNvSpPr/>
          <p:nvPr/>
        </p:nvSpPr>
        <p:spPr>
          <a:xfrm>
            <a:off x="1170432" y="4210812"/>
            <a:ext cx="4916272" cy="1257300"/>
          </a:xfrm>
          <a:prstGeom prst="rect">
            <a:avLst/>
          </a:prstGeom>
          <a:noFill/>
          <a:ln/>
        </p:spPr>
        <p:txBody>
          <a:bodyPr wrap="square" lIns="0" tIns="0" rIns="0" bIns="0" rtlCol="0" anchor="t"/>
          <a:lstStyle/>
          <a:p>
            <a:pPr indent="0" marL="0">
              <a:lnSpc>
                <a:spcPct val="120000"/>
              </a:lnSpc>
              <a:buNone/>
            </a:pPr>
            <a:r>
              <a:rPr lang="en-US" sz="1050" dirty="0">
                <a:solidFill>
                  <a:srgbClr val="26293A"/>
                </a:solidFill>
                <a:latin typeface="Calibri" pitchFamily="34" charset="0"/>
                <a:ea typeface="Calibri" pitchFamily="34" charset="-122"/>
                <a:cs typeface="Calibri" pitchFamily="34" charset="-120"/>
              </a:rPr>
              <a:t>Suggestions cosmetiques</a:t>
            </a:r>
            <a:endParaRPr lang="en-US" sz="1050" dirty="0"/>
          </a:p>
          <a:p>
            <a:pPr indent="0" marL="0">
              <a:lnSpc>
                <a:spcPct val="120000"/>
              </a:lnSpc>
              <a:buNone/>
            </a:pPr>
            <a:r>
              <a:rPr lang="en-US" sz="1050" dirty="0">
                <a:solidFill>
                  <a:srgbClr val="26293A"/>
                </a:solidFill>
                <a:latin typeface="Calibri" pitchFamily="34" charset="0"/>
                <a:ea typeface="Calibri" pitchFamily="34" charset="-122"/>
                <a:cs typeface="Calibri" pitchFamily="34" charset="-120"/>
              </a:rPr>
              <a:t>Aide a la relecture</a:t>
            </a:r>
            <a:endParaRPr lang="en-US" sz="1050" dirty="0"/>
          </a:p>
        </p:txBody>
      </p:sp>
      <p:sp>
        <p:nvSpPr>
          <p:cNvPr id="21" name="Shape 16"/>
          <p:cNvSpPr/>
          <p:nvPr/>
        </p:nvSpPr>
        <p:spPr>
          <a:xfrm>
            <a:off x="6397600" y="3570732"/>
            <a:ext cx="5245456" cy="2007108"/>
          </a:xfrm>
          <a:prstGeom prst="roundRect">
            <a:avLst>
              <a:gd name="adj" fmla="val 2733"/>
            </a:avLst>
          </a:prstGeom>
          <a:solidFill>
            <a:srgbClr val="F3F6FC"/>
          </a:solidFill>
          <a:ln w="12700">
            <a:solidFill>
              <a:srgbClr val="1E2761"/>
            </a:solidFill>
            <a:prstDash val="solid"/>
          </a:ln>
        </p:spPr>
      </p:sp>
      <p:sp>
        <p:nvSpPr>
          <p:cNvPr id="22" name="Shape 17"/>
          <p:cNvSpPr/>
          <p:nvPr/>
        </p:nvSpPr>
        <p:spPr>
          <a:xfrm>
            <a:off x="6543904" y="3698748"/>
            <a:ext cx="384048" cy="384048"/>
          </a:xfrm>
          <a:prstGeom prst="ellipse">
            <a:avLst/>
          </a:prstGeom>
          <a:solidFill>
            <a:srgbClr val="1E2761"/>
          </a:solidFill>
          <a:ln/>
        </p:spPr>
      </p:sp>
      <p:pic>
        <p:nvPicPr>
          <p:cNvPr id="23" name="Image 3" descr="/home/claude/formation-genai-de/assets/png/icon-ban-white.png">    </p:cNvPr>
          <p:cNvPicPr>
            <a:picLocks noChangeAspect="1"/>
          </p:cNvPicPr>
          <p:nvPr/>
        </p:nvPicPr>
        <p:blipFill>
          <a:blip r:embed="rId4"/>
          <a:stretch>
            <a:fillRect/>
          </a:stretch>
        </p:blipFill>
        <p:spPr>
          <a:xfrm>
            <a:off x="6617056" y="3771900"/>
            <a:ext cx="237744" cy="237744"/>
          </a:xfrm>
          <a:prstGeom prst="rect">
            <a:avLst/>
          </a:prstGeom>
        </p:spPr>
      </p:pic>
      <p:sp>
        <p:nvSpPr>
          <p:cNvPr id="24" name="Text 18"/>
          <p:cNvSpPr/>
          <p:nvPr/>
        </p:nvSpPr>
        <p:spPr>
          <a:xfrm>
            <a:off x="7055968" y="3662172"/>
            <a:ext cx="4422496" cy="45720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 eviter / tres encadrer</a:t>
            </a:r>
            <a:endParaRPr lang="en-US" sz="1200" dirty="0"/>
          </a:p>
        </p:txBody>
      </p:sp>
      <p:sp>
        <p:nvSpPr>
          <p:cNvPr id="25" name="Text 19"/>
          <p:cNvSpPr/>
          <p:nvPr/>
        </p:nvSpPr>
        <p:spPr>
          <a:xfrm>
            <a:off x="6562192" y="4210812"/>
            <a:ext cx="4916272" cy="1257300"/>
          </a:xfrm>
          <a:prstGeom prst="rect">
            <a:avLst/>
          </a:prstGeom>
          <a:noFill/>
          <a:ln/>
        </p:spPr>
        <p:txBody>
          <a:bodyPr wrap="square" lIns="0" tIns="0" rIns="0" bIns="0" rtlCol="0" anchor="t"/>
          <a:lstStyle/>
          <a:p>
            <a:pPr indent="0" marL="0">
              <a:lnSpc>
                <a:spcPct val="120000"/>
              </a:lnSpc>
              <a:buNone/>
            </a:pPr>
            <a:r>
              <a:rPr lang="en-US" sz="1050" dirty="0">
                <a:solidFill>
                  <a:srgbClr val="26293A"/>
                </a:solidFill>
                <a:latin typeface="Calibri" pitchFamily="34" charset="0"/>
                <a:ea typeface="Calibri" pitchFamily="34" charset="-122"/>
                <a:cs typeface="Calibri" pitchFamily="34" charset="-120"/>
              </a:rPr>
              <a:t>Generation directe en production</a:t>
            </a:r>
            <a:endParaRPr lang="en-US" sz="1050" dirty="0"/>
          </a:p>
          <a:p>
            <a:pPr indent="0" marL="0">
              <a:lnSpc>
                <a:spcPct val="120000"/>
              </a:lnSpc>
              <a:buNone/>
            </a:pPr>
            <a:r>
              <a:rPr lang="en-US" sz="1050" dirty="0">
                <a:solidFill>
                  <a:srgbClr val="26293A"/>
                </a:solidFill>
                <a:latin typeface="Calibri" pitchFamily="34" charset="0"/>
                <a:ea typeface="Calibri" pitchFamily="34" charset="-122"/>
                <a:cs typeface="Calibri" pitchFamily="34" charset="-120"/>
              </a:rPr>
              <a:t>Donnees clients dans un prompt</a:t>
            </a:r>
            <a:endParaRPr lang="en-US" sz="1050" dirty="0"/>
          </a:p>
        </p:txBody>
      </p:sp>
      <p:sp>
        <p:nvSpPr>
          <p:cNvPr id="26" name="Shape 20"/>
          <p:cNvSpPr/>
          <p:nvPr/>
        </p:nvSpPr>
        <p:spPr>
          <a:xfrm>
            <a:off x="1005840" y="3497580"/>
            <a:ext cx="10637215" cy="0"/>
          </a:xfrm>
          <a:prstGeom prst="line">
            <a:avLst/>
          </a:prstGeom>
          <a:noFill/>
          <a:ln w="12700">
            <a:solidFill>
              <a:srgbClr val="D5DBEC"/>
            </a:solidFill>
            <a:prstDash val="solid"/>
          </a:ln>
        </p:spPr>
      </p:sp>
      <p:sp>
        <p:nvSpPr>
          <p:cNvPr id="27" name="Shape 21"/>
          <p:cNvSpPr/>
          <p:nvPr/>
        </p:nvSpPr>
        <p:spPr>
          <a:xfrm>
            <a:off x="6324448" y="1417320"/>
            <a:ext cx="0" cy="4160520"/>
          </a:xfrm>
          <a:prstGeom prst="line">
            <a:avLst/>
          </a:prstGeom>
          <a:noFill/>
          <a:ln w="12700">
            <a:solidFill>
              <a:srgbClr val="D5DBEC"/>
            </a:solidFill>
            <a:prstDash val="solid"/>
          </a:ln>
        </p:spPr>
      </p:sp>
      <p:sp>
        <p:nvSpPr>
          <p:cNvPr id="28" name="Text 22"/>
          <p:cNvSpPr/>
          <p:nvPr/>
        </p:nvSpPr>
        <p:spPr>
          <a:xfrm>
            <a:off x="1005840" y="5596128"/>
            <a:ext cx="10637215" cy="320040"/>
          </a:xfrm>
          <a:prstGeom prst="rect">
            <a:avLst/>
          </a:prstGeom>
          <a:noFill/>
          <a:ln/>
        </p:spPr>
        <p:txBody>
          <a:bodyPr wrap="square" lIns="0" tIns="0" rIns="0" bIns="0" rtlCol="0" anchor="ctr"/>
          <a:lstStyle/>
          <a:p>
            <a:pPr algn="ctr" indent="0" marL="0">
              <a:buNone/>
            </a:pPr>
            <a:r>
              <a:rPr lang="en-US" sz="1050" i="1" dirty="0">
                <a:solidFill>
                  <a:srgbClr val="7C8194"/>
                </a:solidFill>
                <a:latin typeface="Calibri" pitchFamily="34" charset="0"/>
                <a:ea typeface="Calibri" pitchFamily="34" charset="-122"/>
                <a:cs typeface="Calibri" pitchFamily="34" charset="-120"/>
              </a:rPr>
              <a:t>Risque (hallucination, RGPD, criticite)</a:t>
            </a:r>
            <a:endParaRPr lang="en-US" sz="1050" dirty="0"/>
          </a:p>
        </p:txBody>
      </p:sp>
      <p:sp>
        <p:nvSpPr>
          <p:cNvPr id="29" name="Text 23"/>
          <p:cNvSpPr/>
          <p:nvPr/>
        </p:nvSpPr>
        <p:spPr>
          <a:xfrm rot="16200000">
            <a:off x="228600" y="1417320"/>
            <a:ext cx="777240" cy="4160520"/>
          </a:xfrm>
          <a:prstGeom prst="rect">
            <a:avLst/>
          </a:prstGeom>
          <a:noFill/>
          <a:ln/>
        </p:spPr>
        <p:txBody>
          <a:bodyPr wrap="square" lIns="0" tIns="0" rIns="0" bIns="0" rtlCol="0" anchor="ctr"/>
          <a:lstStyle/>
          <a:p>
            <a:pPr algn="ctr" indent="0" marL="0">
              <a:buNone/>
            </a:pPr>
            <a:r>
              <a:rPr lang="en-US" sz="1050" i="1" dirty="0">
                <a:solidFill>
                  <a:srgbClr val="7C8194"/>
                </a:solidFill>
                <a:latin typeface="Calibri" pitchFamily="34" charset="0"/>
                <a:ea typeface="Calibri" pitchFamily="34" charset="-122"/>
                <a:cs typeface="Calibri" pitchFamily="34" charset="-120"/>
              </a:rPr>
              <a:t>Valeur metier</a:t>
            </a:r>
            <a:endParaRPr lang="en-US" sz="1050" dirty="0"/>
          </a:p>
        </p:txBody>
      </p:sp>
      <p:sp>
        <p:nvSpPr>
          <p:cNvPr id="31" name="Text 24"/>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32" name="Text 25"/>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094415" cy="1051560"/>
          </a:xfrm>
          <a:prstGeom prst="roundRect">
            <a:avLst>
              <a:gd name="adj" fmla="val 5217"/>
            </a:avLst>
          </a:prstGeom>
          <a:solidFill>
            <a:srgbClr val="1E2761"/>
          </a:solidFill>
          <a:ln/>
        </p:spPr>
      </p:sp>
      <p:sp>
        <p:nvSpPr>
          <p:cNvPr id="3" name="Text 1"/>
          <p:cNvSpPr/>
          <p:nvPr/>
        </p:nvSpPr>
        <p:spPr>
          <a:xfrm>
            <a:off x="822960" y="548640"/>
            <a:ext cx="7315200" cy="274320"/>
          </a:xfrm>
          <a:prstGeom prst="rect">
            <a:avLst/>
          </a:prstGeom>
          <a:noFill/>
          <a:ln/>
        </p:spPr>
        <p:txBody>
          <a:bodyPr wrap="square" lIns="0" tIns="0" rIns="0" bIns="0" rtlCol="0" anchor="ctr"/>
          <a:lstStyle/>
          <a:p>
            <a:pPr indent="0" marL="0">
              <a:buNone/>
            </a:pPr>
            <a:r>
              <a:rPr lang="en-US" sz="1200" b="1" spc="150" kern="0" dirty="0">
                <a:solidFill>
                  <a:srgbClr val="F2B134"/>
                </a:solidFill>
                <a:latin typeface="Calibri" pitchFamily="34" charset="0"/>
                <a:ea typeface="Calibri" pitchFamily="34" charset="-122"/>
                <a:cs typeface="Calibri" pitchFamily="34" charset="-120"/>
              </a:rPr>
              <a:t>TRAVAUX PRATIQUES  N°2</a:t>
            </a:r>
            <a:endParaRPr lang="en-US" sz="1200" dirty="0"/>
          </a:p>
        </p:txBody>
      </p:sp>
      <p:sp>
        <p:nvSpPr>
          <p:cNvPr id="4" name="Text 2"/>
          <p:cNvSpPr/>
          <p:nvPr/>
        </p:nvSpPr>
        <p:spPr>
          <a:xfrm>
            <a:off x="822960" y="804672"/>
            <a:ext cx="777240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Etude de cas en binomes : quel cas d'usage prioriser ?</a:t>
            </a:r>
            <a:endParaRPr lang="en-US" sz="1800" dirty="0"/>
          </a:p>
        </p:txBody>
      </p:sp>
      <p:sp>
        <p:nvSpPr>
          <p:cNvPr id="5" name="Text 3"/>
          <p:cNvSpPr/>
          <p:nvPr/>
        </p:nvSpPr>
        <p:spPr>
          <a:xfrm>
            <a:off x="9265615" y="548640"/>
            <a:ext cx="2103120" cy="274320"/>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Duree : 65 min</a:t>
            </a:r>
            <a:endParaRPr lang="en-US" sz="1150" dirty="0"/>
          </a:p>
        </p:txBody>
      </p:sp>
      <p:sp>
        <p:nvSpPr>
          <p:cNvPr id="6" name="Text 4"/>
          <p:cNvSpPr/>
          <p:nvPr/>
        </p:nvSpPr>
        <p:spPr>
          <a:xfrm>
            <a:off x="548640" y="1783080"/>
            <a:ext cx="54864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Consignes</a:t>
            </a:r>
            <a:endParaRPr lang="en-US" sz="1400" dirty="0"/>
          </a:p>
        </p:txBody>
      </p:sp>
      <p:sp>
        <p:nvSpPr>
          <p:cNvPr id="7" name="Text 5"/>
          <p:cNvSpPr/>
          <p:nvPr/>
        </p:nvSpPr>
        <p:spPr>
          <a:xfrm>
            <a:off x="548640" y="2194560"/>
            <a:ext cx="11094415" cy="384048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En binome, choisir un pipeline ou un jeu de donnees representatif de votre contexte (ou un cas bancaire fictif propose par le formateur)</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Lister 3 cas d'usage possibles de l'IA generative sur ce pipeline (generation de donnees de test, documentation, detection d'anomalies...)</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Prioriser ces cas d'usage selon 2 criteres : valeur metier et risque (RGPD, hallucination, criticite du systeme)</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Restituer en 5 minutes maximum a l'ensemble du groupe</a:t>
            </a:r>
            <a:endParaRPr lang="en-US" sz="1400" dirty="0"/>
          </a:p>
        </p:txBody>
      </p:sp>
      <p:sp>
        <p:nvSpPr>
          <p:cNvPr id="9" name="Text 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0" name="Text 7"/>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TP2 · Module 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48640" cy="548640"/>
          </a:xfrm>
          <a:prstGeom prst="ellipse">
            <a:avLst/>
          </a:prstGeom>
          <a:solidFill>
            <a:srgbClr val="2E7D32"/>
          </a:solidFill>
          <a:ln/>
        </p:spPr>
      </p:sp>
      <p:sp>
        <p:nvSpPr>
          <p:cNvPr id="3" name="Text 1"/>
          <p:cNvSpPr/>
          <p:nvPr/>
        </p:nvSpPr>
        <p:spPr>
          <a:xfrm>
            <a:off x="548640" y="411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4" name="Text 2"/>
          <p:cNvSpPr/>
          <p:nvPr/>
        </p:nvSpPr>
        <p:spPr>
          <a:xfrm>
            <a:off x="1325880" y="411480"/>
            <a:ext cx="8229600" cy="54864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Elements de reponse - TP n°2</a:t>
            </a:r>
            <a:endParaRPr lang="en-US" sz="2000" dirty="0"/>
          </a:p>
        </p:txBody>
      </p:sp>
      <p:sp>
        <p:nvSpPr>
          <p:cNvPr id="5" name="Shape 3"/>
          <p:cNvSpPr/>
          <p:nvPr/>
        </p:nvSpPr>
        <p:spPr>
          <a:xfrm>
            <a:off x="548640" y="2257787"/>
            <a:ext cx="11094415" cy="2433866"/>
          </a:xfrm>
          <a:prstGeom prst="roundRect">
            <a:avLst>
              <a:gd name="adj" fmla="val 3006"/>
            </a:avLst>
          </a:prstGeom>
          <a:solidFill>
            <a:srgbClr val="F3F6FC"/>
          </a:solidFill>
          <a:ln/>
        </p:spPr>
      </p:sp>
      <p:sp>
        <p:nvSpPr>
          <p:cNvPr id="6" name="Text 4"/>
          <p:cNvSpPr/>
          <p:nvPr/>
        </p:nvSpPr>
        <p:spPr>
          <a:xfrm>
            <a:off x="868680" y="2486387"/>
            <a:ext cx="10454335" cy="1976666"/>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Grille de priorisation a utiliser en debrief : axe X = risque, axe Y = valeur metier ; privilegier les cas a forte valeur et faible risque (ex. generation de donnees de test)</a:t>
            </a:r>
            <a:endParaRPr lang="en-US" sz="1350" dirty="0"/>
          </a:p>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Exemples de cas d'usage bancaires attendus : generation de jeux de test anonymises pour un environnement de recette, documentation automatique de modeles de donnees, assistant de generation de requetes SQL pour les analystes</a:t>
            </a:r>
            <a:endParaRPr lang="en-US" sz="1350" dirty="0"/>
          </a:p>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Exemples a haut risque a identifier comme tels : generation directe de donnees envoyees en production, ou tout usage exposant des donnees clients reelles dans un prompt</a:t>
            </a:r>
            <a:endParaRPr lang="en-US" sz="135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Corrige TP2 · Module 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9144000" cy="5486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Bilan de fin de Jour 1</a:t>
            </a:r>
            <a:endParaRPr lang="en-US" sz="2600" dirty="0"/>
          </a:p>
        </p:txBody>
      </p:sp>
      <p:sp>
        <p:nvSpPr>
          <p:cNvPr id="3" name="Shape 1"/>
          <p:cNvSpPr/>
          <p:nvPr/>
        </p:nvSpPr>
        <p:spPr>
          <a:xfrm>
            <a:off x="548640" y="2532793"/>
            <a:ext cx="11094415" cy="1883854"/>
          </a:xfrm>
          <a:prstGeom prst="roundRect">
            <a:avLst>
              <a:gd name="adj" fmla="val 3883"/>
            </a:avLst>
          </a:prstGeom>
          <a:solidFill>
            <a:srgbClr val="F3F6FC"/>
          </a:solidFill>
          <a:ln/>
        </p:spPr>
      </p:sp>
      <p:sp>
        <p:nvSpPr>
          <p:cNvPr id="4" name="Text 2"/>
          <p:cNvSpPr/>
          <p:nvPr/>
        </p:nvSpPr>
        <p:spPr>
          <a:xfrm>
            <a:off x="914400" y="2852833"/>
            <a:ext cx="10362895" cy="1243775"/>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Panorama de l'IA generative, de son historique et des grandes familles de modeles</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Cas d'usage et risques (hallucinations, biais, RGPD) pour un Data Engineer</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Premiere manipulation exploratoire de modeles sur Hugging Face</a:t>
            </a:r>
            <a:endParaRPr lang="en-US" sz="1500" dirty="0"/>
          </a:p>
        </p:txBody>
      </p:sp>
      <p:sp>
        <p:nvSpPr>
          <p:cNvPr id="6" name="Text 3"/>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7" name="Text 4"/>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Bilan J1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173A"/>
        </a:solidFill>
      </p:bgPr>
    </p:bg>
    <p:spTree>
      <p:nvGrpSpPr>
        <p:cNvPr id="1" name=""/>
        <p:cNvGrpSpPr/>
        <p:nvPr/>
      </p:nvGrpSpPr>
      <p:grpSpPr>
        <a:xfrm>
          <a:off x="0" y="0"/>
          <a:ext cx="0" cy="0"/>
          <a:chOff x="0" y="0"/>
          <a:chExt cx="0" cy="0"/>
        </a:xfrm>
      </p:grpSpPr>
      <p:sp>
        <p:nvSpPr>
          <p:cNvPr id="2" name="Shape 0"/>
          <p:cNvSpPr/>
          <p:nvPr/>
        </p:nvSpPr>
        <p:spPr>
          <a:xfrm>
            <a:off x="9052560" y="2651760"/>
            <a:ext cx="5120640" cy="5120640"/>
          </a:xfrm>
          <a:prstGeom prst="ellipse">
            <a:avLst/>
          </a:prstGeom>
          <a:solidFill>
            <a:srgbClr val="1E2761"/>
          </a:solidFill>
          <a:ln/>
        </p:spPr>
      </p:sp>
      <p:pic>
        <p:nvPicPr>
          <p:cNvPr id="3" name="Image 0" descr="/home/claude/formation-genai-de/assets/png/icon-terminal-2-gold.png">    </p:cNvPr>
          <p:cNvPicPr>
            <a:picLocks noChangeAspect="1"/>
          </p:cNvPicPr>
          <p:nvPr/>
        </p:nvPicPr>
        <p:blipFill>
          <a:blip r:embed="rId1"/>
          <a:stretch>
            <a:fillRect/>
          </a:stretch>
        </p:blipFill>
        <p:spPr>
          <a:xfrm>
            <a:off x="10149840" y="3749040"/>
            <a:ext cx="2377440" cy="2377440"/>
          </a:xfrm>
          <a:prstGeom prst="rect">
            <a:avLst/>
          </a:prstGeom>
        </p:spPr>
      </p:pic>
      <p:sp>
        <p:nvSpPr>
          <p:cNvPr id="4" name="Text 1"/>
          <p:cNvSpPr/>
          <p:nvPr/>
        </p:nvSpPr>
        <p:spPr>
          <a:xfrm>
            <a:off x="548640" y="2286000"/>
            <a:ext cx="7315200" cy="365760"/>
          </a:xfrm>
          <a:prstGeom prst="rect">
            <a:avLst/>
          </a:prstGeom>
          <a:noFill/>
          <a:ln/>
        </p:spPr>
        <p:txBody>
          <a:bodyPr wrap="square" lIns="0" tIns="0" rIns="0" bIns="0" rtlCol="0" anchor="ctr"/>
          <a:lstStyle/>
          <a:p>
            <a:pPr indent="0" marL="0">
              <a:buNone/>
            </a:pPr>
            <a:r>
              <a:rPr lang="en-US" sz="1300" b="1" spc="300" kern="0" dirty="0">
                <a:solidFill>
                  <a:srgbClr val="F2B134"/>
                </a:solidFill>
                <a:latin typeface="Calibri" pitchFamily="34" charset="0"/>
                <a:ea typeface="Calibri" pitchFamily="34" charset="-122"/>
                <a:cs typeface="Calibri" pitchFamily="34" charset="-120"/>
              </a:rPr>
              <a:t>JOUR 2</a:t>
            </a:r>
            <a:endParaRPr lang="en-US" sz="1300" dirty="0"/>
          </a:p>
        </p:txBody>
      </p:sp>
      <p:sp>
        <p:nvSpPr>
          <p:cNvPr id="5" name="Text 2"/>
          <p:cNvSpPr/>
          <p:nvPr/>
        </p:nvSpPr>
        <p:spPr>
          <a:xfrm>
            <a:off x="548640" y="2651760"/>
            <a:ext cx="8595360" cy="118872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Manipulation de LLM avec Python et LangChain</a:t>
            </a:r>
            <a:endParaRPr lang="en-US" sz="3000" dirty="0"/>
          </a:p>
        </p:txBody>
      </p:sp>
      <p:sp>
        <p:nvSpPr>
          <p:cNvPr id="6" name="Text 3"/>
          <p:cNvSpPr/>
          <p:nvPr/>
        </p:nvSpPr>
        <p:spPr>
          <a:xfrm>
            <a:off x="548640" y="3794760"/>
            <a:ext cx="82296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7 heures - 9h00-12h30 / 13h30-17h00</a:t>
            </a:r>
            <a:endParaRPr lang="en-US" sz="1400" dirty="0"/>
          </a:p>
        </p:txBody>
      </p:sp>
      <p:sp>
        <p:nvSpPr>
          <p:cNvPr id="7" name="Text 4"/>
          <p:cNvSpPr/>
          <p:nvPr/>
        </p:nvSpPr>
        <p:spPr>
          <a:xfrm>
            <a:off x="548640" y="4434840"/>
            <a:ext cx="8229600" cy="137160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Module 3 - Manipulation de LLM avec Python (3h30)</a:t>
            </a:r>
            <a:endParaRPr lang="en-US" sz="1300" dirty="0"/>
          </a:p>
          <a:p>
            <a:pPr marL="203200" indent="-203200">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Module 4 - LangChain pour orchestrer les LLM (3h30)</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234440" y="457200"/>
            <a:ext cx="941832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Manipulation de LLM avec Python (1/2)</a:t>
            </a:r>
            <a:endParaRPr lang="en-US" sz="2100" dirty="0"/>
          </a:p>
        </p:txBody>
      </p:sp>
      <p:sp>
        <p:nvSpPr>
          <p:cNvPr id="5" name="Text 3"/>
          <p:cNvSpPr/>
          <p:nvPr/>
        </p:nvSpPr>
        <p:spPr>
          <a:xfrm>
            <a:off x="548640" y="1143000"/>
            <a:ext cx="11094415" cy="457200"/>
          </a:xfrm>
          <a:prstGeom prst="rect">
            <a:avLst/>
          </a:prstGeom>
          <a:noFill/>
          <a:ln/>
        </p:spPr>
        <p:txBody>
          <a:bodyPr wrap="square" lIns="0" tIns="0" rIns="0" bIns="0" rtlCol="0" anchor="ctr"/>
          <a:lstStyle/>
          <a:p>
            <a:pPr indent="0" marL="0">
              <a:buNone/>
            </a:pPr>
            <a:r>
              <a:rPr lang="en-US" sz="1250" i="1" dirty="0">
                <a:solidFill>
                  <a:srgbClr val="7C8194"/>
                </a:solidFill>
                <a:latin typeface="Calibri" pitchFamily="34" charset="0"/>
                <a:ea typeface="Calibri" pitchFamily="34" charset="-122"/>
                <a:cs typeface="Calibri" pitchFamily="34" charset="-120"/>
              </a:rPr>
              <a:t>Objectif : Maitriser les appels a une API d'IA generative depuis Python et la validation des reponses obtenues.</a:t>
            </a:r>
            <a:endParaRPr lang="en-US" sz="1250" dirty="0"/>
          </a:p>
        </p:txBody>
      </p:sp>
      <p:sp>
        <p:nvSpPr>
          <p:cNvPr id="6" name="Text 4"/>
          <p:cNvSpPr/>
          <p:nvPr/>
        </p:nvSpPr>
        <p:spPr>
          <a:xfrm>
            <a:off x="548640" y="1737360"/>
            <a:ext cx="11094415" cy="438912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Introduction a l'API OpenAI (ChatGPT) : modeles disponibles, endpoint de chat completions</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Authentification et gestion des cles API : variable d'environnement, jamais de cle en dur dans le code</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Parametres d'appel : messages system/user/assistant, temperature (creativite), max_tokens, top_p</a:t>
            </a:r>
            <a:endParaRPr lang="en-US" sz="1500" dirty="0"/>
          </a:p>
        </p:txBody>
      </p:sp>
      <p:sp>
        <p:nvSpPr>
          <p:cNvPr id="7" name="Text 5"/>
          <p:cNvSpPr/>
          <p:nvPr/>
        </p:nvSpPr>
        <p:spPr>
          <a:xfrm>
            <a:off x="8534095" y="5779008"/>
            <a:ext cx="3108960" cy="201168"/>
          </a:xfrm>
          <a:prstGeom prst="rect">
            <a:avLst/>
          </a:prstGeom>
          <a:noFill/>
          <a:ln/>
        </p:spPr>
        <p:txBody>
          <a:bodyPr wrap="square" lIns="0" tIns="0" rIns="0" bIns="0" rtlCol="0" anchor="ctr"/>
          <a:lstStyle/>
          <a:p>
            <a:pPr algn="r" indent="0" marL="0">
              <a:buNone/>
            </a:pPr>
            <a:r>
              <a:rPr lang="en-US" sz="800" b="1" spc="150" kern="0" dirty="0">
                <a:solidFill>
                  <a:srgbClr val="7C8194"/>
                </a:solidFill>
                <a:latin typeface="Calibri" pitchFamily="34" charset="0"/>
                <a:ea typeface="Calibri" pitchFamily="34" charset="-122"/>
                <a:cs typeface="Calibri" pitchFamily="34" charset="-120"/>
              </a:rPr>
              <a:t>OUTILS EVOQUES</a:t>
            </a:r>
            <a:endParaRPr lang="en-US" sz="800" dirty="0"/>
          </a:p>
        </p:txBody>
      </p:sp>
      <p:pic>
        <p:nvPicPr>
          <p:cNvPr id="8" name="Image 0" descr="/home/claude/formation-genai-de/assets/png/logo-openai-trim.png">    </p:cNvPr>
          <p:cNvPicPr>
            <a:picLocks noChangeAspect="1"/>
          </p:cNvPicPr>
          <p:nvPr/>
        </p:nvPicPr>
        <p:blipFill>
          <a:blip r:embed="rId1"/>
          <a:stretch>
            <a:fillRect/>
          </a:stretch>
        </p:blipFill>
        <p:spPr>
          <a:xfrm>
            <a:off x="8876629" y="6016752"/>
            <a:ext cx="369052" cy="365760"/>
          </a:xfrm>
          <a:prstGeom prst="rect">
            <a:avLst/>
          </a:prstGeom>
        </p:spPr>
      </p:pic>
      <p:pic>
        <p:nvPicPr>
          <p:cNvPr id="9" name="Image 1" descr="/home/claude/formation-genai-de/assets/png/logo-anthropic-trim.png">    </p:cNvPr>
          <p:cNvPicPr>
            <a:picLocks noChangeAspect="1"/>
          </p:cNvPicPr>
          <p:nvPr/>
        </p:nvPicPr>
        <p:blipFill>
          <a:blip r:embed="rId2"/>
          <a:stretch>
            <a:fillRect/>
          </a:stretch>
        </p:blipFill>
        <p:spPr>
          <a:xfrm>
            <a:off x="9446849" y="6199632"/>
            <a:ext cx="1629278" cy="182880"/>
          </a:xfrm>
          <a:prstGeom prst="rect">
            <a:avLst/>
          </a:prstGeom>
        </p:spPr>
      </p:pic>
      <p:pic>
        <p:nvPicPr>
          <p:cNvPr id="10" name="Image 2" descr="/home/claude/formation-genai-de/assets/png/logo-python-trim.png">    </p:cNvPr>
          <p:cNvPicPr>
            <a:picLocks noChangeAspect="1"/>
          </p:cNvPicPr>
          <p:nvPr/>
        </p:nvPicPr>
        <p:blipFill>
          <a:blip r:embed="rId3"/>
          <a:stretch>
            <a:fillRect/>
          </a:stretch>
        </p:blipFill>
        <p:spPr>
          <a:xfrm>
            <a:off x="11277295" y="6016752"/>
            <a:ext cx="365760" cy="365760"/>
          </a:xfrm>
          <a:prstGeom prst="rect">
            <a:avLst/>
          </a:prstGeom>
        </p:spPr>
      </p:pic>
      <p:sp>
        <p:nvSpPr>
          <p:cNvPr id="12" name="Text 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3" name="Text 7"/>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234440" y="457200"/>
            <a:ext cx="941832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Manipulation de LLM avec Python (2/2)</a:t>
            </a:r>
            <a:endParaRPr lang="en-US" sz="2100" dirty="0"/>
          </a:p>
        </p:txBody>
      </p:sp>
      <p:sp>
        <p:nvSpPr>
          <p:cNvPr id="5" name="Text 3"/>
          <p:cNvSpPr/>
          <p:nvPr/>
        </p:nvSpPr>
        <p:spPr>
          <a:xfrm>
            <a:off x="548640" y="1234440"/>
            <a:ext cx="11094415" cy="438912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Notion de token : unite de decoupage du texte, impact direct sur le cout et la latence d'un appel</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Traitement des retours : structuration de la reponse, parsing JSON, validation du format attendu (pydantic, jsonschema)</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Integration dans un pipeline de donnees : appel LLM comme etape d'un pipeline Python, gestion des erreurs et des retries</a:t>
            </a:r>
            <a:endParaRPr lang="en-US" sz="1500" dirty="0"/>
          </a:p>
        </p:txBody>
      </p:sp>
      <p:sp>
        <p:nvSpPr>
          <p:cNvPr id="7" name="Text 4"/>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8" name="Text 5"/>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234440" y="457200"/>
            <a:ext cx="822960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Manipulation de LLM avec Python · Schema</a:t>
            </a:r>
            <a:endParaRPr lang="en-US" sz="2100" dirty="0"/>
          </a:p>
        </p:txBody>
      </p:sp>
      <p:sp>
        <p:nvSpPr>
          <p:cNvPr id="5" name="Text 3"/>
          <p:cNvSpPr/>
          <p:nvPr/>
        </p:nvSpPr>
        <p:spPr>
          <a:xfrm>
            <a:off x="9357055" y="502920"/>
            <a:ext cx="2286000" cy="274320"/>
          </a:xfrm>
          <a:prstGeom prst="rect">
            <a:avLst/>
          </a:prstGeom>
          <a:noFill/>
          <a:ln/>
        </p:spPr>
        <p:txBody>
          <a:bodyPr wrap="square" lIns="0" tIns="0" rIns="0" bIns="0" rtlCol="0" anchor="ctr"/>
          <a:lstStyle/>
          <a:p>
            <a:pPr algn="r" indent="0" marL="0">
              <a:buNone/>
            </a:pPr>
            <a:r>
              <a:rPr lang="en-US" sz="1000" b="1" spc="200" kern="0" dirty="0">
                <a:solidFill>
                  <a:srgbClr val="1E2761"/>
                </a:solidFill>
                <a:latin typeface="Calibri" pitchFamily="34" charset="0"/>
                <a:ea typeface="Calibri" pitchFamily="34" charset="-122"/>
                <a:cs typeface="Calibri" pitchFamily="34" charset="-120"/>
              </a:rPr>
              <a:t>SCHEMA</a:t>
            </a:r>
            <a:endParaRPr lang="en-US" sz="1000" dirty="0"/>
          </a:p>
        </p:txBody>
      </p:sp>
      <p:sp>
        <p:nvSpPr>
          <p:cNvPr id="6" name="Shape 4"/>
          <p:cNvSpPr/>
          <p:nvPr/>
        </p:nvSpPr>
        <p:spPr>
          <a:xfrm>
            <a:off x="548640" y="1783080"/>
            <a:ext cx="1816547" cy="868680"/>
          </a:xfrm>
          <a:prstGeom prst="roundRect">
            <a:avLst>
              <a:gd name="adj" fmla="val 8421"/>
            </a:avLst>
          </a:prstGeom>
          <a:solidFill>
            <a:srgbClr val="F3F6FC"/>
          </a:solidFill>
          <a:ln w="12700">
            <a:solidFill>
              <a:srgbClr val="1E2761"/>
            </a:solidFill>
            <a:prstDash val="solid"/>
          </a:ln>
        </p:spPr>
      </p:sp>
      <p:sp>
        <p:nvSpPr>
          <p:cNvPr id="7" name="Text 5"/>
          <p:cNvSpPr/>
          <p:nvPr/>
        </p:nvSpPr>
        <p:spPr>
          <a:xfrm>
            <a:off x="621792"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Prompt (system+user)</a:t>
            </a:r>
            <a:endParaRPr lang="en-US" sz="1050" dirty="0"/>
          </a:p>
        </p:txBody>
      </p:sp>
      <p:sp>
        <p:nvSpPr>
          <p:cNvPr id="8" name="Shape 6"/>
          <p:cNvSpPr/>
          <p:nvPr/>
        </p:nvSpPr>
        <p:spPr>
          <a:xfrm>
            <a:off x="1228314" y="1554480"/>
            <a:ext cx="457200" cy="457200"/>
          </a:xfrm>
          <a:prstGeom prst="ellipse">
            <a:avLst/>
          </a:prstGeom>
          <a:solidFill>
            <a:srgbClr val="1E2761"/>
          </a:solidFill>
          <a:ln w="25400">
            <a:solidFill>
              <a:srgbClr val="FFFFFF"/>
            </a:solidFill>
            <a:prstDash val="solid"/>
          </a:ln>
        </p:spPr>
      </p:sp>
      <p:pic>
        <p:nvPicPr>
          <p:cNvPr id="9" name="Image 0" descr="/home/claude/formation-genai-de/assets/png/icon-message-2-white.png">    </p:cNvPr>
          <p:cNvPicPr>
            <a:picLocks noChangeAspect="1"/>
          </p:cNvPicPr>
          <p:nvPr/>
        </p:nvPicPr>
        <p:blipFill>
          <a:blip r:embed="rId1"/>
          <a:stretch>
            <a:fillRect/>
          </a:stretch>
        </p:blipFill>
        <p:spPr>
          <a:xfrm>
            <a:off x="1328898" y="1655064"/>
            <a:ext cx="256032" cy="256032"/>
          </a:xfrm>
          <a:prstGeom prst="rect">
            <a:avLst/>
          </a:prstGeom>
        </p:spPr>
      </p:pic>
      <p:sp>
        <p:nvSpPr>
          <p:cNvPr id="10" name="Shape 7"/>
          <p:cNvSpPr/>
          <p:nvPr/>
        </p:nvSpPr>
        <p:spPr>
          <a:xfrm>
            <a:off x="2365187" y="2144268"/>
            <a:ext cx="457200" cy="146304"/>
          </a:xfrm>
          <a:prstGeom prst="rightArrow">
            <a:avLst/>
          </a:prstGeom>
          <a:solidFill>
            <a:srgbClr val="F2B134"/>
          </a:solidFill>
          <a:ln/>
        </p:spPr>
      </p:sp>
      <p:sp>
        <p:nvSpPr>
          <p:cNvPr id="11" name="Shape 8"/>
          <p:cNvSpPr/>
          <p:nvPr/>
        </p:nvSpPr>
        <p:spPr>
          <a:xfrm>
            <a:off x="2868107" y="1783080"/>
            <a:ext cx="1816547" cy="868680"/>
          </a:xfrm>
          <a:prstGeom prst="roundRect">
            <a:avLst>
              <a:gd name="adj" fmla="val 8421"/>
            </a:avLst>
          </a:prstGeom>
          <a:solidFill>
            <a:srgbClr val="F3F6FC"/>
          </a:solidFill>
          <a:ln w="12700">
            <a:solidFill>
              <a:srgbClr val="1E2761"/>
            </a:solidFill>
            <a:prstDash val="solid"/>
          </a:ln>
        </p:spPr>
      </p:sp>
      <p:sp>
        <p:nvSpPr>
          <p:cNvPr id="12" name="Text 9"/>
          <p:cNvSpPr/>
          <p:nvPr/>
        </p:nvSpPr>
        <p:spPr>
          <a:xfrm>
            <a:off x="2941259"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Appel API</a:t>
            </a:r>
            <a:endParaRPr lang="en-US" sz="1050" dirty="0"/>
          </a:p>
        </p:txBody>
      </p:sp>
      <p:sp>
        <p:nvSpPr>
          <p:cNvPr id="13" name="Shape 10"/>
          <p:cNvSpPr/>
          <p:nvPr/>
        </p:nvSpPr>
        <p:spPr>
          <a:xfrm>
            <a:off x="3547781" y="1554480"/>
            <a:ext cx="457200" cy="457200"/>
          </a:xfrm>
          <a:prstGeom prst="ellipse">
            <a:avLst/>
          </a:prstGeom>
          <a:solidFill>
            <a:srgbClr val="1E2761"/>
          </a:solidFill>
          <a:ln w="25400">
            <a:solidFill>
              <a:srgbClr val="FFFFFF"/>
            </a:solidFill>
            <a:prstDash val="solid"/>
          </a:ln>
        </p:spPr>
      </p:sp>
      <p:pic>
        <p:nvPicPr>
          <p:cNvPr id="14" name="Image 1" descr="/home/claude/formation-genai-de/assets/png/icon-api-white.png">    </p:cNvPr>
          <p:cNvPicPr>
            <a:picLocks noChangeAspect="1"/>
          </p:cNvPicPr>
          <p:nvPr/>
        </p:nvPicPr>
        <p:blipFill>
          <a:blip r:embed="rId2"/>
          <a:stretch>
            <a:fillRect/>
          </a:stretch>
        </p:blipFill>
        <p:spPr>
          <a:xfrm>
            <a:off x="3648365" y="1655064"/>
            <a:ext cx="256032" cy="256032"/>
          </a:xfrm>
          <a:prstGeom prst="rect">
            <a:avLst/>
          </a:prstGeom>
        </p:spPr>
      </p:pic>
      <p:sp>
        <p:nvSpPr>
          <p:cNvPr id="15" name="Shape 11"/>
          <p:cNvSpPr/>
          <p:nvPr/>
        </p:nvSpPr>
        <p:spPr>
          <a:xfrm>
            <a:off x="4684654" y="2144268"/>
            <a:ext cx="457200" cy="146304"/>
          </a:xfrm>
          <a:prstGeom prst="rightArrow">
            <a:avLst/>
          </a:prstGeom>
          <a:solidFill>
            <a:srgbClr val="F2B134"/>
          </a:solidFill>
          <a:ln/>
        </p:spPr>
      </p:sp>
      <p:sp>
        <p:nvSpPr>
          <p:cNvPr id="16" name="Shape 12"/>
          <p:cNvSpPr/>
          <p:nvPr/>
        </p:nvSpPr>
        <p:spPr>
          <a:xfrm>
            <a:off x="5187574" y="1783080"/>
            <a:ext cx="1816547" cy="868680"/>
          </a:xfrm>
          <a:prstGeom prst="roundRect">
            <a:avLst>
              <a:gd name="adj" fmla="val 8421"/>
            </a:avLst>
          </a:prstGeom>
          <a:solidFill>
            <a:srgbClr val="F3F6FC"/>
          </a:solidFill>
          <a:ln w="12700">
            <a:solidFill>
              <a:srgbClr val="1E2761"/>
            </a:solidFill>
            <a:prstDash val="solid"/>
          </a:ln>
        </p:spPr>
      </p:sp>
      <p:sp>
        <p:nvSpPr>
          <p:cNvPr id="17" name="Text 13"/>
          <p:cNvSpPr/>
          <p:nvPr/>
        </p:nvSpPr>
        <p:spPr>
          <a:xfrm>
            <a:off x="5260726"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Reponse brute (JSON)</a:t>
            </a:r>
            <a:endParaRPr lang="en-US" sz="1050" dirty="0"/>
          </a:p>
        </p:txBody>
      </p:sp>
      <p:sp>
        <p:nvSpPr>
          <p:cNvPr id="18" name="Shape 14"/>
          <p:cNvSpPr/>
          <p:nvPr/>
        </p:nvSpPr>
        <p:spPr>
          <a:xfrm>
            <a:off x="5867248" y="1554480"/>
            <a:ext cx="457200" cy="457200"/>
          </a:xfrm>
          <a:prstGeom prst="ellipse">
            <a:avLst/>
          </a:prstGeom>
          <a:solidFill>
            <a:srgbClr val="1E2761"/>
          </a:solidFill>
          <a:ln w="25400">
            <a:solidFill>
              <a:srgbClr val="FFFFFF"/>
            </a:solidFill>
            <a:prstDash val="solid"/>
          </a:ln>
        </p:spPr>
      </p:sp>
      <p:pic>
        <p:nvPicPr>
          <p:cNvPr id="19" name="Image 2" descr="/home/claude/formation-genai-de/assets/png/icon-braces-white.png">    </p:cNvPr>
          <p:cNvPicPr>
            <a:picLocks noChangeAspect="1"/>
          </p:cNvPicPr>
          <p:nvPr/>
        </p:nvPicPr>
        <p:blipFill>
          <a:blip r:embed="rId3"/>
          <a:stretch>
            <a:fillRect/>
          </a:stretch>
        </p:blipFill>
        <p:spPr>
          <a:xfrm>
            <a:off x="5967832" y="1655064"/>
            <a:ext cx="256032" cy="256032"/>
          </a:xfrm>
          <a:prstGeom prst="rect">
            <a:avLst/>
          </a:prstGeom>
        </p:spPr>
      </p:pic>
      <p:sp>
        <p:nvSpPr>
          <p:cNvPr id="20" name="Shape 15"/>
          <p:cNvSpPr/>
          <p:nvPr/>
        </p:nvSpPr>
        <p:spPr>
          <a:xfrm>
            <a:off x="7004121" y="2144268"/>
            <a:ext cx="457200" cy="146304"/>
          </a:xfrm>
          <a:prstGeom prst="rightArrow">
            <a:avLst/>
          </a:prstGeom>
          <a:solidFill>
            <a:srgbClr val="F2B134"/>
          </a:solidFill>
          <a:ln/>
        </p:spPr>
      </p:sp>
      <p:sp>
        <p:nvSpPr>
          <p:cNvPr id="21" name="Shape 16"/>
          <p:cNvSpPr/>
          <p:nvPr/>
        </p:nvSpPr>
        <p:spPr>
          <a:xfrm>
            <a:off x="7507041" y="1783080"/>
            <a:ext cx="1816547" cy="868680"/>
          </a:xfrm>
          <a:prstGeom prst="roundRect">
            <a:avLst>
              <a:gd name="adj" fmla="val 8421"/>
            </a:avLst>
          </a:prstGeom>
          <a:solidFill>
            <a:srgbClr val="F3F6FC"/>
          </a:solidFill>
          <a:ln w="12700">
            <a:solidFill>
              <a:srgbClr val="1E2761"/>
            </a:solidFill>
            <a:prstDash val="solid"/>
          </a:ln>
        </p:spPr>
      </p:sp>
      <p:sp>
        <p:nvSpPr>
          <p:cNvPr id="22" name="Text 17"/>
          <p:cNvSpPr/>
          <p:nvPr/>
        </p:nvSpPr>
        <p:spPr>
          <a:xfrm>
            <a:off x="7580193"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Parsing + validation</a:t>
            </a:r>
            <a:endParaRPr lang="en-US" sz="1050" dirty="0"/>
          </a:p>
        </p:txBody>
      </p:sp>
      <p:sp>
        <p:nvSpPr>
          <p:cNvPr id="23" name="Shape 18"/>
          <p:cNvSpPr/>
          <p:nvPr/>
        </p:nvSpPr>
        <p:spPr>
          <a:xfrm>
            <a:off x="8186715" y="1554480"/>
            <a:ext cx="457200" cy="457200"/>
          </a:xfrm>
          <a:prstGeom prst="ellipse">
            <a:avLst/>
          </a:prstGeom>
          <a:solidFill>
            <a:srgbClr val="1E2761"/>
          </a:solidFill>
          <a:ln w="25400">
            <a:solidFill>
              <a:srgbClr val="FFFFFF"/>
            </a:solidFill>
            <a:prstDash val="solid"/>
          </a:ln>
        </p:spPr>
      </p:sp>
      <p:pic>
        <p:nvPicPr>
          <p:cNvPr id="24" name="Image 3" descr="/home/claude/formation-genai-de/assets/png/icon-circle-check-white.png">    </p:cNvPr>
          <p:cNvPicPr>
            <a:picLocks noChangeAspect="1"/>
          </p:cNvPicPr>
          <p:nvPr/>
        </p:nvPicPr>
        <p:blipFill>
          <a:blip r:embed="rId4"/>
          <a:stretch>
            <a:fillRect/>
          </a:stretch>
        </p:blipFill>
        <p:spPr>
          <a:xfrm>
            <a:off x="8287299" y="1655064"/>
            <a:ext cx="256032" cy="256032"/>
          </a:xfrm>
          <a:prstGeom prst="rect">
            <a:avLst/>
          </a:prstGeom>
        </p:spPr>
      </p:pic>
      <p:sp>
        <p:nvSpPr>
          <p:cNvPr id="25" name="Shape 19"/>
          <p:cNvSpPr/>
          <p:nvPr/>
        </p:nvSpPr>
        <p:spPr>
          <a:xfrm>
            <a:off x="9323588" y="2144268"/>
            <a:ext cx="457200" cy="146304"/>
          </a:xfrm>
          <a:prstGeom prst="rightArrow">
            <a:avLst/>
          </a:prstGeom>
          <a:solidFill>
            <a:srgbClr val="F2B134"/>
          </a:solidFill>
          <a:ln/>
        </p:spPr>
      </p:sp>
      <p:sp>
        <p:nvSpPr>
          <p:cNvPr id="26" name="Shape 20"/>
          <p:cNvSpPr/>
          <p:nvPr/>
        </p:nvSpPr>
        <p:spPr>
          <a:xfrm>
            <a:off x="9826508" y="1783080"/>
            <a:ext cx="1816547" cy="868680"/>
          </a:xfrm>
          <a:prstGeom prst="roundRect">
            <a:avLst>
              <a:gd name="adj" fmla="val 8421"/>
            </a:avLst>
          </a:prstGeom>
          <a:solidFill>
            <a:srgbClr val="1E2761"/>
          </a:solidFill>
          <a:ln w="12700">
            <a:solidFill>
              <a:srgbClr val="1E2761"/>
            </a:solidFill>
            <a:prstDash val="solid"/>
          </a:ln>
        </p:spPr>
      </p:sp>
      <p:sp>
        <p:nvSpPr>
          <p:cNvPr id="27" name="Text 21"/>
          <p:cNvSpPr/>
          <p:nvPr/>
        </p:nvSpPr>
        <p:spPr>
          <a:xfrm>
            <a:off x="9899660"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Etape suivante du pipeline</a:t>
            </a:r>
            <a:endParaRPr lang="en-US" sz="1050" dirty="0"/>
          </a:p>
        </p:txBody>
      </p:sp>
      <p:sp>
        <p:nvSpPr>
          <p:cNvPr id="28" name="Shape 22"/>
          <p:cNvSpPr/>
          <p:nvPr/>
        </p:nvSpPr>
        <p:spPr>
          <a:xfrm>
            <a:off x="10506182" y="1554480"/>
            <a:ext cx="457200" cy="457200"/>
          </a:xfrm>
          <a:prstGeom prst="ellipse">
            <a:avLst/>
          </a:prstGeom>
          <a:solidFill>
            <a:srgbClr val="F2B134"/>
          </a:solidFill>
          <a:ln w="25400">
            <a:solidFill>
              <a:srgbClr val="FFFFFF"/>
            </a:solidFill>
            <a:prstDash val="solid"/>
          </a:ln>
        </p:spPr>
      </p:sp>
      <p:pic>
        <p:nvPicPr>
          <p:cNvPr id="29" name="Image 4" descr="/home/claude/formation-genai-de/assets/png/icon-sitemap-navy.png">    </p:cNvPr>
          <p:cNvPicPr>
            <a:picLocks noChangeAspect="1"/>
          </p:cNvPicPr>
          <p:nvPr/>
        </p:nvPicPr>
        <p:blipFill>
          <a:blip r:embed="rId5"/>
          <a:stretch>
            <a:fillRect/>
          </a:stretch>
        </p:blipFill>
        <p:spPr>
          <a:xfrm>
            <a:off x="10606766" y="1655064"/>
            <a:ext cx="256032" cy="256032"/>
          </a:xfrm>
          <a:prstGeom prst="rect">
            <a:avLst/>
          </a:prstGeom>
        </p:spPr>
      </p:pic>
      <p:sp>
        <p:nvSpPr>
          <p:cNvPr id="31" name="Text 23"/>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32" name="Text 24"/>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094415" cy="1051560"/>
          </a:xfrm>
          <a:prstGeom prst="roundRect">
            <a:avLst>
              <a:gd name="adj" fmla="val 5217"/>
            </a:avLst>
          </a:prstGeom>
          <a:solidFill>
            <a:srgbClr val="1E2761"/>
          </a:solidFill>
          <a:ln/>
        </p:spPr>
      </p:sp>
      <p:sp>
        <p:nvSpPr>
          <p:cNvPr id="3" name="Text 1"/>
          <p:cNvSpPr/>
          <p:nvPr/>
        </p:nvSpPr>
        <p:spPr>
          <a:xfrm>
            <a:off x="822960" y="548640"/>
            <a:ext cx="7315200" cy="274320"/>
          </a:xfrm>
          <a:prstGeom prst="rect">
            <a:avLst/>
          </a:prstGeom>
          <a:noFill/>
          <a:ln/>
        </p:spPr>
        <p:txBody>
          <a:bodyPr wrap="square" lIns="0" tIns="0" rIns="0" bIns="0" rtlCol="0" anchor="ctr"/>
          <a:lstStyle/>
          <a:p>
            <a:pPr indent="0" marL="0">
              <a:buNone/>
            </a:pPr>
            <a:r>
              <a:rPr lang="en-US" sz="1200" b="1" spc="150" kern="0" dirty="0">
                <a:solidFill>
                  <a:srgbClr val="F2B134"/>
                </a:solidFill>
                <a:latin typeface="Calibri" pitchFamily="34" charset="0"/>
                <a:ea typeface="Calibri" pitchFamily="34" charset="-122"/>
                <a:cs typeface="Calibri" pitchFamily="34" charset="-120"/>
              </a:rPr>
              <a:t>TRAVAUX PRATIQUES  N°3</a:t>
            </a:r>
            <a:endParaRPr lang="en-US" sz="1200" dirty="0"/>
          </a:p>
        </p:txBody>
      </p:sp>
      <p:sp>
        <p:nvSpPr>
          <p:cNvPr id="4" name="Text 2"/>
          <p:cNvSpPr/>
          <p:nvPr/>
        </p:nvSpPr>
        <p:spPr>
          <a:xfrm>
            <a:off x="822960" y="804672"/>
            <a:ext cx="777240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Script Python pour interroger un LLM</a:t>
            </a:r>
            <a:endParaRPr lang="en-US" sz="1800" dirty="0"/>
          </a:p>
        </p:txBody>
      </p:sp>
      <p:sp>
        <p:nvSpPr>
          <p:cNvPr id="5" name="Text 3"/>
          <p:cNvSpPr/>
          <p:nvPr/>
        </p:nvSpPr>
        <p:spPr>
          <a:xfrm>
            <a:off x="9265615" y="548640"/>
            <a:ext cx="2103120" cy="274320"/>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Duree : 60 min</a:t>
            </a:r>
            <a:endParaRPr lang="en-US" sz="1150" dirty="0"/>
          </a:p>
        </p:txBody>
      </p:sp>
      <p:sp>
        <p:nvSpPr>
          <p:cNvPr id="6" name="Text 4"/>
          <p:cNvSpPr/>
          <p:nvPr/>
        </p:nvSpPr>
        <p:spPr>
          <a:xfrm>
            <a:off x="548640" y="1783080"/>
            <a:ext cx="54864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Consignes</a:t>
            </a:r>
            <a:endParaRPr lang="en-US" sz="1400" dirty="0"/>
          </a:p>
        </p:txBody>
      </p:sp>
      <p:sp>
        <p:nvSpPr>
          <p:cNvPr id="7" name="Text 5"/>
          <p:cNvSpPr/>
          <p:nvPr/>
        </p:nvSpPr>
        <p:spPr>
          <a:xfrm>
            <a:off x="548640" y="2194560"/>
            <a:ext cx="11094415" cy="384048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Ecrire un script Python qui envoie un prompt a l'API OpenAI (ou Anthropic) et affiche la reponse</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Parametrer la temperature et observer l'effet sur des appels repetes avec le meme prompt</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Demander une sortie structuree en JSON (ex. extraction d'entites d'un texte) et la parser avec le module json</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Tester volontairement un prompt ambigu ou incomplet et observer le comportement du modele</a:t>
            </a:r>
            <a:endParaRPr lang="en-US" sz="1400" dirty="0"/>
          </a:p>
        </p:txBody>
      </p:sp>
      <p:sp>
        <p:nvSpPr>
          <p:cNvPr id="9" name="Text 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0" name="Text 7"/>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TP3 · Module 3</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48640" cy="548640"/>
          </a:xfrm>
          <a:prstGeom prst="ellipse">
            <a:avLst/>
          </a:prstGeom>
          <a:solidFill>
            <a:srgbClr val="2E7D32"/>
          </a:solidFill>
          <a:ln/>
        </p:spPr>
      </p:sp>
      <p:sp>
        <p:nvSpPr>
          <p:cNvPr id="3" name="Text 1"/>
          <p:cNvSpPr/>
          <p:nvPr/>
        </p:nvSpPr>
        <p:spPr>
          <a:xfrm>
            <a:off x="548640" y="411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4" name="Text 2"/>
          <p:cNvSpPr/>
          <p:nvPr/>
        </p:nvSpPr>
        <p:spPr>
          <a:xfrm>
            <a:off x="1325880" y="411480"/>
            <a:ext cx="8229600" cy="54864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Corrige - TP n°3</a:t>
            </a:r>
            <a:endParaRPr lang="en-US" sz="2000" dirty="0"/>
          </a:p>
        </p:txBody>
      </p:sp>
      <p:sp>
        <p:nvSpPr>
          <p:cNvPr id="5" name="Shape 3"/>
          <p:cNvSpPr/>
          <p:nvPr/>
        </p:nvSpPr>
        <p:spPr>
          <a:xfrm>
            <a:off x="548640" y="1234440"/>
            <a:ext cx="11094415" cy="4480560"/>
          </a:xfrm>
          <a:prstGeom prst="roundRect">
            <a:avLst>
              <a:gd name="adj" fmla="val 1633"/>
            </a:avLst>
          </a:prstGeom>
          <a:solidFill>
            <a:srgbClr val="12173A"/>
          </a:solidFill>
          <a:ln/>
        </p:spPr>
      </p:sp>
      <p:sp>
        <p:nvSpPr>
          <p:cNvPr id="6" name="Text 4"/>
          <p:cNvSpPr/>
          <p:nvPr/>
        </p:nvSpPr>
        <p:spPr>
          <a:xfrm>
            <a:off x="868680" y="1417320"/>
            <a:ext cx="10454335" cy="4114800"/>
          </a:xfrm>
          <a:prstGeom prst="rect">
            <a:avLst/>
          </a:prstGeom>
          <a:noFill/>
          <a:ln/>
        </p:spPr>
        <p:txBody>
          <a:bodyPr wrap="square" lIns="0" tIns="0" rIns="0" bIns="0" rtlCol="0" anchor="t"/>
          <a:lstStyle/>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import os, json</a:t>
            </a:r>
            <a:endParaRPr lang="en-US" sz="1250" dirty="0"/>
          </a:p>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from openai import OpenAI</a:t>
            </a:r>
            <a:endParaRPr lang="en-US" sz="1250" dirty="0"/>
          </a:p>
          <a:p>
            <a:pPr indent="0" marL="0">
              <a:lnSpc>
                <a:spcPct val="125000"/>
              </a:lnSpc>
              <a:buNone/>
            </a:pPr>
            <a:endParaRPr lang="en-US" sz="1250" dirty="0"/>
          </a:p>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client = OpenAI(api_key=os.environ["OPENAI_API_KEY"])  # jamais de cle en dur</a:t>
            </a:r>
            <a:endParaRPr lang="en-US" sz="1250" dirty="0"/>
          </a:p>
          <a:p>
            <a:pPr indent="0" marL="0">
              <a:lnSpc>
                <a:spcPct val="125000"/>
              </a:lnSpc>
              <a:buNone/>
            </a:pPr>
            <a:endParaRPr lang="en-US" sz="1250" dirty="0"/>
          </a:p>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reponse = client.chat.completions.create(</a:t>
            </a:r>
            <a:endParaRPr lang="en-US" sz="1250" dirty="0"/>
          </a:p>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    model="gpt-4o-mini",</a:t>
            </a:r>
            <a:endParaRPr lang="en-US" sz="1250" dirty="0"/>
          </a:p>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    temperature=0.2,</a:t>
            </a:r>
            <a:endParaRPr lang="en-US" sz="1250" dirty="0"/>
          </a:p>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    messages=[</a:t>
            </a:r>
            <a:endParaRPr lang="en-US" sz="1250" dirty="0"/>
          </a:p>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        {"role": "system", "content": "Tu extrais des entites et repond UNIQUEMENT en JSON valide."},</a:t>
            </a:r>
            <a:endParaRPr lang="en-US" sz="1250" dirty="0"/>
          </a:p>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        {"role": "user", "content": "Jean Dupont, ne le 12/05/1985, habite a Lyon."},</a:t>
            </a:r>
            <a:endParaRPr lang="en-US" sz="1250" dirty="0"/>
          </a:p>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    ],</a:t>
            </a:r>
            <a:endParaRPr lang="en-US" sz="1250" dirty="0"/>
          </a:p>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    response_format={"type": "json_object"},</a:t>
            </a:r>
            <a:endParaRPr lang="en-US" sz="1250" dirty="0"/>
          </a:p>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a:t>
            </a:r>
            <a:endParaRPr lang="en-US" sz="1250" dirty="0"/>
          </a:p>
          <a:p>
            <a:pPr indent="0" marL="0">
              <a:lnSpc>
                <a:spcPct val="125000"/>
              </a:lnSpc>
              <a:buNone/>
            </a:pPr>
            <a:endParaRPr lang="en-US" sz="1250" dirty="0"/>
          </a:p>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donnees = json.loads(reponse.choices[0].message.content)</a:t>
            </a:r>
            <a:endParaRPr lang="en-US" sz="1250" dirty="0"/>
          </a:p>
          <a:p>
            <a:pPr indent="0" marL="0">
              <a:lnSpc>
                <a:spcPct val="125000"/>
              </a:lnSpc>
              <a:buNone/>
            </a:pPr>
            <a:r>
              <a:rPr lang="en-US" sz="1250" dirty="0">
                <a:solidFill>
                  <a:srgbClr val="CADCFC"/>
                </a:solidFill>
                <a:latin typeface="Courier New" pitchFamily="34" charset="0"/>
                <a:ea typeface="Courier New" pitchFamily="34" charset="-122"/>
                <a:cs typeface="Courier New" pitchFamily="34" charset="-120"/>
              </a:rPr>
              <a:t>print(donnees)</a:t>
            </a:r>
            <a:endParaRPr lang="en-US" sz="125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Corrige TP3 · Module 3</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234440" y="457200"/>
            <a:ext cx="941832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LangChain pour orchestrer les LLM</a:t>
            </a:r>
            <a:endParaRPr lang="en-US" sz="2100" dirty="0"/>
          </a:p>
        </p:txBody>
      </p:sp>
      <p:sp>
        <p:nvSpPr>
          <p:cNvPr id="5" name="Text 3"/>
          <p:cNvSpPr/>
          <p:nvPr/>
        </p:nvSpPr>
        <p:spPr>
          <a:xfrm>
            <a:off x="548640" y="1143000"/>
            <a:ext cx="11094415" cy="457200"/>
          </a:xfrm>
          <a:prstGeom prst="rect">
            <a:avLst/>
          </a:prstGeom>
          <a:noFill/>
          <a:ln/>
        </p:spPr>
        <p:txBody>
          <a:bodyPr wrap="square" lIns="0" tIns="0" rIns="0" bIns="0" rtlCol="0" anchor="ctr"/>
          <a:lstStyle/>
          <a:p>
            <a:pPr indent="0" marL="0">
              <a:buNone/>
            </a:pPr>
            <a:r>
              <a:rPr lang="en-US" sz="1250" i="1" dirty="0">
                <a:solidFill>
                  <a:srgbClr val="7C8194"/>
                </a:solidFill>
                <a:latin typeface="Calibri" pitchFamily="34" charset="0"/>
                <a:ea typeface="Calibri" pitchFamily="34" charset="-122"/>
                <a:cs typeface="Calibri" pitchFamily="34" charset="-120"/>
              </a:rPr>
              <a:t>Objectif : Orchestrer plusieurs appels a des LLM au sein d'un meme traitement, avec logging et observabilite.</a:t>
            </a:r>
            <a:endParaRPr lang="en-US" sz="1250" dirty="0"/>
          </a:p>
        </p:txBody>
      </p:sp>
      <p:sp>
        <p:nvSpPr>
          <p:cNvPr id="6" name="Text 4"/>
          <p:cNvSpPr/>
          <p:nvPr/>
        </p:nvSpPr>
        <p:spPr>
          <a:xfrm>
            <a:off x="548640" y="1737360"/>
            <a:ext cx="11094415" cy="438912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Introduction a LangChain : chaines (chains), composants (prompts, modeles, parsers), notion d'agent intelligent</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Prompts chaines : decomposer une tache complexe en plusieurs appels successifs</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Modeles hybrides : combiner un LLM puissant et un modele plus leger selon l'etape (routing, cout, latence)</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Memorisation et gestion de l'etat : conserver le contexte d'une conversation ou d'un pipeline multi-etapes</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Logging, monitoring et observabilite : tracer les appels, les prompts, les couts et les temps de reponse</a:t>
            </a:r>
            <a:endParaRPr lang="en-US" sz="1500" dirty="0"/>
          </a:p>
        </p:txBody>
      </p:sp>
      <p:sp>
        <p:nvSpPr>
          <p:cNvPr id="7" name="Text 5"/>
          <p:cNvSpPr/>
          <p:nvPr/>
        </p:nvSpPr>
        <p:spPr>
          <a:xfrm>
            <a:off x="8534095" y="5779008"/>
            <a:ext cx="3108960" cy="201168"/>
          </a:xfrm>
          <a:prstGeom prst="rect">
            <a:avLst/>
          </a:prstGeom>
          <a:noFill/>
          <a:ln/>
        </p:spPr>
        <p:txBody>
          <a:bodyPr wrap="square" lIns="0" tIns="0" rIns="0" bIns="0" rtlCol="0" anchor="ctr"/>
          <a:lstStyle/>
          <a:p>
            <a:pPr algn="r" indent="0" marL="0">
              <a:buNone/>
            </a:pPr>
            <a:r>
              <a:rPr lang="en-US" sz="800" b="1" spc="150" kern="0" dirty="0">
                <a:solidFill>
                  <a:srgbClr val="7C8194"/>
                </a:solidFill>
                <a:latin typeface="Calibri" pitchFamily="34" charset="0"/>
                <a:ea typeface="Calibri" pitchFamily="34" charset="-122"/>
                <a:cs typeface="Calibri" pitchFamily="34" charset="-120"/>
              </a:rPr>
              <a:t>OUTILS EVOQUES</a:t>
            </a:r>
            <a:endParaRPr lang="en-US" sz="800" dirty="0"/>
          </a:p>
        </p:txBody>
      </p:sp>
      <p:pic>
        <p:nvPicPr>
          <p:cNvPr id="8" name="Image 0" descr="/home/claude/formation-genai-de/assets/png/logo-langchain-trim.png">    </p:cNvPr>
          <p:cNvPicPr>
            <a:picLocks noChangeAspect="1"/>
          </p:cNvPicPr>
          <p:nvPr/>
        </p:nvPicPr>
        <p:blipFill>
          <a:blip r:embed="rId1"/>
          <a:stretch>
            <a:fillRect/>
          </a:stretch>
        </p:blipFill>
        <p:spPr>
          <a:xfrm>
            <a:off x="10316897" y="6155741"/>
            <a:ext cx="1326158" cy="226771"/>
          </a:xfrm>
          <a:prstGeom prst="rect">
            <a:avLst/>
          </a:prstGeom>
        </p:spPr>
      </p:pic>
      <p:sp>
        <p:nvSpPr>
          <p:cNvPr id="10" name="Text 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1" name="Text 7"/>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234440" y="457200"/>
            <a:ext cx="822960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LangChain pour orchestrer les LLM · Schema</a:t>
            </a:r>
            <a:endParaRPr lang="en-US" sz="2100" dirty="0"/>
          </a:p>
        </p:txBody>
      </p:sp>
      <p:sp>
        <p:nvSpPr>
          <p:cNvPr id="5" name="Text 3"/>
          <p:cNvSpPr/>
          <p:nvPr/>
        </p:nvSpPr>
        <p:spPr>
          <a:xfrm>
            <a:off x="9357055" y="502920"/>
            <a:ext cx="2286000" cy="274320"/>
          </a:xfrm>
          <a:prstGeom prst="rect">
            <a:avLst/>
          </a:prstGeom>
          <a:noFill/>
          <a:ln/>
        </p:spPr>
        <p:txBody>
          <a:bodyPr wrap="square" lIns="0" tIns="0" rIns="0" bIns="0" rtlCol="0" anchor="ctr"/>
          <a:lstStyle/>
          <a:p>
            <a:pPr algn="r" indent="0" marL="0">
              <a:buNone/>
            </a:pPr>
            <a:r>
              <a:rPr lang="en-US" sz="1000" b="1" spc="200" kern="0" dirty="0">
                <a:solidFill>
                  <a:srgbClr val="1E2761"/>
                </a:solidFill>
                <a:latin typeface="Calibri" pitchFamily="34" charset="0"/>
                <a:ea typeface="Calibri" pitchFamily="34" charset="-122"/>
                <a:cs typeface="Calibri" pitchFamily="34" charset="-120"/>
              </a:rPr>
              <a:t>SCHEMA</a:t>
            </a:r>
            <a:endParaRPr lang="en-US" sz="1000" dirty="0"/>
          </a:p>
        </p:txBody>
      </p:sp>
      <p:sp>
        <p:nvSpPr>
          <p:cNvPr id="6" name="Shape 4"/>
          <p:cNvSpPr/>
          <p:nvPr/>
        </p:nvSpPr>
        <p:spPr>
          <a:xfrm>
            <a:off x="548640" y="1783080"/>
            <a:ext cx="1816547" cy="868680"/>
          </a:xfrm>
          <a:prstGeom prst="roundRect">
            <a:avLst>
              <a:gd name="adj" fmla="val 8421"/>
            </a:avLst>
          </a:prstGeom>
          <a:solidFill>
            <a:srgbClr val="F3F6FC"/>
          </a:solidFill>
          <a:ln w="12700">
            <a:solidFill>
              <a:srgbClr val="1E2761"/>
            </a:solidFill>
            <a:prstDash val="solid"/>
          </a:ln>
        </p:spPr>
      </p:sp>
      <p:sp>
        <p:nvSpPr>
          <p:cNvPr id="7" name="Text 5"/>
          <p:cNvSpPr/>
          <p:nvPr/>
        </p:nvSpPr>
        <p:spPr>
          <a:xfrm>
            <a:off x="621792"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Extraction (source)</a:t>
            </a:r>
            <a:endParaRPr lang="en-US" sz="1050" dirty="0"/>
          </a:p>
        </p:txBody>
      </p:sp>
      <p:sp>
        <p:nvSpPr>
          <p:cNvPr id="8" name="Shape 6"/>
          <p:cNvSpPr/>
          <p:nvPr/>
        </p:nvSpPr>
        <p:spPr>
          <a:xfrm>
            <a:off x="1228314" y="1554480"/>
            <a:ext cx="457200" cy="457200"/>
          </a:xfrm>
          <a:prstGeom prst="ellipse">
            <a:avLst/>
          </a:prstGeom>
          <a:solidFill>
            <a:srgbClr val="1E2761"/>
          </a:solidFill>
          <a:ln w="25400">
            <a:solidFill>
              <a:srgbClr val="FFFFFF"/>
            </a:solidFill>
            <a:prstDash val="solid"/>
          </a:ln>
        </p:spPr>
      </p:sp>
      <p:pic>
        <p:nvPicPr>
          <p:cNvPr id="9" name="Image 0" descr="/home/claude/formation-genai-de/assets/png/icon-database-export-white.png">    </p:cNvPr>
          <p:cNvPicPr>
            <a:picLocks noChangeAspect="1"/>
          </p:cNvPicPr>
          <p:nvPr/>
        </p:nvPicPr>
        <p:blipFill>
          <a:blip r:embed="rId1"/>
          <a:stretch>
            <a:fillRect/>
          </a:stretch>
        </p:blipFill>
        <p:spPr>
          <a:xfrm>
            <a:off x="1328898" y="1655064"/>
            <a:ext cx="256032" cy="256032"/>
          </a:xfrm>
          <a:prstGeom prst="rect">
            <a:avLst/>
          </a:prstGeom>
        </p:spPr>
      </p:pic>
      <p:sp>
        <p:nvSpPr>
          <p:cNvPr id="10" name="Shape 7"/>
          <p:cNvSpPr/>
          <p:nvPr/>
        </p:nvSpPr>
        <p:spPr>
          <a:xfrm>
            <a:off x="2365187" y="2144268"/>
            <a:ext cx="457200" cy="146304"/>
          </a:xfrm>
          <a:prstGeom prst="rightArrow">
            <a:avLst/>
          </a:prstGeom>
          <a:solidFill>
            <a:srgbClr val="F2B134"/>
          </a:solidFill>
          <a:ln/>
        </p:spPr>
      </p:sp>
      <p:sp>
        <p:nvSpPr>
          <p:cNvPr id="11" name="Shape 8"/>
          <p:cNvSpPr/>
          <p:nvPr/>
        </p:nvSpPr>
        <p:spPr>
          <a:xfrm>
            <a:off x="2868107" y="1783080"/>
            <a:ext cx="1816547" cy="868680"/>
          </a:xfrm>
          <a:prstGeom prst="roundRect">
            <a:avLst>
              <a:gd name="adj" fmla="val 8421"/>
            </a:avLst>
          </a:prstGeom>
          <a:solidFill>
            <a:srgbClr val="F3F6FC"/>
          </a:solidFill>
          <a:ln w="12700">
            <a:solidFill>
              <a:srgbClr val="1E2761"/>
            </a:solidFill>
            <a:prstDash val="solid"/>
          </a:ln>
        </p:spPr>
      </p:sp>
      <p:sp>
        <p:nvSpPr>
          <p:cNvPr id="12" name="Text 9"/>
          <p:cNvSpPr/>
          <p:nvPr/>
        </p:nvSpPr>
        <p:spPr>
          <a:xfrm>
            <a:off x="2941259"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Prompt 1 : nettoyage assiste</a:t>
            </a:r>
            <a:endParaRPr lang="en-US" sz="1050" dirty="0"/>
          </a:p>
        </p:txBody>
      </p:sp>
      <p:sp>
        <p:nvSpPr>
          <p:cNvPr id="13" name="Shape 10"/>
          <p:cNvSpPr/>
          <p:nvPr/>
        </p:nvSpPr>
        <p:spPr>
          <a:xfrm>
            <a:off x="3547781" y="1554480"/>
            <a:ext cx="457200" cy="457200"/>
          </a:xfrm>
          <a:prstGeom prst="ellipse">
            <a:avLst/>
          </a:prstGeom>
          <a:solidFill>
            <a:srgbClr val="1E2761"/>
          </a:solidFill>
          <a:ln w="25400">
            <a:solidFill>
              <a:srgbClr val="FFFFFF"/>
            </a:solidFill>
            <a:prstDash val="solid"/>
          </a:ln>
        </p:spPr>
      </p:sp>
      <p:pic>
        <p:nvPicPr>
          <p:cNvPr id="14" name="Image 1" descr="/home/claude/formation-genai-de/assets/png/icon-message-2-white.png">    </p:cNvPr>
          <p:cNvPicPr>
            <a:picLocks noChangeAspect="1"/>
          </p:cNvPicPr>
          <p:nvPr/>
        </p:nvPicPr>
        <p:blipFill>
          <a:blip r:embed="rId2"/>
          <a:stretch>
            <a:fillRect/>
          </a:stretch>
        </p:blipFill>
        <p:spPr>
          <a:xfrm>
            <a:off x="3648365" y="1655064"/>
            <a:ext cx="256032" cy="256032"/>
          </a:xfrm>
          <a:prstGeom prst="rect">
            <a:avLst/>
          </a:prstGeom>
        </p:spPr>
      </p:pic>
      <p:sp>
        <p:nvSpPr>
          <p:cNvPr id="15" name="Shape 11"/>
          <p:cNvSpPr/>
          <p:nvPr/>
        </p:nvSpPr>
        <p:spPr>
          <a:xfrm>
            <a:off x="4684654" y="2144268"/>
            <a:ext cx="457200" cy="146304"/>
          </a:xfrm>
          <a:prstGeom prst="rightArrow">
            <a:avLst/>
          </a:prstGeom>
          <a:solidFill>
            <a:srgbClr val="F2B134"/>
          </a:solidFill>
          <a:ln/>
        </p:spPr>
      </p:sp>
      <p:sp>
        <p:nvSpPr>
          <p:cNvPr id="16" name="Shape 12"/>
          <p:cNvSpPr/>
          <p:nvPr/>
        </p:nvSpPr>
        <p:spPr>
          <a:xfrm>
            <a:off x="5187574" y="1783080"/>
            <a:ext cx="1816547" cy="868680"/>
          </a:xfrm>
          <a:prstGeom prst="roundRect">
            <a:avLst>
              <a:gd name="adj" fmla="val 8421"/>
            </a:avLst>
          </a:prstGeom>
          <a:solidFill>
            <a:srgbClr val="F3F6FC"/>
          </a:solidFill>
          <a:ln w="12700">
            <a:solidFill>
              <a:srgbClr val="1E2761"/>
            </a:solidFill>
            <a:prstDash val="solid"/>
          </a:ln>
        </p:spPr>
      </p:sp>
      <p:sp>
        <p:nvSpPr>
          <p:cNvPr id="17" name="Text 13"/>
          <p:cNvSpPr/>
          <p:nvPr/>
        </p:nvSpPr>
        <p:spPr>
          <a:xfrm>
            <a:off x="5260726"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Prompt 2 : enrichissement</a:t>
            </a:r>
            <a:endParaRPr lang="en-US" sz="1050" dirty="0"/>
          </a:p>
        </p:txBody>
      </p:sp>
      <p:sp>
        <p:nvSpPr>
          <p:cNvPr id="18" name="Shape 14"/>
          <p:cNvSpPr/>
          <p:nvPr/>
        </p:nvSpPr>
        <p:spPr>
          <a:xfrm>
            <a:off x="5867248" y="1554480"/>
            <a:ext cx="457200" cy="457200"/>
          </a:xfrm>
          <a:prstGeom prst="ellipse">
            <a:avLst/>
          </a:prstGeom>
          <a:solidFill>
            <a:srgbClr val="1E2761"/>
          </a:solidFill>
          <a:ln w="25400">
            <a:solidFill>
              <a:srgbClr val="FFFFFF"/>
            </a:solidFill>
            <a:prstDash val="solid"/>
          </a:ln>
        </p:spPr>
      </p:sp>
      <p:pic>
        <p:nvPicPr>
          <p:cNvPr id="19" name="Image 2" descr="/home/claude/formation-genai-de/assets/png/icon-wand-white.png">    </p:cNvPr>
          <p:cNvPicPr>
            <a:picLocks noChangeAspect="1"/>
          </p:cNvPicPr>
          <p:nvPr/>
        </p:nvPicPr>
        <p:blipFill>
          <a:blip r:embed="rId3"/>
          <a:stretch>
            <a:fillRect/>
          </a:stretch>
        </p:blipFill>
        <p:spPr>
          <a:xfrm>
            <a:off x="5967832" y="1655064"/>
            <a:ext cx="256032" cy="256032"/>
          </a:xfrm>
          <a:prstGeom prst="rect">
            <a:avLst/>
          </a:prstGeom>
        </p:spPr>
      </p:pic>
      <p:sp>
        <p:nvSpPr>
          <p:cNvPr id="20" name="Shape 15"/>
          <p:cNvSpPr/>
          <p:nvPr/>
        </p:nvSpPr>
        <p:spPr>
          <a:xfrm>
            <a:off x="7004121" y="2144268"/>
            <a:ext cx="457200" cy="146304"/>
          </a:xfrm>
          <a:prstGeom prst="rightArrow">
            <a:avLst/>
          </a:prstGeom>
          <a:solidFill>
            <a:srgbClr val="F2B134"/>
          </a:solidFill>
          <a:ln/>
        </p:spPr>
      </p:sp>
      <p:sp>
        <p:nvSpPr>
          <p:cNvPr id="21" name="Shape 16"/>
          <p:cNvSpPr/>
          <p:nvPr/>
        </p:nvSpPr>
        <p:spPr>
          <a:xfrm>
            <a:off x="7507041" y="1783080"/>
            <a:ext cx="1816547" cy="868680"/>
          </a:xfrm>
          <a:prstGeom prst="roundRect">
            <a:avLst>
              <a:gd name="adj" fmla="val 8421"/>
            </a:avLst>
          </a:prstGeom>
          <a:solidFill>
            <a:srgbClr val="F3F6FC"/>
          </a:solidFill>
          <a:ln w="12700">
            <a:solidFill>
              <a:srgbClr val="1E2761"/>
            </a:solidFill>
            <a:prstDash val="solid"/>
          </a:ln>
        </p:spPr>
      </p:sp>
      <p:sp>
        <p:nvSpPr>
          <p:cNvPr id="22" name="Text 17"/>
          <p:cNvSpPr/>
          <p:nvPr/>
        </p:nvSpPr>
        <p:spPr>
          <a:xfrm>
            <a:off x="7580193"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Validation</a:t>
            </a:r>
            <a:endParaRPr lang="en-US" sz="1050" dirty="0"/>
          </a:p>
        </p:txBody>
      </p:sp>
      <p:sp>
        <p:nvSpPr>
          <p:cNvPr id="23" name="Shape 18"/>
          <p:cNvSpPr/>
          <p:nvPr/>
        </p:nvSpPr>
        <p:spPr>
          <a:xfrm>
            <a:off x="8186715" y="1554480"/>
            <a:ext cx="457200" cy="457200"/>
          </a:xfrm>
          <a:prstGeom prst="ellipse">
            <a:avLst/>
          </a:prstGeom>
          <a:solidFill>
            <a:srgbClr val="1E2761"/>
          </a:solidFill>
          <a:ln w="25400">
            <a:solidFill>
              <a:srgbClr val="FFFFFF"/>
            </a:solidFill>
            <a:prstDash val="solid"/>
          </a:ln>
        </p:spPr>
      </p:sp>
      <p:pic>
        <p:nvPicPr>
          <p:cNvPr id="24" name="Image 3" descr="/home/claude/formation-genai-de/assets/png/icon-circle-check-white.png">    </p:cNvPr>
          <p:cNvPicPr>
            <a:picLocks noChangeAspect="1"/>
          </p:cNvPicPr>
          <p:nvPr/>
        </p:nvPicPr>
        <p:blipFill>
          <a:blip r:embed="rId4"/>
          <a:stretch>
            <a:fillRect/>
          </a:stretch>
        </p:blipFill>
        <p:spPr>
          <a:xfrm>
            <a:off x="8287299" y="1655064"/>
            <a:ext cx="256032" cy="256032"/>
          </a:xfrm>
          <a:prstGeom prst="rect">
            <a:avLst/>
          </a:prstGeom>
        </p:spPr>
      </p:pic>
      <p:sp>
        <p:nvSpPr>
          <p:cNvPr id="25" name="Shape 19"/>
          <p:cNvSpPr/>
          <p:nvPr/>
        </p:nvSpPr>
        <p:spPr>
          <a:xfrm>
            <a:off x="9323588" y="2144268"/>
            <a:ext cx="457200" cy="146304"/>
          </a:xfrm>
          <a:prstGeom prst="rightArrow">
            <a:avLst/>
          </a:prstGeom>
          <a:solidFill>
            <a:srgbClr val="F2B134"/>
          </a:solidFill>
          <a:ln/>
        </p:spPr>
      </p:sp>
      <p:sp>
        <p:nvSpPr>
          <p:cNvPr id="26" name="Shape 20"/>
          <p:cNvSpPr/>
          <p:nvPr/>
        </p:nvSpPr>
        <p:spPr>
          <a:xfrm>
            <a:off x="9826508" y="1783080"/>
            <a:ext cx="1816547" cy="868680"/>
          </a:xfrm>
          <a:prstGeom prst="roundRect">
            <a:avLst>
              <a:gd name="adj" fmla="val 8421"/>
            </a:avLst>
          </a:prstGeom>
          <a:solidFill>
            <a:srgbClr val="1E2761"/>
          </a:solidFill>
          <a:ln w="12700">
            <a:solidFill>
              <a:srgbClr val="1E2761"/>
            </a:solidFill>
            <a:prstDash val="solid"/>
          </a:ln>
        </p:spPr>
      </p:sp>
      <p:sp>
        <p:nvSpPr>
          <p:cNvPr id="27" name="Text 21"/>
          <p:cNvSpPr/>
          <p:nvPr/>
        </p:nvSpPr>
        <p:spPr>
          <a:xfrm>
            <a:off x="9899660"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Chargement</a:t>
            </a:r>
            <a:endParaRPr lang="en-US" sz="1050" dirty="0"/>
          </a:p>
        </p:txBody>
      </p:sp>
      <p:sp>
        <p:nvSpPr>
          <p:cNvPr id="28" name="Shape 22"/>
          <p:cNvSpPr/>
          <p:nvPr/>
        </p:nvSpPr>
        <p:spPr>
          <a:xfrm>
            <a:off x="10506182" y="1554480"/>
            <a:ext cx="457200" cy="457200"/>
          </a:xfrm>
          <a:prstGeom prst="ellipse">
            <a:avLst/>
          </a:prstGeom>
          <a:solidFill>
            <a:srgbClr val="F2B134"/>
          </a:solidFill>
          <a:ln w="25400">
            <a:solidFill>
              <a:srgbClr val="FFFFFF"/>
            </a:solidFill>
            <a:prstDash val="solid"/>
          </a:ln>
        </p:spPr>
      </p:sp>
      <p:pic>
        <p:nvPicPr>
          <p:cNvPr id="29" name="Image 4" descr="/home/claude/formation-genai-de/assets/png/icon-cloud-download-navy.png">    </p:cNvPr>
          <p:cNvPicPr>
            <a:picLocks noChangeAspect="1"/>
          </p:cNvPicPr>
          <p:nvPr/>
        </p:nvPicPr>
        <p:blipFill>
          <a:blip r:embed="rId5"/>
          <a:stretch>
            <a:fillRect/>
          </a:stretch>
        </p:blipFill>
        <p:spPr>
          <a:xfrm>
            <a:off x="10606766" y="1655064"/>
            <a:ext cx="256032" cy="256032"/>
          </a:xfrm>
          <a:prstGeom prst="rect">
            <a:avLst/>
          </a:prstGeom>
        </p:spPr>
      </p:pic>
      <p:sp>
        <p:nvSpPr>
          <p:cNvPr id="30" name="Text 23"/>
          <p:cNvSpPr/>
          <p:nvPr/>
        </p:nvSpPr>
        <p:spPr>
          <a:xfrm>
            <a:off x="548640" y="3794760"/>
            <a:ext cx="11094415" cy="457200"/>
          </a:xfrm>
          <a:prstGeom prst="rect">
            <a:avLst/>
          </a:prstGeom>
          <a:noFill/>
          <a:ln/>
        </p:spPr>
        <p:txBody>
          <a:bodyPr wrap="square" lIns="0" tIns="0" rIns="0" bIns="0" rtlCol="0" anchor="ctr"/>
          <a:lstStyle/>
          <a:p>
            <a:pPr indent="0" marL="0">
              <a:buNone/>
            </a:pPr>
            <a:r>
              <a:rPr lang="en-US" sz="1200" i="1" dirty="0">
                <a:solidFill>
                  <a:srgbClr val="7C8194"/>
                </a:solidFill>
                <a:latin typeface="Calibri" pitchFamily="34" charset="0"/>
                <a:ea typeface="Calibri" pitchFamily="34" charset="-122"/>
                <a:cs typeface="Calibri" pitchFamily="34" charset="-120"/>
              </a:rPr>
              <a:t>Logging a chaque etape : prompt envoye, reponse recue, duree, statut</a:t>
            </a:r>
            <a:endParaRPr lang="en-US" sz="1200" dirty="0"/>
          </a:p>
        </p:txBody>
      </p:sp>
      <p:sp>
        <p:nvSpPr>
          <p:cNvPr id="32" name="Text 24"/>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33" name="Text 25"/>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094415" cy="1051560"/>
          </a:xfrm>
          <a:prstGeom prst="roundRect">
            <a:avLst>
              <a:gd name="adj" fmla="val 5217"/>
            </a:avLst>
          </a:prstGeom>
          <a:solidFill>
            <a:srgbClr val="1E2761"/>
          </a:solidFill>
          <a:ln/>
        </p:spPr>
      </p:sp>
      <p:sp>
        <p:nvSpPr>
          <p:cNvPr id="3" name="Text 1"/>
          <p:cNvSpPr/>
          <p:nvPr/>
        </p:nvSpPr>
        <p:spPr>
          <a:xfrm>
            <a:off x="822960" y="548640"/>
            <a:ext cx="7315200" cy="274320"/>
          </a:xfrm>
          <a:prstGeom prst="rect">
            <a:avLst/>
          </a:prstGeom>
          <a:noFill/>
          <a:ln/>
        </p:spPr>
        <p:txBody>
          <a:bodyPr wrap="square" lIns="0" tIns="0" rIns="0" bIns="0" rtlCol="0" anchor="ctr"/>
          <a:lstStyle/>
          <a:p>
            <a:pPr indent="0" marL="0">
              <a:buNone/>
            </a:pPr>
            <a:r>
              <a:rPr lang="en-US" sz="1200" b="1" spc="150" kern="0" dirty="0">
                <a:solidFill>
                  <a:srgbClr val="F2B134"/>
                </a:solidFill>
                <a:latin typeface="Calibri" pitchFamily="34" charset="0"/>
                <a:ea typeface="Calibri" pitchFamily="34" charset="-122"/>
                <a:cs typeface="Calibri" pitchFamily="34" charset="-120"/>
              </a:rPr>
              <a:t>TRAVAUX PRATIQUES  N°4</a:t>
            </a:r>
            <a:endParaRPr lang="en-US" sz="1200" dirty="0"/>
          </a:p>
        </p:txBody>
      </p:sp>
      <p:sp>
        <p:nvSpPr>
          <p:cNvPr id="4" name="Text 2"/>
          <p:cNvSpPr/>
          <p:nvPr/>
        </p:nvSpPr>
        <p:spPr>
          <a:xfrm>
            <a:off x="822960" y="804672"/>
            <a:ext cx="777240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Conception d'un assistant generatif simulant un ETL</a:t>
            </a:r>
            <a:endParaRPr lang="en-US" sz="1800" dirty="0"/>
          </a:p>
        </p:txBody>
      </p:sp>
      <p:sp>
        <p:nvSpPr>
          <p:cNvPr id="5" name="Text 3"/>
          <p:cNvSpPr/>
          <p:nvPr/>
        </p:nvSpPr>
        <p:spPr>
          <a:xfrm>
            <a:off x="9265615" y="548640"/>
            <a:ext cx="2103120" cy="274320"/>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Duree : 75 min</a:t>
            </a:r>
            <a:endParaRPr lang="en-US" sz="1150" dirty="0"/>
          </a:p>
        </p:txBody>
      </p:sp>
      <p:sp>
        <p:nvSpPr>
          <p:cNvPr id="6" name="Text 4"/>
          <p:cNvSpPr/>
          <p:nvPr/>
        </p:nvSpPr>
        <p:spPr>
          <a:xfrm>
            <a:off x="548640" y="1783080"/>
            <a:ext cx="54864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Consignes</a:t>
            </a:r>
            <a:endParaRPr lang="en-US" sz="1400" dirty="0"/>
          </a:p>
        </p:txBody>
      </p:sp>
      <p:sp>
        <p:nvSpPr>
          <p:cNvPr id="7" name="Text 5"/>
          <p:cNvSpPr/>
          <p:nvPr/>
        </p:nvSpPr>
        <p:spPr>
          <a:xfrm>
            <a:off x="548640" y="2194560"/>
            <a:ext cx="11094415" cy="384048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Concevoir avec LangChain (ou une chaine de prompts manuelle) un mini pipeline en 3 etapes : extraction d'un texte source, transformation/nettoyage assiste par LLM, generation d'un resume structure</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Ajouter un mecanisme de logging a chaque etape (prompt envoye, reponse recue, duree)</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Documenter les mecanismes de logging necessaires dans un contexte de production bancaire (tracabilite, audit)</a:t>
            </a:r>
            <a:endParaRPr lang="en-US" sz="1400" dirty="0"/>
          </a:p>
        </p:txBody>
      </p:sp>
      <p:sp>
        <p:nvSpPr>
          <p:cNvPr id="9" name="Text 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0" name="Text 7"/>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TP4 · Module 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48640" cy="548640"/>
          </a:xfrm>
          <a:prstGeom prst="ellipse">
            <a:avLst/>
          </a:prstGeom>
          <a:solidFill>
            <a:srgbClr val="2E7D32"/>
          </a:solidFill>
          <a:ln/>
        </p:spPr>
      </p:sp>
      <p:sp>
        <p:nvSpPr>
          <p:cNvPr id="3" name="Text 1"/>
          <p:cNvSpPr/>
          <p:nvPr/>
        </p:nvSpPr>
        <p:spPr>
          <a:xfrm>
            <a:off x="548640" y="411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4" name="Text 2"/>
          <p:cNvSpPr/>
          <p:nvPr/>
        </p:nvSpPr>
        <p:spPr>
          <a:xfrm>
            <a:off x="1325880" y="411480"/>
            <a:ext cx="8229600" cy="54864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Elements de reponse - TP n°4</a:t>
            </a:r>
            <a:endParaRPr lang="en-US" sz="2000" dirty="0"/>
          </a:p>
        </p:txBody>
      </p:sp>
      <p:sp>
        <p:nvSpPr>
          <p:cNvPr id="5" name="Shape 3"/>
          <p:cNvSpPr/>
          <p:nvPr/>
        </p:nvSpPr>
        <p:spPr>
          <a:xfrm>
            <a:off x="548640" y="2466959"/>
            <a:ext cx="11094415" cy="2015522"/>
          </a:xfrm>
          <a:prstGeom prst="roundRect">
            <a:avLst>
              <a:gd name="adj" fmla="val 3629"/>
            </a:avLst>
          </a:prstGeom>
          <a:solidFill>
            <a:srgbClr val="F3F6FC"/>
          </a:solidFill>
          <a:ln/>
        </p:spPr>
      </p:sp>
      <p:sp>
        <p:nvSpPr>
          <p:cNvPr id="6" name="Text 4"/>
          <p:cNvSpPr/>
          <p:nvPr/>
        </p:nvSpPr>
        <p:spPr>
          <a:xfrm>
            <a:off x="868680" y="2695559"/>
            <a:ext cx="10454335" cy="1558322"/>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Pipeline attendu : Extraction -&gt; Prompt de nettoyage -&gt; Prompt de resume structure -&gt; sortie JSON validee, avec un log par etape</a:t>
            </a:r>
            <a:endParaRPr lang="en-US" sz="1350" dirty="0"/>
          </a:p>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Mecanismes de logging a integrer en contexte bancaire : horodatage, identifiant de requete/correlation, prompt et reponse (tronques ou masques si donnees sensibles), nombre de tokens et cout, statut succes/echec, conservation conforme a la politique de retention RGPD interne</a:t>
            </a:r>
            <a:endParaRPr lang="en-US" sz="135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Corrige TP4 · Module 4</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9144000" cy="5486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Bilan de fin de Jour 2</a:t>
            </a:r>
            <a:endParaRPr lang="en-US" sz="2600" dirty="0"/>
          </a:p>
        </p:txBody>
      </p:sp>
      <p:sp>
        <p:nvSpPr>
          <p:cNvPr id="3" name="Shape 1"/>
          <p:cNvSpPr/>
          <p:nvPr/>
        </p:nvSpPr>
        <p:spPr>
          <a:xfrm>
            <a:off x="548640" y="2532793"/>
            <a:ext cx="11094415" cy="1883854"/>
          </a:xfrm>
          <a:prstGeom prst="roundRect">
            <a:avLst>
              <a:gd name="adj" fmla="val 3883"/>
            </a:avLst>
          </a:prstGeom>
          <a:solidFill>
            <a:srgbClr val="F3F6FC"/>
          </a:solidFill>
          <a:ln/>
        </p:spPr>
      </p:sp>
      <p:sp>
        <p:nvSpPr>
          <p:cNvPr id="4" name="Text 2"/>
          <p:cNvSpPr/>
          <p:nvPr/>
        </p:nvSpPr>
        <p:spPr>
          <a:xfrm>
            <a:off x="914400" y="2852833"/>
            <a:ext cx="10362895" cy="1243775"/>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Maitrise des appels a l'API d'un LLM depuis Python (parametres, parsing, validation)</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Orchestration de plusieurs appels avec LangChain : chaines, memoire, logging</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Bonne pratique : ne jamais exposer une cle d'API dans le code</a:t>
            </a:r>
            <a:endParaRPr lang="en-US" sz="1500" dirty="0"/>
          </a:p>
        </p:txBody>
      </p:sp>
      <p:sp>
        <p:nvSpPr>
          <p:cNvPr id="6" name="Text 3"/>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7" name="Text 4"/>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Bilan J2</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73A"/>
        </a:solidFill>
      </p:bgPr>
    </p:bg>
    <p:spTree>
      <p:nvGrpSpPr>
        <p:cNvPr id="1" name=""/>
        <p:cNvGrpSpPr/>
        <p:nvPr/>
      </p:nvGrpSpPr>
      <p:grpSpPr>
        <a:xfrm>
          <a:off x="0" y="0"/>
          <a:ext cx="0" cy="0"/>
          <a:chOff x="0" y="0"/>
          <a:chExt cx="0" cy="0"/>
        </a:xfrm>
      </p:grpSpPr>
      <p:sp>
        <p:nvSpPr>
          <p:cNvPr id="2" name="Shape 0"/>
          <p:cNvSpPr/>
          <p:nvPr/>
        </p:nvSpPr>
        <p:spPr>
          <a:xfrm>
            <a:off x="9052560" y="2651760"/>
            <a:ext cx="5120640" cy="5120640"/>
          </a:xfrm>
          <a:prstGeom prst="ellipse">
            <a:avLst/>
          </a:prstGeom>
          <a:solidFill>
            <a:srgbClr val="1E2761"/>
          </a:solidFill>
          <a:ln/>
        </p:spPr>
      </p:sp>
      <p:pic>
        <p:nvPicPr>
          <p:cNvPr id="3" name="Image 0" descr="/home/claude/formation-genai-de/assets/png/icon-database-gold.png">    </p:cNvPr>
          <p:cNvPicPr>
            <a:picLocks noChangeAspect="1"/>
          </p:cNvPicPr>
          <p:nvPr/>
        </p:nvPicPr>
        <p:blipFill>
          <a:blip r:embed="rId1"/>
          <a:stretch>
            <a:fillRect/>
          </a:stretch>
        </p:blipFill>
        <p:spPr>
          <a:xfrm>
            <a:off x="10149840" y="3749040"/>
            <a:ext cx="2377440" cy="2377440"/>
          </a:xfrm>
          <a:prstGeom prst="rect">
            <a:avLst/>
          </a:prstGeom>
        </p:spPr>
      </p:pic>
      <p:sp>
        <p:nvSpPr>
          <p:cNvPr id="4" name="Text 1"/>
          <p:cNvSpPr/>
          <p:nvPr/>
        </p:nvSpPr>
        <p:spPr>
          <a:xfrm>
            <a:off x="548640" y="2286000"/>
            <a:ext cx="7315200" cy="365760"/>
          </a:xfrm>
          <a:prstGeom prst="rect">
            <a:avLst/>
          </a:prstGeom>
          <a:noFill/>
          <a:ln/>
        </p:spPr>
        <p:txBody>
          <a:bodyPr wrap="square" lIns="0" tIns="0" rIns="0" bIns="0" rtlCol="0" anchor="ctr"/>
          <a:lstStyle/>
          <a:p>
            <a:pPr indent="0" marL="0">
              <a:buNone/>
            </a:pPr>
            <a:r>
              <a:rPr lang="en-US" sz="1300" b="1" spc="300" kern="0" dirty="0">
                <a:solidFill>
                  <a:srgbClr val="F2B134"/>
                </a:solidFill>
                <a:latin typeface="Calibri" pitchFamily="34" charset="0"/>
                <a:ea typeface="Calibri" pitchFamily="34" charset="-122"/>
                <a:cs typeface="Calibri" pitchFamily="34" charset="-120"/>
              </a:rPr>
              <a:t>JOUR 3</a:t>
            </a:r>
            <a:endParaRPr lang="en-US" sz="1300" dirty="0"/>
          </a:p>
        </p:txBody>
      </p:sp>
      <p:sp>
        <p:nvSpPr>
          <p:cNvPr id="5" name="Text 2"/>
          <p:cNvSpPr/>
          <p:nvPr/>
        </p:nvSpPr>
        <p:spPr>
          <a:xfrm>
            <a:off x="548640" y="2651760"/>
            <a:ext cx="8595360" cy="118872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Generation et evaluation de donnees synthetiques</a:t>
            </a:r>
            <a:endParaRPr lang="en-US" sz="3000" dirty="0"/>
          </a:p>
        </p:txBody>
      </p:sp>
      <p:sp>
        <p:nvSpPr>
          <p:cNvPr id="6" name="Text 3"/>
          <p:cNvSpPr/>
          <p:nvPr/>
        </p:nvSpPr>
        <p:spPr>
          <a:xfrm>
            <a:off x="548640" y="3794760"/>
            <a:ext cx="82296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7 heures - 9h00-12h30 / 13h30-17h00</a:t>
            </a:r>
            <a:endParaRPr lang="en-US" sz="1400" dirty="0"/>
          </a:p>
        </p:txBody>
      </p:sp>
      <p:sp>
        <p:nvSpPr>
          <p:cNvPr id="7" name="Text 4"/>
          <p:cNvSpPr/>
          <p:nvPr/>
        </p:nvSpPr>
        <p:spPr>
          <a:xfrm>
            <a:off x="548640" y="4434840"/>
            <a:ext cx="8229600" cy="137160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Module 5 - Generation de donnees synthetiques (3h30)</a:t>
            </a:r>
            <a:endParaRPr lang="en-US" sz="1300" dirty="0"/>
          </a:p>
          <a:p>
            <a:pPr marL="203200" indent="-203200">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Module 6 - Evaluation de la qualite de sortie (3h30)</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234440" y="457200"/>
            <a:ext cx="941832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Generation de donnees synthetiques</a:t>
            </a:r>
            <a:endParaRPr lang="en-US" sz="2100" dirty="0"/>
          </a:p>
        </p:txBody>
      </p:sp>
      <p:sp>
        <p:nvSpPr>
          <p:cNvPr id="5" name="Text 3"/>
          <p:cNvSpPr/>
          <p:nvPr/>
        </p:nvSpPr>
        <p:spPr>
          <a:xfrm>
            <a:off x="548640" y="1143000"/>
            <a:ext cx="11094415" cy="457200"/>
          </a:xfrm>
          <a:prstGeom prst="rect">
            <a:avLst/>
          </a:prstGeom>
          <a:noFill/>
          <a:ln/>
        </p:spPr>
        <p:txBody>
          <a:bodyPr wrap="square" lIns="0" tIns="0" rIns="0" bIns="0" rtlCol="0" anchor="ctr"/>
          <a:lstStyle/>
          <a:p>
            <a:pPr indent="0" marL="0">
              <a:buNone/>
            </a:pPr>
            <a:r>
              <a:rPr lang="en-US" sz="1250" i="1" dirty="0">
                <a:solidFill>
                  <a:srgbClr val="7C8194"/>
                </a:solidFill>
                <a:latin typeface="Calibri" pitchFamily="34" charset="0"/>
                <a:ea typeface="Calibri" pitchFamily="34" charset="-122"/>
                <a:cs typeface="Calibri" pitchFamily="34" charset="-120"/>
              </a:rPr>
              <a:t>Objectif : Generer des donnees synthetiques conformes a un schema cible, dans le respect du RGPD.</a:t>
            </a:r>
            <a:endParaRPr lang="en-US" sz="1250" dirty="0"/>
          </a:p>
        </p:txBody>
      </p:sp>
      <p:sp>
        <p:nvSpPr>
          <p:cNvPr id="6" name="Text 4"/>
          <p:cNvSpPr/>
          <p:nvPr/>
        </p:nvSpPr>
        <p:spPr>
          <a:xfrm>
            <a:off x="548640" y="1737360"/>
            <a:ext cx="11094415" cy="438912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Cas d'usage de la generation : jeux de test, environnements de recette, anonymisation par substitution, equilibrage de classes rares en ML</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Methodes d'augmentation de donnees : generation par prompt structure, bibliotheques specialisees (Faker couple a un LLM, Synthetic Data Vault), generation conditionnelle</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Generation de schemas conformes : JSON Schema pour structurer la sortie, generation de DDL SQL conforme a un schema de donnees existant</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Validation des jeux synthetiques : coherence referentielle (cles etrangeres), respect des contraintes metier, absence de fuite de donnees reelles</a:t>
            </a:r>
            <a:endParaRPr lang="en-US" sz="150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234440" y="457200"/>
            <a:ext cx="822960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Generation de donnees synthetiques · Schema</a:t>
            </a:r>
            <a:endParaRPr lang="en-US" sz="2100" dirty="0"/>
          </a:p>
        </p:txBody>
      </p:sp>
      <p:sp>
        <p:nvSpPr>
          <p:cNvPr id="5" name="Text 3"/>
          <p:cNvSpPr/>
          <p:nvPr/>
        </p:nvSpPr>
        <p:spPr>
          <a:xfrm>
            <a:off x="9357055" y="502920"/>
            <a:ext cx="2286000" cy="274320"/>
          </a:xfrm>
          <a:prstGeom prst="rect">
            <a:avLst/>
          </a:prstGeom>
          <a:noFill/>
          <a:ln/>
        </p:spPr>
        <p:txBody>
          <a:bodyPr wrap="square" lIns="0" tIns="0" rIns="0" bIns="0" rtlCol="0" anchor="ctr"/>
          <a:lstStyle/>
          <a:p>
            <a:pPr algn="r" indent="0" marL="0">
              <a:buNone/>
            </a:pPr>
            <a:r>
              <a:rPr lang="en-US" sz="1000" b="1" spc="200" kern="0" dirty="0">
                <a:solidFill>
                  <a:srgbClr val="1E2761"/>
                </a:solidFill>
                <a:latin typeface="Calibri" pitchFamily="34" charset="0"/>
                <a:ea typeface="Calibri" pitchFamily="34" charset="-122"/>
                <a:cs typeface="Calibri" pitchFamily="34" charset="-120"/>
              </a:rPr>
              <a:t>SCHEMA</a:t>
            </a:r>
            <a:endParaRPr lang="en-US" sz="1000" dirty="0"/>
          </a:p>
        </p:txBody>
      </p:sp>
      <p:sp>
        <p:nvSpPr>
          <p:cNvPr id="6" name="Shape 4"/>
          <p:cNvSpPr/>
          <p:nvPr/>
        </p:nvSpPr>
        <p:spPr>
          <a:xfrm>
            <a:off x="548640" y="1783080"/>
            <a:ext cx="1429969" cy="868680"/>
          </a:xfrm>
          <a:prstGeom prst="roundRect">
            <a:avLst>
              <a:gd name="adj" fmla="val 8421"/>
            </a:avLst>
          </a:prstGeom>
          <a:solidFill>
            <a:srgbClr val="F3F6FC"/>
          </a:solidFill>
          <a:ln w="12700">
            <a:solidFill>
              <a:srgbClr val="1E2761"/>
            </a:solidFill>
            <a:prstDash val="solid"/>
          </a:ln>
        </p:spPr>
      </p:sp>
      <p:sp>
        <p:nvSpPr>
          <p:cNvPr id="7" name="Text 5"/>
          <p:cNvSpPr/>
          <p:nvPr/>
        </p:nvSpPr>
        <p:spPr>
          <a:xfrm>
            <a:off x="621792" y="1911096"/>
            <a:ext cx="1283665"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Schema cible (JSON Schema / DDL)</a:t>
            </a:r>
            <a:endParaRPr lang="en-US" sz="1050" dirty="0"/>
          </a:p>
        </p:txBody>
      </p:sp>
      <p:sp>
        <p:nvSpPr>
          <p:cNvPr id="8" name="Shape 6"/>
          <p:cNvSpPr/>
          <p:nvPr/>
        </p:nvSpPr>
        <p:spPr>
          <a:xfrm>
            <a:off x="1035025" y="1554480"/>
            <a:ext cx="457200" cy="457200"/>
          </a:xfrm>
          <a:prstGeom prst="ellipse">
            <a:avLst/>
          </a:prstGeom>
          <a:solidFill>
            <a:srgbClr val="1E2761"/>
          </a:solidFill>
          <a:ln w="25400">
            <a:solidFill>
              <a:srgbClr val="FFFFFF"/>
            </a:solidFill>
            <a:prstDash val="solid"/>
          </a:ln>
        </p:spPr>
      </p:sp>
      <p:pic>
        <p:nvPicPr>
          <p:cNvPr id="9" name="Image 0" descr="/home/claude/formation-genai-de/assets/png/icon-braces-white.png">    </p:cNvPr>
          <p:cNvPicPr>
            <a:picLocks noChangeAspect="1"/>
          </p:cNvPicPr>
          <p:nvPr/>
        </p:nvPicPr>
        <p:blipFill>
          <a:blip r:embed="rId1"/>
          <a:stretch>
            <a:fillRect/>
          </a:stretch>
        </p:blipFill>
        <p:spPr>
          <a:xfrm>
            <a:off x="1135609" y="1655064"/>
            <a:ext cx="256032" cy="256032"/>
          </a:xfrm>
          <a:prstGeom prst="rect">
            <a:avLst/>
          </a:prstGeom>
        </p:spPr>
      </p:pic>
      <p:sp>
        <p:nvSpPr>
          <p:cNvPr id="10" name="Shape 7"/>
          <p:cNvSpPr/>
          <p:nvPr/>
        </p:nvSpPr>
        <p:spPr>
          <a:xfrm>
            <a:off x="1978609" y="2144268"/>
            <a:ext cx="457200" cy="146304"/>
          </a:xfrm>
          <a:prstGeom prst="rightArrow">
            <a:avLst/>
          </a:prstGeom>
          <a:solidFill>
            <a:srgbClr val="F2B134"/>
          </a:solidFill>
          <a:ln/>
        </p:spPr>
      </p:sp>
      <p:sp>
        <p:nvSpPr>
          <p:cNvPr id="11" name="Shape 8"/>
          <p:cNvSpPr/>
          <p:nvPr/>
        </p:nvSpPr>
        <p:spPr>
          <a:xfrm>
            <a:off x="2481529" y="1783080"/>
            <a:ext cx="1429969" cy="868680"/>
          </a:xfrm>
          <a:prstGeom prst="roundRect">
            <a:avLst>
              <a:gd name="adj" fmla="val 8421"/>
            </a:avLst>
          </a:prstGeom>
          <a:solidFill>
            <a:srgbClr val="F3F6FC"/>
          </a:solidFill>
          <a:ln w="12700">
            <a:solidFill>
              <a:srgbClr val="1E2761"/>
            </a:solidFill>
            <a:prstDash val="solid"/>
          </a:ln>
        </p:spPr>
      </p:sp>
      <p:sp>
        <p:nvSpPr>
          <p:cNvPr id="12" name="Text 9"/>
          <p:cNvSpPr/>
          <p:nvPr/>
        </p:nvSpPr>
        <p:spPr>
          <a:xfrm>
            <a:off x="2554681" y="1911096"/>
            <a:ext cx="1283665"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Prompt de generation</a:t>
            </a:r>
            <a:endParaRPr lang="en-US" sz="1050" dirty="0"/>
          </a:p>
        </p:txBody>
      </p:sp>
      <p:sp>
        <p:nvSpPr>
          <p:cNvPr id="13" name="Shape 10"/>
          <p:cNvSpPr/>
          <p:nvPr/>
        </p:nvSpPr>
        <p:spPr>
          <a:xfrm>
            <a:off x="2967914" y="1554480"/>
            <a:ext cx="457200" cy="457200"/>
          </a:xfrm>
          <a:prstGeom prst="ellipse">
            <a:avLst/>
          </a:prstGeom>
          <a:solidFill>
            <a:srgbClr val="1E2761"/>
          </a:solidFill>
          <a:ln w="25400">
            <a:solidFill>
              <a:srgbClr val="FFFFFF"/>
            </a:solidFill>
            <a:prstDash val="solid"/>
          </a:ln>
        </p:spPr>
      </p:sp>
      <p:pic>
        <p:nvPicPr>
          <p:cNvPr id="14" name="Image 1" descr="/home/claude/formation-genai-de/assets/png/icon-message-2-white.png">    </p:cNvPr>
          <p:cNvPicPr>
            <a:picLocks noChangeAspect="1"/>
          </p:cNvPicPr>
          <p:nvPr/>
        </p:nvPicPr>
        <p:blipFill>
          <a:blip r:embed="rId2"/>
          <a:stretch>
            <a:fillRect/>
          </a:stretch>
        </p:blipFill>
        <p:spPr>
          <a:xfrm>
            <a:off x="3068498" y="1655064"/>
            <a:ext cx="256032" cy="256032"/>
          </a:xfrm>
          <a:prstGeom prst="rect">
            <a:avLst/>
          </a:prstGeom>
        </p:spPr>
      </p:pic>
      <p:sp>
        <p:nvSpPr>
          <p:cNvPr id="15" name="Shape 11"/>
          <p:cNvSpPr/>
          <p:nvPr/>
        </p:nvSpPr>
        <p:spPr>
          <a:xfrm>
            <a:off x="3911498" y="2144268"/>
            <a:ext cx="457200" cy="146304"/>
          </a:xfrm>
          <a:prstGeom prst="rightArrow">
            <a:avLst/>
          </a:prstGeom>
          <a:solidFill>
            <a:srgbClr val="F2B134"/>
          </a:solidFill>
          <a:ln/>
        </p:spPr>
      </p:sp>
      <p:sp>
        <p:nvSpPr>
          <p:cNvPr id="16" name="Shape 12"/>
          <p:cNvSpPr/>
          <p:nvPr/>
        </p:nvSpPr>
        <p:spPr>
          <a:xfrm>
            <a:off x="4414418" y="1783080"/>
            <a:ext cx="1429969" cy="868680"/>
          </a:xfrm>
          <a:prstGeom prst="roundRect">
            <a:avLst>
              <a:gd name="adj" fmla="val 8421"/>
            </a:avLst>
          </a:prstGeom>
          <a:solidFill>
            <a:srgbClr val="F3F6FC"/>
          </a:solidFill>
          <a:ln w="12700">
            <a:solidFill>
              <a:srgbClr val="1E2761"/>
            </a:solidFill>
            <a:prstDash val="solid"/>
          </a:ln>
        </p:spPr>
      </p:sp>
      <p:sp>
        <p:nvSpPr>
          <p:cNvPr id="17" name="Text 13"/>
          <p:cNvSpPr/>
          <p:nvPr/>
        </p:nvSpPr>
        <p:spPr>
          <a:xfrm>
            <a:off x="4487570" y="1911096"/>
            <a:ext cx="1283665"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LLM</a:t>
            </a:r>
            <a:endParaRPr lang="en-US" sz="1050" dirty="0"/>
          </a:p>
        </p:txBody>
      </p:sp>
      <p:sp>
        <p:nvSpPr>
          <p:cNvPr id="18" name="Shape 14"/>
          <p:cNvSpPr/>
          <p:nvPr/>
        </p:nvSpPr>
        <p:spPr>
          <a:xfrm>
            <a:off x="4900803" y="1554480"/>
            <a:ext cx="457200" cy="457200"/>
          </a:xfrm>
          <a:prstGeom prst="ellipse">
            <a:avLst/>
          </a:prstGeom>
          <a:solidFill>
            <a:srgbClr val="1E2761"/>
          </a:solidFill>
          <a:ln w="25400">
            <a:solidFill>
              <a:srgbClr val="FFFFFF"/>
            </a:solidFill>
            <a:prstDash val="solid"/>
          </a:ln>
        </p:spPr>
      </p:sp>
      <p:pic>
        <p:nvPicPr>
          <p:cNvPr id="19" name="Image 2" descr="/home/claude/formation-genai-de/assets/png/icon-cpu-white.png">    </p:cNvPr>
          <p:cNvPicPr>
            <a:picLocks noChangeAspect="1"/>
          </p:cNvPicPr>
          <p:nvPr/>
        </p:nvPicPr>
        <p:blipFill>
          <a:blip r:embed="rId3"/>
          <a:stretch>
            <a:fillRect/>
          </a:stretch>
        </p:blipFill>
        <p:spPr>
          <a:xfrm>
            <a:off x="5001387" y="1655064"/>
            <a:ext cx="256032" cy="256032"/>
          </a:xfrm>
          <a:prstGeom prst="rect">
            <a:avLst/>
          </a:prstGeom>
        </p:spPr>
      </p:pic>
      <p:sp>
        <p:nvSpPr>
          <p:cNvPr id="20" name="Shape 15"/>
          <p:cNvSpPr/>
          <p:nvPr/>
        </p:nvSpPr>
        <p:spPr>
          <a:xfrm>
            <a:off x="5844388" y="2144268"/>
            <a:ext cx="457200" cy="146304"/>
          </a:xfrm>
          <a:prstGeom prst="rightArrow">
            <a:avLst/>
          </a:prstGeom>
          <a:solidFill>
            <a:srgbClr val="F2B134"/>
          </a:solidFill>
          <a:ln/>
        </p:spPr>
      </p:sp>
      <p:sp>
        <p:nvSpPr>
          <p:cNvPr id="21" name="Shape 16"/>
          <p:cNvSpPr/>
          <p:nvPr/>
        </p:nvSpPr>
        <p:spPr>
          <a:xfrm>
            <a:off x="6347308" y="1783080"/>
            <a:ext cx="1429969" cy="868680"/>
          </a:xfrm>
          <a:prstGeom prst="roundRect">
            <a:avLst>
              <a:gd name="adj" fmla="val 8421"/>
            </a:avLst>
          </a:prstGeom>
          <a:solidFill>
            <a:srgbClr val="F3F6FC"/>
          </a:solidFill>
          <a:ln w="12700">
            <a:solidFill>
              <a:srgbClr val="1E2761"/>
            </a:solidFill>
            <a:prstDash val="solid"/>
          </a:ln>
        </p:spPr>
      </p:sp>
      <p:sp>
        <p:nvSpPr>
          <p:cNvPr id="22" name="Text 17"/>
          <p:cNvSpPr/>
          <p:nvPr/>
        </p:nvSpPr>
        <p:spPr>
          <a:xfrm>
            <a:off x="6420460" y="1911096"/>
            <a:ext cx="1283665"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Donnees brutes</a:t>
            </a:r>
            <a:endParaRPr lang="en-US" sz="1050" dirty="0"/>
          </a:p>
        </p:txBody>
      </p:sp>
      <p:sp>
        <p:nvSpPr>
          <p:cNvPr id="23" name="Shape 18"/>
          <p:cNvSpPr/>
          <p:nvPr/>
        </p:nvSpPr>
        <p:spPr>
          <a:xfrm>
            <a:off x="6833692" y="1554480"/>
            <a:ext cx="457200" cy="457200"/>
          </a:xfrm>
          <a:prstGeom prst="ellipse">
            <a:avLst/>
          </a:prstGeom>
          <a:solidFill>
            <a:srgbClr val="1E2761"/>
          </a:solidFill>
          <a:ln w="25400">
            <a:solidFill>
              <a:srgbClr val="FFFFFF"/>
            </a:solidFill>
            <a:prstDash val="solid"/>
          </a:ln>
        </p:spPr>
      </p:sp>
      <p:pic>
        <p:nvPicPr>
          <p:cNvPr id="24" name="Image 3" descr="/home/claude/formation-genai-de/assets/png/icon-database-white.png">    </p:cNvPr>
          <p:cNvPicPr>
            <a:picLocks noChangeAspect="1"/>
          </p:cNvPicPr>
          <p:nvPr/>
        </p:nvPicPr>
        <p:blipFill>
          <a:blip r:embed="rId4"/>
          <a:stretch>
            <a:fillRect/>
          </a:stretch>
        </p:blipFill>
        <p:spPr>
          <a:xfrm>
            <a:off x="6934276" y="1655064"/>
            <a:ext cx="256032" cy="256032"/>
          </a:xfrm>
          <a:prstGeom prst="rect">
            <a:avLst/>
          </a:prstGeom>
        </p:spPr>
      </p:pic>
      <p:sp>
        <p:nvSpPr>
          <p:cNvPr id="25" name="Shape 19"/>
          <p:cNvSpPr/>
          <p:nvPr/>
        </p:nvSpPr>
        <p:spPr>
          <a:xfrm>
            <a:off x="7777277" y="2144268"/>
            <a:ext cx="457200" cy="146304"/>
          </a:xfrm>
          <a:prstGeom prst="rightArrow">
            <a:avLst/>
          </a:prstGeom>
          <a:solidFill>
            <a:srgbClr val="F2B134"/>
          </a:solidFill>
          <a:ln/>
        </p:spPr>
      </p:sp>
      <p:sp>
        <p:nvSpPr>
          <p:cNvPr id="26" name="Shape 20"/>
          <p:cNvSpPr/>
          <p:nvPr/>
        </p:nvSpPr>
        <p:spPr>
          <a:xfrm>
            <a:off x="8280197" y="1783080"/>
            <a:ext cx="1429969" cy="868680"/>
          </a:xfrm>
          <a:prstGeom prst="roundRect">
            <a:avLst>
              <a:gd name="adj" fmla="val 8421"/>
            </a:avLst>
          </a:prstGeom>
          <a:solidFill>
            <a:srgbClr val="F3F6FC"/>
          </a:solidFill>
          <a:ln w="12700">
            <a:solidFill>
              <a:srgbClr val="1E2761"/>
            </a:solidFill>
            <a:prstDash val="solid"/>
          </a:ln>
        </p:spPr>
      </p:sp>
      <p:sp>
        <p:nvSpPr>
          <p:cNvPr id="27" name="Text 21"/>
          <p:cNvSpPr/>
          <p:nvPr/>
        </p:nvSpPr>
        <p:spPr>
          <a:xfrm>
            <a:off x="8353349" y="1911096"/>
            <a:ext cx="1283665"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Validation (schema + contraintes)</a:t>
            </a:r>
            <a:endParaRPr lang="en-US" sz="1050" dirty="0"/>
          </a:p>
        </p:txBody>
      </p:sp>
      <p:sp>
        <p:nvSpPr>
          <p:cNvPr id="28" name="Shape 22"/>
          <p:cNvSpPr/>
          <p:nvPr/>
        </p:nvSpPr>
        <p:spPr>
          <a:xfrm>
            <a:off x="8766581" y="1554480"/>
            <a:ext cx="457200" cy="457200"/>
          </a:xfrm>
          <a:prstGeom prst="ellipse">
            <a:avLst/>
          </a:prstGeom>
          <a:solidFill>
            <a:srgbClr val="1E2761"/>
          </a:solidFill>
          <a:ln w="25400">
            <a:solidFill>
              <a:srgbClr val="FFFFFF"/>
            </a:solidFill>
            <a:prstDash val="solid"/>
          </a:ln>
        </p:spPr>
      </p:sp>
      <p:pic>
        <p:nvPicPr>
          <p:cNvPr id="29" name="Image 4" descr="/home/claude/formation-genai-de/assets/png/icon-circle-check-white.png">    </p:cNvPr>
          <p:cNvPicPr>
            <a:picLocks noChangeAspect="1"/>
          </p:cNvPicPr>
          <p:nvPr/>
        </p:nvPicPr>
        <p:blipFill>
          <a:blip r:embed="rId5"/>
          <a:stretch>
            <a:fillRect/>
          </a:stretch>
        </p:blipFill>
        <p:spPr>
          <a:xfrm>
            <a:off x="8867165" y="1655064"/>
            <a:ext cx="256032" cy="256032"/>
          </a:xfrm>
          <a:prstGeom prst="rect">
            <a:avLst/>
          </a:prstGeom>
        </p:spPr>
      </p:pic>
      <p:sp>
        <p:nvSpPr>
          <p:cNvPr id="30" name="Shape 23"/>
          <p:cNvSpPr/>
          <p:nvPr/>
        </p:nvSpPr>
        <p:spPr>
          <a:xfrm>
            <a:off x="9710166" y="2144268"/>
            <a:ext cx="457200" cy="146304"/>
          </a:xfrm>
          <a:prstGeom prst="rightArrow">
            <a:avLst/>
          </a:prstGeom>
          <a:solidFill>
            <a:srgbClr val="F2B134"/>
          </a:solidFill>
          <a:ln/>
        </p:spPr>
      </p:sp>
      <p:sp>
        <p:nvSpPr>
          <p:cNvPr id="31" name="Shape 24"/>
          <p:cNvSpPr/>
          <p:nvPr/>
        </p:nvSpPr>
        <p:spPr>
          <a:xfrm>
            <a:off x="10213086" y="1783080"/>
            <a:ext cx="1429969" cy="868680"/>
          </a:xfrm>
          <a:prstGeom prst="roundRect">
            <a:avLst>
              <a:gd name="adj" fmla="val 8421"/>
            </a:avLst>
          </a:prstGeom>
          <a:solidFill>
            <a:srgbClr val="1E2761"/>
          </a:solidFill>
          <a:ln w="12700">
            <a:solidFill>
              <a:srgbClr val="1E2761"/>
            </a:solidFill>
            <a:prstDash val="solid"/>
          </a:ln>
        </p:spPr>
      </p:sp>
      <p:sp>
        <p:nvSpPr>
          <p:cNvPr id="32" name="Text 25"/>
          <p:cNvSpPr/>
          <p:nvPr/>
        </p:nvSpPr>
        <p:spPr>
          <a:xfrm>
            <a:off x="10286238" y="1911096"/>
            <a:ext cx="1283665"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Jeu de donnees valide</a:t>
            </a:r>
            <a:endParaRPr lang="en-US" sz="1050" dirty="0"/>
          </a:p>
        </p:txBody>
      </p:sp>
      <p:sp>
        <p:nvSpPr>
          <p:cNvPr id="33" name="Shape 26"/>
          <p:cNvSpPr/>
          <p:nvPr/>
        </p:nvSpPr>
        <p:spPr>
          <a:xfrm>
            <a:off x="10699471" y="1554480"/>
            <a:ext cx="457200" cy="457200"/>
          </a:xfrm>
          <a:prstGeom prst="ellipse">
            <a:avLst/>
          </a:prstGeom>
          <a:solidFill>
            <a:srgbClr val="F2B134"/>
          </a:solidFill>
          <a:ln w="25400">
            <a:solidFill>
              <a:srgbClr val="FFFFFF"/>
            </a:solidFill>
            <a:prstDash val="solid"/>
          </a:ln>
        </p:spPr>
      </p:sp>
      <p:pic>
        <p:nvPicPr>
          <p:cNvPr id="34" name="Image 5" descr="/home/claude/formation-genai-de/assets/png/icon-checklist-navy.png">    </p:cNvPr>
          <p:cNvPicPr>
            <a:picLocks noChangeAspect="1"/>
          </p:cNvPicPr>
          <p:nvPr/>
        </p:nvPicPr>
        <p:blipFill>
          <a:blip r:embed="rId6"/>
          <a:stretch>
            <a:fillRect/>
          </a:stretch>
        </p:blipFill>
        <p:spPr>
          <a:xfrm>
            <a:off x="10800055" y="1655064"/>
            <a:ext cx="256032" cy="256032"/>
          </a:xfrm>
          <a:prstGeom prst="rect">
            <a:avLst/>
          </a:prstGeom>
        </p:spPr>
      </p:pic>
      <p:sp>
        <p:nvSpPr>
          <p:cNvPr id="36" name="Text 27"/>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37" name="Text 28"/>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094415" cy="1051560"/>
          </a:xfrm>
          <a:prstGeom prst="roundRect">
            <a:avLst>
              <a:gd name="adj" fmla="val 5217"/>
            </a:avLst>
          </a:prstGeom>
          <a:solidFill>
            <a:srgbClr val="1E2761"/>
          </a:solidFill>
          <a:ln/>
        </p:spPr>
      </p:sp>
      <p:sp>
        <p:nvSpPr>
          <p:cNvPr id="3" name="Text 1"/>
          <p:cNvSpPr/>
          <p:nvPr/>
        </p:nvSpPr>
        <p:spPr>
          <a:xfrm>
            <a:off x="822960" y="548640"/>
            <a:ext cx="7315200" cy="274320"/>
          </a:xfrm>
          <a:prstGeom prst="rect">
            <a:avLst/>
          </a:prstGeom>
          <a:noFill/>
          <a:ln/>
        </p:spPr>
        <p:txBody>
          <a:bodyPr wrap="square" lIns="0" tIns="0" rIns="0" bIns="0" rtlCol="0" anchor="ctr"/>
          <a:lstStyle/>
          <a:p>
            <a:pPr indent="0" marL="0">
              <a:buNone/>
            </a:pPr>
            <a:r>
              <a:rPr lang="en-US" sz="1200" b="1" spc="150" kern="0" dirty="0">
                <a:solidFill>
                  <a:srgbClr val="F2B134"/>
                </a:solidFill>
                <a:latin typeface="Calibri" pitchFamily="34" charset="0"/>
                <a:ea typeface="Calibri" pitchFamily="34" charset="-122"/>
                <a:cs typeface="Calibri" pitchFamily="34" charset="-120"/>
              </a:rPr>
              <a:t>TRAVAUX PRATIQUES  N°5</a:t>
            </a:r>
            <a:endParaRPr lang="en-US" sz="1200" dirty="0"/>
          </a:p>
        </p:txBody>
      </p:sp>
      <p:sp>
        <p:nvSpPr>
          <p:cNvPr id="4" name="Text 2"/>
          <p:cNvSpPr/>
          <p:nvPr/>
        </p:nvSpPr>
        <p:spPr>
          <a:xfrm>
            <a:off x="822960" y="804672"/>
            <a:ext cx="777240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Generation d'un dataset RH conforme RGPD</a:t>
            </a:r>
            <a:endParaRPr lang="en-US" sz="1800" dirty="0"/>
          </a:p>
        </p:txBody>
      </p:sp>
      <p:sp>
        <p:nvSpPr>
          <p:cNvPr id="5" name="Text 3"/>
          <p:cNvSpPr/>
          <p:nvPr/>
        </p:nvSpPr>
        <p:spPr>
          <a:xfrm>
            <a:off x="9265615" y="548640"/>
            <a:ext cx="2103120" cy="274320"/>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Duree : 70 min</a:t>
            </a:r>
            <a:endParaRPr lang="en-US" sz="1150" dirty="0"/>
          </a:p>
        </p:txBody>
      </p:sp>
      <p:sp>
        <p:nvSpPr>
          <p:cNvPr id="6" name="Text 4"/>
          <p:cNvSpPr/>
          <p:nvPr/>
        </p:nvSpPr>
        <p:spPr>
          <a:xfrm>
            <a:off x="548640" y="1783080"/>
            <a:ext cx="54864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Consignes</a:t>
            </a:r>
            <a:endParaRPr lang="en-US" sz="1400" dirty="0"/>
          </a:p>
        </p:txBody>
      </p:sp>
      <p:sp>
        <p:nvSpPr>
          <p:cNvPr id="7" name="Text 5"/>
          <p:cNvSpPr/>
          <p:nvPr/>
        </p:nvSpPr>
        <p:spPr>
          <a:xfrm>
            <a:off x="548640" y="2194560"/>
            <a:ext cx="11094415" cy="384048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Definir un schema de donnees RH (matricule, nom, prenom, date de naissance, poste, departement, date d'entree)</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Rediger un prompt de generation produisant N enregistrements respectant ce schema, avec des valeurs realistes mais entierement fictives</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Verifier la coherence des donnees generees (types, plages de valeurs, unicite du matricule)</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Documenter comment garantir qu'aucune donnee reelle ne s'est glissee dans le jeu genere</a:t>
            </a:r>
            <a:endParaRPr lang="en-US" sz="1400" dirty="0"/>
          </a:p>
        </p:txBody>
      </p:sp>
      <p:sp>
        <p:nvSpPr>
          <p:cNvPr id="9" name="Text 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0" name="Text 7"/>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TP5 · Module 5</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48640" cy="548640"/>
          </a:xfrm>
          <a:prstGeom prst="ellipse">
            <a:avLst/>
          </a:prstGeom>
          <a:solidFill>
            <a:srgbClr val="2E7D32"/>
          </a:solidFill>
          <a:ln/>
        </p:spPr>
      </p:sp>
      <p:sp>
        <p:nvSpPr>
          <p:cNvPr id="3" name="Text 1"/>
          <p:cNvSpPr/>
          <p:nvPr/>
        </p:nvSpPr>
        <p:spPr>
          <a:xfrm>
            <a:off x="548640" y="411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4" name="Text 2"/>
          <p:cNvSpPr/>
          <p:nvPr/>
        </p:nvSpPr>
        <p:spPr>
          <a:xfrm>
            <a:off x="1325880" y="411480"/>
            <a:ext cx="8229600" cy="54864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Elements de reponse - TP n°5</a:t>
            </a:r>
            <a:endParaRPr lang="en-US" sz="2000" dirty="0"/>
          </a:p>
        </p:txBody>
      </p:sp>
      <p:sp>
        <p:nvSpPr>
          <p:cNvPr id="5" name="Shape 3"/>
          <p:cNvSpPr/>
          <p:nvPr/>
        </p:nvSpPr>
        <p:spPr>
          <a:xfrm>
            <a:off x="548640" y="2466959"/>
            <a:ext cx="11094415" cy="2015522"/>
          </a:xfrm>
          <a:prstGeom prst="roundRect">
            <a:avLst>
              <a:gd name="adj" fmla="val 3629"/>
            </a:avLst>
          </a:prstGeom>
          <a:solidFill>
            <a:srgbClr val="F3F6FC"/>
          </a:solidFill>
          <a:ln/>
        </p:spPr>
      </p:sp>
      <p:sp>
        <p:nvSpPr>
          <p:cNvPr id="6" name="Text 4"/>
          <p:cNvSpPr/>
          <p:nvPr/>
        </p:nvSpPr>
        <p:spPr>
          <a:xfrm>
            <a:off x="868680" y="2695559"/>
            <a:ext cx="10454335" cy="1558322"/>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Prompt attendu : role + schema JSON explicite + contrainte 'toutes les personnes sont fictives, aucune ne doit correspondre a une personne reelle connue' + format de sortie en tableau JSON</a:t>
            </a:r>
            <a:endParaRPr lang="en-US" sz="1350" dirty="0"/>
          </a:p>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Comment garantir l'absence de donnees reelles : consigne explicite dans le prompt, controle croisé avec une liste noire de noms connus si disponible, relecture humaine par sondage, et interdiction de fournir au modele un exemple issu de donnees reelles en few-shot</a:t>
            </a:r>
            <a:endParaRPr lang="en-US" sz="135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Corrige TP5 · Module 5</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234440" y="457200"/>
            <a:ext cx="941832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Evaluation de la qualite de sortie</a:t>
            </a:r>
            <a:endParaRPr lang="en-US" sz="2100" dirty="0"/>
          </a:p>
        </p:txBody>
      </p:sp>
      <p:sp>
        <p:nvSpPr>
          <p:cNvPr id="5" name="Text 3"/>
          <p:cNvSpPr/>
          <p:nvPr/>
        </p:nvSpPr>
        <p:spPr>
          <a:xfrm>
            <a:off x="548640" y="1143000"/>
            <a:ext cx="11094415" cy="457200"/>
          </a:xfrm>
          <a:prstGeom prst="rect">
            <a:avLst/>
          </a:prstGeom>
          <a:noFill/>
          <a:ln/>
        </p:spPr>
        <p:txBody>
          <a:bodyPr wrap="square" lIns="0" tIns="0" rIns="0" bIns="0" rtlCol="0" anchor="ctr"/>
          <a:lstStyle/>
          <a:p>
            <a:pPr indent="0" marL="0">
              <a:buNone/>
            </a:pPr>
            <a:r>
              <a:rPr lang="en-US" sz="1250" i="1" dirty="0">
                <a:solidFill>
                  <a:srgbClr val="7C8194"/>
                </a:solidFill>
                <a:latin typeface="Calibri" pitchFamily="34" charset="0"/>
                <a:ea typeface="Calibri" pitchFamily="34" charset="-122"/>
                <a:cs typeface="Calibri" pitchFamily="34" charset="-120"/>
              </a:rPr>
              <a:t>Objectif : Evaluer et fiabiliser la qualite d'une sortie generee par un LLM.</a:t>
            </a:r>
            <a:endParaRPr lang="en-US" sz="1250" dirty="0"/>
          </a:p>
        </p:txBody>
      </p:sp>
      <p:sp>
        <p:nvSpPr>
          <p:cNvPr id="6" name="Text 4"/>
          <p:cNvSpPr/>
          <p:nvPr/>
        </p:nvSpPr>
        <p:spPr>
          <a:xfrm>
            <a:off x="548640" y="1737360"/>
            <a:ext cx="11094415" cy="438912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Metriques qualite sur donnees generees : taux de conformite au schema, diversite (absence de duplication excessive), plausibilite statistique</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Outils de validation semantique : comparaison par embeddings, LLM-as-a-judge (faire evaluer une sortie par un second appel LLM)</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Detection d'hallucinations et filtres : recoupement avec une source de verite, filtrage par regles metier, score de confiance</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Post-traitement et enrichissement : nettoyage, normalisation, complement d'information par appel API ou jointure avec un referentiel</a:t>
            </a:r>
            <a:endParaRPr lang="en-US" sz="150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234440" y="457200"/>
            <a:ext cx="822960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Evaluation de la qualite de sortie · Schema</a:t>
            </a:r>
            <a:endParaRPr lang="en-US" sz="2100" dirty="0"/>
          </a:p>
        </p:txBody>
      </p:sp>
      <p:sp>
        <p:nvSpPr>
          <p:cNvPr id="5" name="Text 3"/>
          <p:cNvSpPr/>
          <p:nvPr/>
        </p:nvSpPr>
        <p:spPr>
          <a:xfrm>
            <a:off x="9357055" y="502920"/>
            <a:ext cx="2286000" cy="274320"/>
          </a:xfrm>
          <a:prstGeom prst="rect">
            <a:avLst/>
          </a:prstGeom>
          <a:noFill/>
          <a:ln/>
        </p:spPr>
        <p:txBody>
          <a:bodyPr wrap="square" lIns="0" tIns="0" rIns="0" bIns="0" rtlCol="0" anchor="ctr"/>
          <a:lstStyle/>
          <a:p>
            <a:pPr algn="r" indent="0" marL="0">
              <a:buNone/>
            </a:pPr>
            <a:r>
              <a:rPr lang="en-US" sz="1000" b="1" spc="200" kern="0" dirty="0">
                <a:solidFill>
                  <a:srgbClr val="1E2761"/>
                </a:solidFill>
                <a:latin typeface="Calibri" pitchFamily="34" charset="0"/>
                <a:ea typeface="Calibri" pitchFamily="34" charset="-122"/>
                <a:cs typeface="Calibri" pitchFamily="34" charset="-120"/>
              </a:rPr>
              <a:t>SCHEMA</a:t>
            </a:r>
            <a:endParaRPr lang="en-US" sz="1000" dirty="0"/>
          </a:p>
        </p:txBody>
      </p:sp>
      <p:sp>
        <p:nvSpPr>
          <p:cNvPr id="6" name="Shape 4"/>
          <p:cNvSpPr/>
          <p:nvPr/>
        </p:nvSpPr>
        <p:spPr>
          <a:xfrm>
            <a:off x="548640" y="1783080"/>
            <a:ext cx="1816547" cy="868680"/>
          </a:xfrm>
          <a:prstGeom prst="roundRect">
            <a:avLst>
              <a:gd name="adj" fmla="val 8421"/>
            </a:avLst>
          </a:prstGeom>
          <a:solidFill>
            <a:srgbClr val="F3F6FC"/>
          </a:solidFill>
          <a:ln w="12700">
            <a:solidFill>
              <a:srgbClr val="1E2761"/>
            </a:solidFill>
            <a:prstDash val="solid"/>
          </a:ln>
        </p:spPr>
      </p:sp>
      <p:sp>
        <p:nvSpPr>
          <p:cNvPr id="7" name="Text 5"/>
          <p:cNvSpPr/>
          <p:nvPr/>
        </p:nvSpPr>
        <p:spPr>
          <a:xfrm>
            <a:off x="621792"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Sortie LLM</a:t>
            </a:r>
            <a:endParaRPr lang="en-US" sz="1050" dirty="0"/>
          </a:p>
        </p:txBody>
      </p:sp>
      <p:sp>
        <p:nvSpPr>
          <p:cNvPr id="8" name="Shape 6"/>
          <p:cNvSpPr/>
          <p:nvPr/>
        </p:nvSpPr>
        <p:spPr>
          <a:xfrm>
            <a:off x="1228314" y="1554480"/>
            <a:ext cx="457200" cy="457200"/>
          </a:xfrm>
          <a:prstGeom prst="ellipse">
            <a:avLst/>
          </a:prstGeom>
          <a:solidFill>
            <a:srgbClr val="1E2761"/>
          </a:solidFill>
          <a:ln w="25400">
            <a:solidFill>
              <a:srgbClr val="FFFFFF"/>
            </a:solidFill>
            <a:prstDash val="solid"/>
          </a:ln>
        </p:spPr>
      </p:sp>
      <p:pic>
        <p:nvPicPr>
          <p:cNvPr id="9" name="Image 0" descr="/home/claude/formation-genai-de/assets/png/icon-message-chatbot-white.png">    </p:cNvPr>
          <p:cNvPicPr>
            <a:picLocks noChangeAspect="1"/>
          </p:cNvPicPr>
          <p:nvPr/>
        </p:nvPicPr>
        <p:blipFill>
          <a:blip r:embed="rId1"/>
          <a:stretch>
            <a:fillRect/>
          </a:stretch>
        </p:blipFill>
        <p:spPr>
          <a:xfrm>
            <a:off x="1328898" y="1655064"/>
            <a:ext cx="256032" cy="256032"/>
          </a:xfrm>
          <a:prstGeom prst="rect">
            <a:avLst/>
          </a:prstGeom>
        </p:spPr>
      </p:pic>
      <p:sp>
        <p:nvSpPr>
          <p:cNvPr id="10" name="Shape 7"/>
          <p:cNvSpPr/>
          <p:nvPr/>
        </p:nvSpPr>
        <p:spPr>
          <a:xfrm>
            <a:off x="2365187" y="2144268"/>
            <a:ext cx="457200" cy="146304"/>
          </a:xfrm>
          <a:prstGeom prst="rightArrow">
            <a:avLst/>
          </a:prstGeom>
          <a:solidFill>
            <a:srgbClr val="F2B134"/>
          </a:solidFill>
          <a:ln/>
        </p:spPr>
      </p:sp>
      <p:sp>
        <p:nvSpPr>
          <p:cNvPr id="11" name="Shape 8"/>
          <p:cNvSpPr/>
          <p:nvPr/>
        </p:nvSpPr>
        <p:spPr>
          <a:xfrm>
            <a:off x="2868107" y="1783080"/>
            <a:ext cx="1816547" cy="868680"/>
          </a:xfrm>
          <a:prstGeom prst="roundRect">
            <a:avLst>
              <a:gd name="adj" fmla="val 8421"/>
            </a:avLst>
          </a:prstGeom>
          <a:solidFill>
            <a:srgbClr val="F3F6FC"/>
          </a:solidFill>
          <a:ln w="12700">
            <a:solidFill>
              <a:srgbClr val="1E2761"/>
            </a:solidFill>
            <a:prstDash val="solid"/>
          </a:ln>
        </p:spPr>
      </p:sp>
      <p:sp>
        <p:nvSpPr>
          <p:cNvPr id="12" name="Text 9"/>
          <p:cNvSpPr/>
          <p:nvPr/>
        </p:nvSpPr>
        <p:spPr>
          <a:xfrm>
            <a:off x="2941259"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Metriques (conformite, plausibilite, diversite)</a:t>
            </a:r>
            <a:endParaRPr lang="en-US" sz="1050" dirty="0"/>
          </a:p>
        </p:txBody>
      </p:sp>
      <p:sp>
        <p:nvSpPr>
          <p:cNvPr id="13" name="Shape 10"/>
          <p:cNvSpPr/>
          <p:nvPr/>
        </p:nvSpPr>
        <p:spPr>
          <a:xfrm>
            <a:off x="3547781" y="1554480"/>
            <a:ext cx="457200" cy="457200"/>
          </a:xfrm>
          <a:prstGeom prst="ellipse">
            <a:avLst/>
          </a:prstGeom>
          <a:solidFill>
            <a:srgbClr val="1E2761"/>
          </a:solidFill>
          <a:ln w="25400">
            <a:solidFill>
              <a:srgbClr val="FFFFFF"/>
            </a:solidFill>
            <a:prstDash val="solid"/>
          </a:ln>
        </p:spPr>
      </p:sp>
      <p:pic>
        <p:nvPicPr>
          <p:cNvPr id="14" name="Image 1" descr="/home/claude/formation-genai-de/assets/png/icon-chart-dots-white.png">    </p:cNvPr>
          <p:cNvPicPr>
            <a:picLocks noChangeAspect="1"/>
          </p:cNvPicPr>
          <p:nvPr/>
        </p:nvPicPr>
        <p:blipFill>
          <a:blip r:embed="rId2"/>
          <a:stretch>
            <a:fillRect/>
          </a:stretch>
        </p:blipFill>
        <p:spPr>
          <a:xfrm>
            <a:off x="3648365" y="1655064"/>
            <a:ext cx="256032" cy="256032"/>
          </a:xfrm>
          <a:prstGeom prst="rect">
            <a:avLst/>
          </a:prstGeom>
        </p:spPr>
      </p:pic>
      <p:sp>
        <p:nvSpPr>
          <p:cNvPr id="15" name="Shape 11"/>
          <p:cNvSpPr/>
          <p:nvPr/>
        </p:nvSpPr>
        <p:spPr>
          <a:xfrm>
            <a:off x="4684654" y="2144268"/>
            <a:ext cx="457200" cy="146304"/>
          </a:xfrm>
          <a:prstGeom prst="rightArrow">
            <a:avLst/>
          </a:prstGeom>
          <a:solidFill>
            <a:srgbClr val="F2B134"/>
          </a:solidFill>
          <a:ln/>
        </p:spPr>
      </p:sp>
      <p:sp>
        <p:nvSpPr>
          <p:cNvPr id="16" name="Shape 12"/>
          <p:cNvSpPr/>
          <p:nvPr/>
        </p:nvSpPr>
        <p:spPr>
          <a:xfrm>
            <a:off x="5187574" y="1783080"/>
            <a:ext cx="1816547" cy="868680"/>
          </a:xfrm>
          <a:prstGeom prst="roundRect">
            <a:avLst>
              <a:gd name="adj" fmla="val 8421"/>
            </a:avLst>
          </a:prstGeom>
          <a:solidFill>
            <a:srgbClr val="F3F6FC"/>
          </a:solidFill>
          <a:ln w="12700">
            <a:solidFill>
              <a:srgbClr val="1E2761"/>
            </a:solidFill>
            <a:prstDash val="solid"/>
          </a:ln>
        </p:spPr>
      </p:sp>
      <p:sp>
        <p:nvSpPr>
          <p:cNvPr id="17" name="Text 13"/>
          <p:cNvSpPr/>
          <p:nvPr/>
        </p:nvSpPr>
        <p:spPr>
          <a:xfrm>
            <a:off x="5260726"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LLM-as-a-judge / recoupement source de verite</a:t>
            </a:r>
            <a:endParaRPr lang="en-US" sz="1050" dirty="0"/>
          </a:p>
        </p:txBody>
      </p:sp>
      <p:sp>
        <p:nvSpPr>
          <p:cNvPr id="18" name="Shape 14"/>
          <p:cNvSpPr/>
          <p:nvPr/>
        </p:nvSpPr>
        <p:spPr>
          <a:xfrm>
            <a:off x="5867248" y="1554480"/>
            <a:ext cx="457200" cy="457200"/>
          </a:xfrm>
          <a:prstGeom prst="ellipse">
            <a:avLst/>
          </a:prstGeom>
          <a:solidFill>
            <a:srgbClr val="1E2761"/>
          </a:solidFill>
          <a:ln w="25400">
            <a:solidFill>
              <a:srgbClr val="FFFFFF"/>
            </a:solidFill>
            <a:prstDash val="solid"/>
          </a:ln>
        </p:spPr>
      </p:sp>
      <p:pic>
        <p:nvPicPr>
          <p:cNvPr id="19" name="Image 2" descr="/home/claude/formation-genai-de/assets/png/icon-gavel-white.png">    </p:cNvPr>
          <p:cNvPicPr>
            <a:picLocks noChangeAspect="1"/>
          </p:cNvPicPr>
          <p:nvPr/>
        </p:nvPicPr>
        <p:blipFill>
          <a:blip r:embed="rId3"/>
          <a:stretch>
            <a:fillRect/>
          </a:stretch>
        </p:blipFill>
        <p:spPr>
          <a:xfrm>
            <a:off x="5967832" y="1655064"/>
            <a:ext cx="256032" cy="256032"/>
          </a:xfrm>
          <a:prstGeom prst="rect">
            <a:avLst/>
          </a:prstGeom>
        </p:spPr>
      </p:pic>
      <p:sp>
        <p:nvSpPr>
          <p:cNvPr id="20" name="Shape 15"/>
          <p:cNvSpPr/>
          <p:nvPr/>
        </p:nvSpPr>
        <p:spPr>
          <a:xfrm>
            <a:off x="7004121" y="2144268"/>
            <a:ext cx="457200" cy="146304"/>
          </a:xfrm>
          <a:prstGeom prst="rightArrow">
            <a:avLst/>
          </a:prstGeom>
          <a:solidFill>
            <a:srgbClr val="F2B134"/>
          </a:solidFill>
          <a:ln/>
        </p:spPr>
      </p:sp>
      <p:sp>
        <p:nvSpPr>
          <p:cNvPr id="21" name="Shape 16"/>
          <p:cNvSpPr/>
          <p:nvPr/>
        </p:nvSpPr>
        <p:spPr>
          <a:xfrm>
            <a:off x="7507041" y="1783080"/>
            <a:ext cx="1816547" cy="868680"/>
          </a:xfrm>
          <a:prstGeom prst="roundRect">
            <a:avLst>
              <a:gd name="adj" fmla="val 8421"/>
            </a:avLst>
          </a:prstGeom>
          <a:solidFill>
            <a:srgbClr val="F3F6FC"/>
          </a:solidFill>
          <a:ln w="12700">
            <a:solidFill>
              <a:srgbClr val="1E2761"/>
            </a:solidFill>
            <a:prstDash val="solid"/>
          </a:ln>
        </p:spPr>
      </p:sp>
      <p:sp>
        <p:nvSpPr>
          <p:cNvPr id="22" name="Text 17"/>
          <p:cNvSpPr/>
          <p:nvPr/>
        </p:nvSpPr>
        <p:spPr>
          <a:xfrm>
            <a:off x="7580193"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Filtre de rejet</a:t>
            </a:r>
            <a:endParaRPr lang="en-US" sz="1050" dirty="0"/>
          </a:p>
        </p:txBody>
      </p:sp>
      <p:sp>
        <p:nvSpPr>
          <p:cNvPr id="23" name="Shape 18"/>
          <p:cNvSpPr/>
          <p:nvPr/>
        </p:nvSpPr>
        <p:spPr>
          <a:xfrm>
            <a:off x="8186715" y="1554480"/>
            <a:ext cx="457200" cy="457200"/>
          </a:xfrm>
          <a:prstGeom prst="ellipse">
            <a:avLst/>
          </a:prstGeom>
          <a:solidFill>
            <a:srgbClr val="1E2761"/>
          </a:solidFill>
          <a:ln w="25400">
            <a:solidFill>
              <a:srgbClr val="FFFFFF"/>
            </a:solidFill>
            <a:prstDash val="solid"/>
          </a:ln>
        </p:spPr>
      </p:sp>
      <p:pic>
        <p:nvPicPr>
          <p:cNvPr id="24" name="Image 3" descr="/home/claude/formation-genai-de/assets/png/icon-filter-white.png">    </p:cNvPr>
          <p:cNvPicPr>
            <a:picLocks noChangeAspect="1"/>
          </p:cNvPicPr>
          <p:nvPr/>
        </p:nvPicPr>
        <p:blipFill>
          <a:blip r:embed="rId4"/>
          <a:stretch>
            <a:fillRect/>
          </a:stretch>
        </p:blipFill>
        <p:spPr>
          <a:xfrm>
            <a:off x="8287299" y="1655064"/>
            <a:ext cx="256032" cy="256032"/>
          </a:xfrm>
          <a:prstGeom prst="rect">
            <a:avLst/>
          </a:prstGeom>
        </p:spPr>
      </p:pic>
      <p:sp>
        <p:nvSpPr>
          <p:cNvPr id="25" name="Shape 19"/>
          <p:cNvSpPr/>
          <p:nvPr/>
        </p:nvSpPr>
        <p:spPr>
          <a:xfrm>
            <a:off x="9323588" y="2144268"/>
            <a:ext cx="457200" cy="146304"/>
          </a:xfrm>
          <a:prstGeom prst="rightArrow">
            <a:avLst/>
          </a:prstGeom>
          <a:solidFill>
            <a:srgbClr val="F2B134"/>
          </a:solidFill>
          <a:ln/>
        </p:spPr>
      </p:sp>
      <p:sp>
        <p:nvSpPr>
          <p:cNvPr id="26" name="Shape 20"/>
          <p:cNvSpPr/>
          <p:nvPr/>
        </p:nvSpPr>
        <p:spPr>
          <a:xfrm>
            <a:off x="9826508" y="1783080"/>
            <a:ext cx="1816547" cy="868680"/>
          </a:xfrm>
          <a:prstGeom prst="roundRect">
            <a:avLst>
              <a:gd name="adj" fmla="val 8421"/>
            </a:avLst>
          </a:prstGeom>
          <a:solidFill>
            <a:srgbClr val="1E2761"/>
          </a:solidFill>
          <a:ln w="12700">
            <a:solidFill>
              <a:srgbClr val="1E2761"/>
            </a:solidFill>
            <a:prstDash val="solid"/>
          </a:ln>
        </p:spPr>
      </p:sp>
      <p:sp>
        <p:nvSpPr>
          <p:cNvPr id="27" name="Text 21"/>
          <p:cNvSpPr/>
          <p:nvPr/>
        </p:nvSpPr>
        <p:spPr>
          <a:xfrm>
            <a:off x="9899660"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Jeu valide</a:t>
            </a:r>
            <a:endParaRPr lang="en-US" sz="1050" dirty="0"/>
          </a:p>
        </p:txBody>
      </p:sp>
      <p:sp>
        <p:nvSpPr>
          <p:cNvPr id="28" name="Shape 22"/>
          <p:cNvSpPr/>
          <p:nvPr/>
        </p:nvSpPr>
        <p:spPr>
          <a:xfrm>
            <a:off x="10506182" y="1554480"/>
            <a:ext cx="457200" cy="457200"/>
          </a:xfrm>
          <a:prstGeom prst="ellipse">
            <a:avLst/>
          </a:prstGeom>
          <a:solidFill>
            <a:srgbClr val="F2B134"/>
          </a:solidFill>
          <a:ln w="25400">
            <a:solidFill>
              <a:srgbClr val="FFFFFF"/>
            </a:solidFill>
            <a:prstDash val="solid"/>
          </a:ln>
        </p:spPr>
      </p:sp>
      <p:pic>
        <p:nvPicPr>
          <p:cNvPr id="29" name="Image 4" descr="/home/claude/formation-genai-de/assets/png/icon-checklist-navy.png">    </p:cNvPr>
          <p:cNvPicPr>
            <a:picLocks noChangeAspect="1"/>
          </p:cNvPicPr>
          <p:nvPr/>
        </p:nvPicPr>
        <p:blipFill>
          <a:blip r:embed="rId5"/>
          <a:stretch>
            <a:fillRect/>
          </a:stretch>
        </p:blipFill>
        <p:spPr>
          <a:xfrm>
            <a:off x="10606766" y="1655064"/>
            <a:ext cx="256032" cy="256032"/>
          </a:xfrm>
          <a:prstGeom prst="rect">
            <a:avLst/>
          </a:prstGeom>
        </p:spPr>
      </p:pic>
      <p:sp>
        <p:nvSpPr>
          <p:cNvPr id="30" name="Text 23"/>
          <p:cNvSpPr/>
          <p:nvPr/>
        </p:nvSpPr>
        <p:spPr>
          <a:xfrm>
            <a:off x="548640" y="3794760"/>
            <a:ext cx="11094415" cy="457200"/>
          </a:xfrm>
          <a:prstGeom prst="rect">
            <a:avLst/>
          </a:prstGeom>
          <a:noFill/>
          <a:ln/>
        </p:spPr>
        <p:txBody>
          <a:bodyPr wrap="square" lIns="0" tIns="0" rIns="0" bIns="0" rtlCol="0" anchor="ctr"/>
          <a:lstStyle/>
          <a:p>
            <a:pPr indent="0" marL="0">
              <a:buNone/>
            </a:pPr>
            <a:r>
              <a:rPr lang="en-US" sz="1200" i="1" dirty="0">
                <a:solidFill>
                  <a:srgbClr val="7C8194"/>
                </a:solidFill>
                <a:latin typeface="Calibri" pitchFamily="34" charset="0"/>
                <a:ea typeface="Calibri" pitchFamily="34" charset="-122"/>
                <a:cs typeface="Calibri" pitchFamily="34" charset="-120"/>
              </a:rPr>
              <a:t>Un enregistrement qui echoue le filtre est rejete ou regenere, jamais integre tel quel au jeu final</a:t>
            </a:r>
            <a:endParaRPr lang="en-US" sz="1200" dirty="0"/>
          </a:p>
        </p:txBody>
      </p:sp>
      <p:sp>
        <p:nvSpPr>
          <p:cNvPr id="32" name="Text 24"/>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33" name="Text 25"/>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094415" cy="1051560"/>
          </a:xfrm>
          <a:prstGeom prst="roundRect">
            <a:avLst>
              <a:gd name="adj" fmla="val 5217"/>
            </a:avLst>
          </a:prstGeom>
          <a:solidFill>
            <a:srgbClr val="1E2761"/>
          </a:solidFill>
          <a:ln/>
        </p:spPr>
      </p:sp>
      <p:sp>
        <p:nvSpPr>
          <p:cNvPr id="3" name="Text 1"/>
          <p:cNvSpPr/>
          <p:nvPr/>
        </p:nvSpPr>
        <p:spPr>
          <a:xfrm>
            <a:off x="822960" y="548640"/>
            <a:ext cx="7315200" cy="274320"/>
          </a:xfrm>
          <a:prstGeom prst="rect">
            <a:avLst/>
          </a:prstGeom>
          <a:noFill/>
          <a:ln/>
        </p:spPr>
        <p:txBody>
          <a:bodyPr wrap="square" lIns="0" tIns="0" rIns="0" bIns="0" rtlCol="0" anchor="ctr"/>
          <a:lstStyle/>
          <a:p>
            <a:pPr indent="0" marL="0">
              <a:buNone/>
            </a:pPr>
            <a:r>
              <a:rPr lang="en-US" sz="1200" b="1" spc="150" kern="0" dirty="0">
                <a:solidFill>
                  <a:srgbClr val="F2B134"/>
                </a:solidFill>
                <a:latin typeface="Calibri" pitchFamily="34" charset="0"/>
                <a:ea typeface="Calibri" pitchFamily="34" charset="-122"/>
                <a:cs typeface="Calibri" pitchFamily="34" charset="-120"/>
              </a:rPr>
              <a:t>TRAVAUX PRATIQUES  N°6</a:t>
            </a:r>
            <a:endParaRPr lang="en-US" sz="1200" dirty="0"/>
          </a:p>
        </p:txBody>
      </p:sp>
      <p:sp>
        <p:nvSpPr>
          <p:cNvPr id="4" name="Text 2"/>
          <p:cNvSpPr/>
          <p:nvPr/>
        </p:nvSpPr>
        <p:spPr>
          <a:xfrm>
            <a:off x="822960" y="804672"/>
            <a:ext cx="777240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Evaluation qualite d'un output genere par GPT</a:t>
            </a:r>
            <a:endParaRPr lang="en-US" sz="1800" dirty="0"/>
          </a:p>
        </p:txBody>
      </p:sp>
      <p:sp>
        <p:nvSpPr>
          <p:cNvPr id="5" name="Text 3"/>
          <p:cNvSpPr/>
          <p:nvPr/>
        </p:nvSpPr>
        <p:spPr>
          <a:xfrm>
            <a:off x="9265615" y="548640"/>
            <a:ext cx="2103120" cy="274320"/>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Duree : 70 min</a:t>
            </a:r>
            <a:endParaRPr lang="en-US" sz="1150" dirty="0"/>
          </a:p>
        </p:txBody>
      </p:sp>
      <p:sp>
        <p:nvSpPr>
          <p:cNvPr id="6" name="Text 4"/>
          <p:cNvSpPr/>
          <p:nvPr/>
        </p:nvSpPr>
        <p:spPr>
          <a:xfrm>
            <a:off x="548640" y="1783080"/>
            <a:ext cx="54864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Consignes</a:t>
            </a:r>
            <a:endParaRPr lang="en-US" sz="1400" dirty="0"/>
          </a:p>
        </p:txBody>
      </p:sp>
      <p:sp>
        <p:nvSpPr>
          <p:cNvPr id="7" name="Text 5"/>
          <p:cNvSpPr/>
          <p:nvPr/>
        </p:nvSpPr>
        <p:spPr>
          <a:xfrm>
            <a:off x="548640" y="2194560"/>
            <a:ext cx="11094415" cy="384048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Reprendre le jeu de donnees RH genere au TP5 (ou un jeu fourni par le formateur)</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Definir 3 metriques de qualite : conformite de schema, plausibilite des valeurs, absence de doublons</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Identifier les enregistrements suspects (noms incoherents, valeurs hors plage, doublons)</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Proposer une action corrective pour chaque anomalie detectee</a:t>
            </a:r>
            <a:endParaRPr lang="en-US" sz="1400" dirty="0"/>
          </a:p>
        </p:txBody>
      </p:sp>
      <p:sp>
        <p:nvSpPr>
          <p:cNvPr id="9" name="Text 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0" name="Text 7"/>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TP6 · Module 6</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48640" cy="548640"/>
          </a:xfrm>
          <a:prstGeom prst="ellipse">
            <a:avLst/>
          </a:prstGeom>
          <a:solidFill>
            <a:srgbClr val="2E7D32"/>
          </a:solidFill>
          <a:ln/>
        </p:spPr>
      </p:sp>
      <p:sp>
        <p:nvSpPr>
          <p:cNvPr id="3" name="Text 1"/>
          <p:cNvSpPr/>
          <p:nvPr/>
        </p:nvSpPr>
        <p:spPr>
          <a:xfrm>
            <a:off x="548640" y="411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4" name="Text 2"/>
          <p:cNvSpPr/>
          <p:nvPr/>
        </p:nvSpPr>
        <p:spPr>
          <a:xfrm>
            <a:off x="1325880" y="411480"/>
            <a:ext cx="8229600" cy="54864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Elements de reponse - TP n°6</a:t>
            </a:r>
            <a:endParaRPr lang="en-US" sz="2000" dirty="0"/>
          </a:p>
        </p:txBody>
      </p:sp>
      <p:sp>
        <p:nvSpPr>
          <p:cNvPr id="5" name="Shape 3"/>
          <p:cNvSpPr/>
          <p:nvPr/>
        </p:nvSpPr>
        <p:spPr>
          <a:xfrm>
            <a:off x="548640" y="2587231"/>
            <a:ext cx="11094415" cy="1774977"/>
          </a:xfrm>
          <a:prstGeom prst="roundRect">
            <a:avLst>
              <a:gd name="adj" fmla="val 4121"/>
            </a:avLst>
          </a:prstGeom>
          <a:solidFill>
            <a:srgbClr val="F3F6FC"/>
          </a:solidFill>
          <a:ln/>
        </p:spPr>
      </p:sp>
      <p:sp>
        <p:nvSpPr>
          <p:cNvPr id="6" name="Text 4"/>
          <p:cNvSpPr/>
          <p:nvPr/>
        </p:nvSpPr>
        <p:spPr>
          <a:xfrm>
            <a:off x="868680" y="2815831"/>
            <a:ext cx="10454335" cy="1317777"/>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Exemples d'anomalies a repérer : prenom incoherent de type 'Xyz123', salaire negatif ou hors plage, date de naissance posterieure a la date d'entree, matricules dupliques</a:t>
            </a:r>
            <a:endParaRPr lang="en-US" sz="1350" dirty="0"/>
          </a:p>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Actions correctives attendues : ajout d'une regle de validation (regex, plage), regeneration ciblee de l'enregistrement fautif, filtre de rejet automatique avant integration dans le jeu final</a:t>
            </a:r>
            <a:endParaRPr lang="en-US" sz="135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Corrige TP6 · Module 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9144000" cy="5486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Bilan de fin de Jour 3</a:t>
            </a:r>
            <a:endParaRPr lang="en-US" sz="2600" dirty="0"/>
          </a:p>
        </p:txBody>
      </p:sp>
      <p:sp>
        <p:nvSpPr>
          <p:cNvPr id="3" name="Shape 1"/>
          <p:cNvSpPr/>
          <p:nvPr/>
        </p:nvSpPr>
        <p:spPr>
          <a:xfrm>
            <a:off x="548640" y="2532793"/>
            <a:ext cx="11094415" cy="1883854"/>
          </a:xfrm>
          <a:prstGeom prst="roundRect">
            <a:avLst>
              <a:gd name="adj" fmla="val 3883"/>
            </a:avLst>
          </a:prstGeom>
          <a:solidFill>
            <a:srgbClr val="F3F6FC"/>
          </a:solidFill>
          <a:ln/>
        </p:spPr>
      </p:sp>
      <p:sp>
        <p:nvSpPr>
          <p:cNvPr id="4" name="Text 2"/>
          <p:cNvSpPr/>
          <p:nvPr/>
        </p:nvSpPr>
        <p:spPr>
          <a:xfrm>
            <a:off x="914400" y="2852833"/>
            <a:ext cx="10362895" cy="1243775"/>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Generation de donnees synthetiques conformes a un schema cible (JSON Schema, SQL)</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Definition et application de metriques de qualite sur des donnees generees</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Detection d'hallucinations et mise en place de filtres de validation</a:t>
            </a:r>
            <a:endParaRPr lang="en-US" sz="1500" dirty="0"/>
          </a:p>
        </p:txBody>
      </p:sp>
      <p:sp>
        <p:nvSpPr>
          <p:cNvPr id="6" name="Text 3"/>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7" name="Text 4"/>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Bilan J3</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2173A"/>
        </a:solidFill>
      </p:bgPr>
    </p:bg>
    <p:spTree>
      <p:nvGrpSpPr>
        <p:cNvPr id="1" name=""/>
        <p:cNvGrpSpPr/>
        <p:nvPr/>
      </p:nvGrpSpPr>
      <p:grpSpPr>
        <a:xfrm>
          <a:off x="0" y="0"/>
          <a:ext cx="0" cy="0"/>
          <a:chOff x="0" y="0"/>
          <a:chExt cx="0" cy="0"/>
        </a:xfrm>
      </p:grpSpPr>
      <p:sp>
        <p:nvSpPr>
          <p:cNvPr id="2" name="Shape 0"/>
          <p:cNvSpPr/>
          <p:nvPr/>
        </p:nvSpPr>
        <p:spPr>
          <a:xfrm>
            <a:off x="9052560" y="2651760"/>
            <a:ext cx="5120640" cy="5120640"/>
          </a:xfrm>
          <a:prstGeom prst="ellipse">
            <a:avLst/>
          </a:prstGeom>
          <a:solidFill>
            <a:srgbClr val="1E2761"/>
          </a:solidFill>
          <a:ln/>
        </p:spPr>
      </p:sp>
      <p:pic>
        <p:nvPicPr>
          <p:cNvPr id="3" name="Image 0" descr="/home/claude/formation-genai-de/assets/png/icon-shield-lock-gold.png">    </p:cNvPr>
          <p:cNvPicPr>
            <a:picLocks noChangeAspect="1"/>
          </p:cNvPicPr>
          <p:nvPr/>
        </p:nvPicPr>
        <p:blipFill>
          <a:blip r:embed="rId1"/>
          <a:stretch>
            <a:fillRect/>
          </a:stretch>
        </p:blipFill>
        <p:spPr>
          <a:xfrm>
            <a:off x="10149840" y="3749040"/>
            <a:ext cx="2377440" cy="2377440"/>
          </a:xfrm>
          <a:prstGeom prst="rect">
            <a:avLst/>
          </a:prstGeom>
        </p:spPr>
      </p:pic>
      <p:sp>
        <p:nvSpPr>
          <p:cNvPr id="4" name="Text 1"/>
          <p:cNvSpPr/>
          <p:nvPr/>
        </p:nvSpPr>
        <p:spPr>
          <a:xfrm>
            <a:off x="548640" y="2286000"/>
            <a:ext cx="7315200" cy="365760"/>
          </a:xfrm>
          <a:prstGeom prst="rect">
            <a:avLst/>
          </a:prstGeom>
          <a:noFill/>
          <a:ln/>
        </p:spPr>
        <p:txBody>
          <a:bodyPr wrap="square" lIns="0" tIns="0" rIns="0" bIns="0" rtlCol="0" anchor="ctr"/>
          <a:lstStyle/>
          <a:p>
            <a:pPr indent="0" marL="0">
              <a:buNone/>
            </a:pPr>
            <a:r>
              <a:rPr lang="en-US" sz="1300" b="1" spc="300" kern="0" dirty="0">
                <a:solidFill>
                  <a:srgbClr val="F2B134"/>
                </a:solidFill>
                <a:latin typeface="Calibri" pitchFamily="34" charset="0"/>
                <a:ea typeface="Calibri" pitchFamily="34" charset="-122"/>
                <a:cs typeface="Calibri" pitchFamily="34" charset="-120"/>
              </a:rPr>
              <a:t>JOUR 4</a:t>
            </a:r>
            <a:endParaRPr lang="en-US" sz="1300" dirty="0"/>
          </a:p>
        </p:txBody>
      </p:sp>
      <p:sp>
        <p:nvSpPr>
          <p:cNvPr id="5" name="Text 2"/>
          <p:cNvSpPr/>
          <p:nvPr/>
        </p:nvSpPr>
        <p:spPr>
          <a:xfrm>
            <a:off x="548640" y="2651760"/>
            <a:ext cx="8595360" cy="118872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Securisation, industrialisation et cas d'usage avances</a:t>
            </a:r>
            <a:endParaRPr lang="en-US" sz="3000" dirty="0"/>
          </a:p>
        </p:txBody>
      </p:sp>
      <p:sp>
        <p:nvSpPr>
          <p:cNvPr id="6" name="Text 3"/>
          <p:cNvSpPr/>
          <p:nvPr/>
        </p:nvSpPr>
        <p:spPr>
          <a:xfrm>
            <a:off x="548640" y="3794760"/>
            <a:ext cx="82296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7 heures - 9h00-12h30 / 13h30-17h00</a:t>
            </a:r>
            <a:endParaRPr lang="en-US" sz="1400" dirty="0"/>
          </a:p>
        </p:txBody>
      </p:sp>
      <p:sp>
        <p:nvSpPr>
          <p:cNvPr id="7" name="Text 4"/>
          <p:cNvSpPr/>
          <p:nvPr/>
        </p:nvSpPr>
        <p:spPr>
          <a:xfrm>
            <a:off x="548640" y="4434840"/>
            <a:ext cx="8229600" cy="137160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Module 7 - Securiser et industrialiser l'usage de l'IA generative (3h30)</a:t>
            </a:r>
            <a:endParaRPr lang="en-US" sz="1300" dirty="0"/>
          </a:p>
          <a:p>
            <a:pPr marL="203200" indent="-203200">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Module 8 - Cas d'usage avances (3h30)</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234440" y="457200"/>
            <a:ext cx="941832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Securiser et industrialiser l'usage de l'IA generative</a:t>
            </a:r>
            <a:endParaRPr lang="en-US" sz="2100" dirty="0"/>
          </a:p>
        </p:txBody>
      </p:sp>
      <p:sp>
        <p:nvSpPr>
          <p:cNvPr id="5" name="Text 3"/>
          <p:cNvSpPr/>
          <p:nvPr/>
        </p:nvSpPr>
        <p:spPr>
          <a:xfrm>
            <a:off x="548640" y="1143000"/>
            <a:ext cx="11094415" cy="457200"/>
          </a:xfrm>
          <a:prstGeom prst="rect">
            <a:avLst/>
          </a:prstGeom>
          <a:noFill/>
          <a:ln/>
        </p:spPr>
        <p:txBody>
          <a:bodyPr wrap="square" lIns="0" tIns="0" rIns="0" bIns="0" rtlCol="0" anchor="ctr"/>
          <a:lstStyle/>
          <a:p>
            <a:pPr indent="0" marL="0">
              <a:buNone/>
            </a:pPr>
            <a:r>
              <a:rPr lang="en-US" sz="1250" i="1" dirty="0">
                <a:solidFill>
                  <a:srgbClr val="7C8194"/>
                </a:solidFill>
                <a:latin typeface="Calibri" pitchFamily="34" charset="0"/>
                <a:ea typeface="Calibri" pitchFamily="34" charset="-122"/>
                <a:cs typeface="Calibri" pitchFamily="34" charset="-120"/>
              </a:rPr>
              <a:t>Objectif : Securiser une chaine d'appels IA generative et connaitre le cadre legal applicable.</a:t>
            </a:r>
            <a:endParaRPr lang="en-US" sz="1250" dirty="0"/>
          </a:p>
        </p:txBody>
      </p:sp>
      <p:sp>
        <p:nvSpPr>
          <p:cNvPr id="6" name="Text 4"/>
          <p:cNvSpPr/>
          <p:nvPr/>
        </p:nvSpPr>
        <p:spPr>
          <a:xfrm>
            <a:off x="548640" y="1737360"/>
            <a:ext cx="11094415" cy="438912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Aspects legaux : RGPD (minimisation, base legale, donnees personnelles dans les prompts), conditions d'utilisation des fournisseurs (OpenAI, Anthropic), reglementation europeenne (AI Act, niveaux de risque)</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Securite des API et stockage des prompts : gestion des secrets (coffre-fort/vault, variables d'environnement), chiffrement, politique de retention des logs de prompts</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Monitoring et cout des appels API : suivi de la consommation de tokens, alerting sur les depassements de budget, quotas par equipe ou projet</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Limites de responsabilite des ingenieurs : obligation de relecture humaine (human-in-the-loop) avant usage en production, tracabilite des decisions assistees par IA</a:t>
            </a:r>
            <a:endParaRPr lang="en-US" sz="150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234440" y="457200"/>
            <a:ext cx="822960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Securiser et industrialiser l'usage de l'IA generative · Schema</a:t>
            </a:r>
            <a:endParaRPr lang="en-US" sz="2100" dirty="0"/>
          </a:p>
        </p:txBody>
      </p:sp>
      <p:sp>
        <p:nvSpPr>
          <p:cNvPr id="5" name="Text 3"/>
          <p:cNvSpPr/>
          <p:nvPr/>
        </p:nvSpPr>
        <p:spPr>
          <a:xfrm>
            <a:off x="9357055" y="502920"/>
            <a:ext cx="2286000" cy="274320"/>
          </a:xfrm>
          <a:prstGeom prst="rect">
            <a:avLst/>
          </a:prstGeom>
          <a:noFill/>
          <a:ln/>
        </p:spPr>
        <p:txBody>
          <a:bodyPr wrap="square" lIns="0" tIns="0" rIns="0" bIns="0" rtlCol="0" anchor="ctr"/>
          <a:lstStyle/>
          <a:p>
            <a:pPr algn="r" indent="0" marL="0">
              <a:buNone/>
            </a:pPr>
            <a:r>
              <a:rPr lang="en-US" sz="1000" b="1" spc="200" kern="0" dirty="0">
                <a:solidFill>
                  <a:srgbClr val="1E2761"/>
                </a:solidFill>
                <a:latin typeface="Calibri" pitchFamily="34" charset="0"/>
                <a:ea typeface="Calibri" pitchFamily="34" charset="-122"/>
                <a:cs typeface="Calibri" pitchFamily="34" charset="-120"/>
              </a:rPr>
              <a:t>SCHEMA</a:t>
            </a:r>
            <a:endParaRPr lang="en-US" sz="1000" dirty="0"/>
          </a:p>
        </p:txBody>
      </p:sp>
      <p:sp>
        <p:nvSpPr>
          <p:cNvPr id="6" name="Shape 4"/>
          <p:cNvSpPr/>
          <p:nvPr/>
        </p:nvSpPr>
        <p:spPr>
          <a:xfrm>
            <a:off x="548640" y="1783080"/>
            <a:ext cx="1429969" cy="868680"/>
          </a:xfrm>
          <a:prstGeom prst="roundRect">
            <a:avLst>
              <a:gd name="adj" fmla="val 8421"/>
            </a:avLst>
          </a:prstGeom>
          <a:solidFill>
            <a:srgbClr val="F3F6FC"/>
          </a:solidFill>
          <a:ln w="12700">
            <a:solidFill>
              <a:srgbClr val="1E2761"/>
            </a:solidFill>
            <a:prstDash val="solid"/>
          </a:ln>
        </p:spPr>
      </p:sp>
      <p:sp>
        <p:nvSpPr>
          <p:cNvPr id="7" name="Text 5"/>
          <p:cNvSpPr/>
          <p:nvPr/>
        </p:nvSpPr>
        <p:spPr>
          <a:xfrm>
            <a:off x="621792" y="1911096"/>
            <a:ext cx="1283665"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Application</a:t>
            </a:r>
            <a:endParaRPr lang="en-US" sz="1050" dirty="0"/>
          </a:p>
        </p:txBody>
      </p:sp>
      <p:sp>
        <p:nvSpPr>
          <p:cNvPr id="8" name="Shape 6"/>
          <p:cNvSpPr/>
          <p:nvPr/>
        </p:nvSpPr>
        <p:spPr>
          <a:xfrm>
            <a:off x="1035025" y="1554480"/>
            <a:ext cx="457200" cy="457200"/>
          </a:xfrm>
          <a:prstGeom prst="ellipse">
            <a:avLst/>
          </a:prstGeom>
          <a:solidFill>
            <a:srgbClr val="1E2761"/>
          </a:solidFill>
          <a:ln w="25400">
            <a:solidFill>
              <a:srgbClr val="FFFFFF"/>
            </a:solidFill>
            <a:prstDash val="solid"/>
          </a:ln>
        </p:spPr>
      </p:sp>
      <p:pic>
        <p:nvPicPr>
          <p:cNvPr id="9" name="Image 0" descr="/home/claude/formation-genai-de/assets/png/icon-apps-white.png">    </p:cNvPr>
          <p:cNvPicPr>
            <a:picLocks noChangeAspect="1"/>
          </p:cNvPicPr>
          <p:nvPr/>
        </p:nvPicPr>
        <p:blipFill>
          <a:blip r:embed="rId1"/>
          <a:stretch>
            <a:fillRect/>
          </a:stretch>
        </p:blipFill>
        <p:spPr>
          <a:xfrm>
            <a:off x="1135609" y="1655064"/>
            <a:ext cx="256032" cy="256032"/>
          </a:xfrm>
          <a:prstGeom prst="rect">
            <a:avLst/>
          </a:prstGeom>
        </p:spPr>
      </p:pic>
      <p:sp>
        <p:nvSpPr>
          <p:cNvPr id="10" name="Shape 7"/>
          <p:cNvSpPr/>
          <p:nvPr/>
        </p:nvSpPr>
        <p:spPr>
          <a:xfrm>
            <a:off x="1978609" y="2144268"/>
            <a:ext cx="457200" cy="146304"/>
          </a:xfrm>
          <a:prstGeom prst="rightArrow">
            <a:avLst/>
          </a:prstGeom>
          <a:solidFill>
            <a:srgbClr val="F2B134"/>
          </a:solidFill>
          <a:ln/>
        </p:spPr>
      </p:sp>
      <p:sp>
        <p:nvSpPr>
          <p:cNvPr id="11" name="Shape 8"/>
          <p:cNvSpPr/>
          <p:nvPr/>
        </p:nvSpPr>
        <p:spPr>
          <a:xfrm>
            <a:off x="2481529" y="1783080"/>
            <a:ext cx="1429969" cy="868680"/>
          </a:xfrm>
          <a:prstGeom prst="roundRect">
            <a:avLst>
              <a:gd name="adj" fmla="val 8421"/>
            </a:avLst>
          </a:prstGeom>
          <a:solidFill>
            <a:srgbClr val="F3F6FC"/>
          </a:solidFill>
          <a:ln w="12700">
            <a:solidFill>
              <a:srgbClr val="1E2761"/>
            </a:solidFill>
            <a:prstDash val="solid"/>
          </a:ln>
        </p:spPr>
      </p:sp>
      <p:sp>
        <p:nvSpPr>
          <p:cNvPr id="12" name="Text 9"/>
          <p:cNvSpPr/>
          <p:nvPr/>
        </p:nvSpPr>
        <p:spPr>
          <a:xfrm>
            <a:off x="2554681" y="1911096"/>
            <a:ext cx="1283665"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Filtre d'entree (donnees sensibles, longueur)</a:t>
            </a:r>
            <a:endParaRPr lang="en-US" sz="1050" dirty="0"/>
          </a:p>
        </p:txBody>
      </p:sp>
      <p:sp>
        <p:nvSpPr>
          <p:cNvPr id="13" name="Shape 10"/>
          <p:cNvSpPr/>
          <p:nvPr/>
        </p:nvSpPr>
        <p:spPr>
          <a:xfrm>
            <a:off x="2967914" y="1554480"/>
            <a:ext cx="457200" cy="457200"/>
          </a:xfrm>
          <a:prstGeom prst="ellipse">
            <a:avLst/>
          </a:prstGeom>
          <a:solidFill>
            <a:srgbClr val="1E2761"/>
          </a:solidFill>
          <a:ln w="25400">
            <a:solidFill>
              <a:srgbClr val="FFFFFF"/>
            </a:solidFill>
            <a:prstDash val="solid"/>
          </a:ln>
        </p:spPr>
      </p:sp>
      <p:pic>
        <p:nvPicPr>
          <p:cNvPr id="14" name="Image 1" descr="/home/claude/formation-genai-de/assets/png/icon-filter-white.png">    </p:cNvPr>
          <p:cNvPicPr>
            <a:picLocks noChangeAspect="1"/>
          </p:cNvPicPr>
          <p:nvPr/>
        </p:nvPicPr>
        <p:blipFill>
          <a:blip r:embed="rId2"/>
          <a:stretch>
            <a:fillRect/>
          </a:stretch>
        </p:blipFill>
        <p:spPr>
          <a:xfrm>
            <a:off x="3068498" y="1655064"/>
            <a:ext cx="256032" cy="256032"/>
          </a:xfrm>
          <a:prstGeom prst="rect">
            <a:avLst/>
          </a:prstGeom>
        </p:spPr>
      </p:pic>
      <p:sp>
        <p:nvSpPr>
          <p:cNvPr id="15" name="Shape 11"/>
          <p:cNvSpPr/>
          <p:nvPr/>
        </p:nvSpPr>
        <p:spPr>
          <a:xfrm>
            <a:off x="3911498" y="2144268"/>
            <a:ext cx="457200" cy="146304"/>
          </a:xfrm>
          <a:prstGeom prst="rightArrow">
            <a:avLst/>
          </a:prstGeom>
          <a:solidFill>
            <a:srgbClr val="F2B134"/>
          </a:solidFill>
          <a:ln/>
        </p:spPr>
      </p:sp>
      <p:sp>
        <p:nvSpPr>
          <p:cNvPr id="16" name="Shape 12"/>
          <p:cNvSpPr/>
          <p:nvPr/>
        </p:nvSpPr>
        <p:spPr>
          <a:xfrm>
            <a:off x="4414418" y="1783080"/>
            <a:ext cx="1429969" cy="868680"/>
          </a:xfrm>
          <a:prstGeom prst="roundRect">
            <a:avLst>
              <a:gd name="adj" fmla="val 8421"/>
            </a:avLst>
          </a:prstGeom>
          <a:solidFill>
            <a:srgbClr val="F3F6FC"/>
          </a:solidFill>
          <a:ln w="12700">
            <a:solidFill>
              <a:srgbClr val="1E2761"/>
            </a:solidFill>
            <a:prstDash val="solid"/>
          </a:ln>
        </p:spPr>
      </p:sp>
      <p:sp>
        <p:nvSpPr>
          <p:cNvPr id="17" name="Text 13"/>
          <p:cNvSpPr/>
          <p:nvPr/>
        </p:nvSpPr>
        <p:spPr>
          <a:xfrm>
            <a:off x="4487570" y="1911096"/>
            <a:ext cx="1283665"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Proxy / API Gateway</a:t>
            </a:r>
            <a:endParaRPr lang="en-US" sz="1050" dirty="0"/>
          </a:p>
        </p:txBody>
      </p:sp>
      <p:sp>
        <p:nvSpPr>
          <p:cNvPr id="18" name="Shape 14"/>
          <p:cNvSpPr/>
          <p:nvPr/>
        </p:nvSpPr>
        <p:spPr>
          <a:xfrm>
            <a:off x="4900803" y="1554480"/>
            <a:ext cx="457200" cy="457200"/>
          </a:xfrm>
          <a:prstGeom prst="ellipse">
            <a:avLst/>
          </a:prstGeom>
          <a:solidFill>
            <a:srgbClr val="1E2761"/>
          </a:solidFill>
          <a:ln w="25400">
            <a:solidFill>
              <a:srgbClr val="FFFFFF"/>
            </a:solidFill>
            <a:prstDash val="solid"/>
          </a:ln>
        </p:spPr>
      </p:sp>
      <p:pic>
        <p:nvPicPr>
          <p:cNvPr id="19" name="Image 2" descr="/home/claude/formation-genai-de/assets/png/icon-server-2-white.png">    </p:cNvPr>
          <p:cNvPicPr>
            <a:picLocks noChangeAspect="1"/>
          </p:cNvPicPr>
          <p:nvPr/>
        </p:nvPicPr>
        <p:blipFill>
          <a:blip r:embed="rId3"/>
          <a:stretch>
            <a:fillRect/>
          </a:stretch>
        </p:blipFill>
        <p:spPr>
          <a:xfrm>
            <a:off x="5001387" y="1655064"/>
            <a:ext cx="256032" cy="256032"/>
          </a:xfrm>
          <a:prstGeom prst="rect">
            <a:avLst/>
          </a:prstGeom>
        </p:spPr>
      </p:pic>
      <p:sp>
        <p:nvSpPr>
          <p:cNvPr id="20" name="Shape 15"/>
          <p:cNvSpPr/>
          <p:nvPr/>
        </p:nvSpPr>
        <p:spPr>
          <a:xfrm>
            <a:off x="5844388" y="2144268"/>
            <a:ext cx="457200" cy="146304"/>
          </a:xfrm>
          <a:prstGeom prst="rightArrow">
            <a:avLst/>
          </a:prstGeom>
          <a:solidFill>
            <a:srgbClr val="F2B134"/>
          </a:solidFill>
          <a:ln/>
        </p:spPr>
      </p:sp>
      <p:sp>
        <p:nvSpPr>
          <p:cNvPr id="21" name="Shape 16"/>
          <p:cNvSpPr/>
          <p:nvPr/>
        </p:nvSpPr>
        <p:spPr>
          <a:xfrm>
            <a:off x="6347308" y="1783080"/>
            <a:ext cx="1429969" cy="868680"/>
          </a:xfrm>
          <a:prstGeom prst="roundRect">
            <a:avLst>
              <a:gd name="adj" fmla="val 8421"/>
            </a:avLst>
          </a:prstGeom>
          <a:solidFill>
            <a:srgbClr val="F3F6FC"/>
          </a:solidFill>
          <a:ln w="12700">
            <a:solidFill>
              <a:srgbClr val="1E2761"/>
            </a:solidFill>
            <a:prstDash val="solid"/>
          </a:ln>
        </p:spPr>
      </p:sp>
      <p:sp>
        <p:nvSpPr>
          <p:cNvPr id="22" name="Text 17"/>
          <p:cNvSpPr/>
          <p:nvPr/>
        </p:nvSpPr>
        <p:spPr>
          <a:xfrm>
            <a:off x="6420460" y="1911096"/>
            <a:ext cx="1283665"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API du LLM</a:t>
            </a:r>
            <a:endParaRPr lang="en-US" sz="1050" dirty="0"/>
          </a:p>
        </p:txBody>
      </p:sp>
      <p:sp>
        <p:nvSpPr>
          <p:cNvPr id="23" name="Shape 18"/>
          <p:cNvSpPr/>
          <p:nvPr/>
        </p:nvSpPr>
        <p:spPr>
          <a:xfrm>
            <a:off x="6833692" y="1554480"/>
            <a:ext cx="457200" cy="457200"/>
          </a:xfrm>
          <a:prstGeom prst="ellipse">
            <a:avLst/>
          </a:prstGeom>
          <a:solidFill>
            <a:srgbClr val="1E2761"/>
          </a:solidFill>
          <a:ln w="25400">
            <a:solidFill>
              <a:srgbClr val="FFFFFF"/>
            </a:solidFill>
            <a:prstDash val="solid"/>
          </a:ln>
        </p:spPr>
      </p:sp>
      <p:pic>
        <p:nvPicPr>
          <p:cNvPr id="24" name="Image 3" descr="/home/claude/formation-genai-de/assets/png/icon-api-white.png">    </p:cNvPr>
          <p:cNvPicPr>
            <a:picLocks noChangeAspect="1"/>
          </p:cNvPicPr>
          <p:nvPr/>
        </p:nvPicPr>
        <p:blipFill>
          <a:blip r:embed="rId4"/>
          <a:stretch>
            <a:fillRect/>
          </a:stretch>
        </p:blipFill>
        <p:spPr>
          <a:xfrm>
            <a:off x="6934276" y="1655064"/>
            <a:ext cx="256032" cy="256032"/>
          </a:xfrm>
          <a:prstGeom prst="rect">
            <a:avLst/>
          </a:prstGeom>
        </p:spPr>
      </p:pic>
      <p:sp>
        <p:nvSpPr>
          <p:cNvPr id="25" name="Shape 19"/>
          <p:cNvSpPr/>
          <p:nvPr/>
        </p:nvSpPr>
        <p:spPr>
          <a:xfrm>
            <a:off x="7777277" y="2144268"/>
            <a:ext cx="457200" cy="146304"/>
          </a:xfrm>
          <a:prstGeom prst="rightArrow">
            <a:avLst/>
          </a:prstGeom>
          <a:solidFill>
            <a:srgbClr val="F2B134"/>
          </a:solidFill>
          <a:ln/>
        </p:spPr>
      </p:sp>
      <p:sp>
        <p:nvSpPr>
          <p:cNvPr id="26" name="Shape 20"/>
          <p:cNvSpPr/>
          <p:nvPr/>
        </p:nvSpPr>
        <p:spPr>
          <a:xfrm>
            <a:off x="8280197" y="1783080"/>
            <a:ext cx="1429969" cy="868680"/>
          </a:xfrm>
          <a:prstGeom prst="roundRect">
            <a:avLst>
              <a:gd name="adj" fmla="val 8421"/>
            </a:avLst>
          </a:prstGeom>
          <a:solidFill>
            <a:srgbClr val="F3F6FC"/>
          </a:solidFill>
          <a:ln w="12700">
            <a:solidFill>
              <a:srgbClr val="1E2761"/>
            </a:solidFill>
            <a:prstDash val="solid"/>
          </a:ln>
        </p:spPr>
      </p:sp>
      <p:sp>
        <p:nvSpPr>
          <p:cNvPr id="27" name="Text 21"/>
          <p:cNvSpPr/>
          <p:nvPr/>
        </p:nvSpPr>
        <p:spPr>
          <a:xfrm>
            <a:off x="8353349" y="1911096"/>
            <a:ext cx="1283665"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Filtre de sortie</a:t>
            </a:r>
            <a:endParaRPr lang="en-US" sz="1050" dirty="0"/>
          </a:p>
        </p:txBody>
      </p:sp>
      <p:sp>
        <p:nvSpPr>
          <p:cNvPr id="28" name="Shape 22"/>
          <p:cNvSpPr/>
          <p:nvPr/>
        </p:nvSpPr>
        <p:spPr>
          <a:xfrm>
            <a:off x="8766581" y="1554480"/>
            <a:ext cx="457200" cy="457200"/>
          </a:xfrm>
          <a:prstGeom prst="ellipse">
            <a:avLst/>
          </a:prstGeom>
          <a:solidFill>
            <a:srgbClr val="1E2761"/>
          </a:solidFill>
          <a:ln w="25400">
            <a:solidFill>
              <a:srgbClr val="FFFFFF"/>
            </a:solidFill>
            <a:prstDash val="solid"/>
          </a:ln>
        </p:spPr>
      </p:sp>
      <p:pic>
        <p:nvPicPr>
          <p:cNvPr id="29" name="Image 4" descr="/home/claude/formation-genai-de/assets/png/icon-filter-white.png">    </p:cNvPr>
          <p:cNvPicPr>
            <a:picLocks noChangeAspect="1"/>
          </p:cNvPicPr>
          <p:nvPr/>
        </p:nvPicPr>
        <p:blipFill>
          <a:blip r:embed="rId5"/>
          <a:stretch>
            <a:fillRect/>
          </a:stretch>
        </p:blipFill>
        <p:spPr>
          <a:xfrm>
            <a:off x="8867165" y="1655064"/>
            <a:ext cx="256032" cy="256032"/>
          </a:xfrm>
          <a:prstGeom prst="rect">
            <a:avLst/>
          </a:prstGeom>
        </p:spPr>
      </p:pic>
      <p:sp>
        <p:nvSpPr>
          <p:cNvPr id="30" name="Shape 23"/>
          <p:cNvSpPr/>
          <p:nvPr/>
        </p:nvSpPr>
        <p:spPr>
          <a:xfrm>
            <a:off x="9710166" y="2144268"/>
            <a:ext cx="457200" cy="146304"/>
          </a:xfrm>
          <a:prstGeom prst="rightArrow">
            <a:avLst/>
          </a:prstGeom>
          <a:solidFill>
            <a:srgbClr val="F2B134"/>
          </a:solidFill>
          <a:ln/>
        </p:spPr>
      </p:sp>
      <p:sp>
        <p:nvSpPr>
          <p:cNvPr id="31" name="Shape 24"/>
          <p:cNvSpPr/>
          <p:nvPr/>
        </p:nvSpPr>
        <p:spPr>
          <a:xfrm>
            <a:off x="10213086" y="1783080"/>
            <a:ext cx="1429969" cy="868680"/>
          </a:xfrm>
          <a:prstGeom prst="roundRect">
            <a:avLst>
              <a:gd name="adj" fmla="val 8421"/>
            </a:avLst>
          </a:prstGeom>
          <a:solidFill>
            <a:srgbClr val="1E2761"/>
          </a:solidFill>
          <a:ln w="12700">
            <a:solidFill>
              <a:srgbClr val="1E2761"/>
            </a:solidFill>
            <a:prstDash val="solid"/>
          </a:ln>
        </p:spPr>
      </p:sp>
      <p:sp>
        <p:nvSpPr>
          <p:cNvPr id="32" name="Text 25"/>
          <p:cNvSpPr/>
          <p:nvPr/>
        </p:nvSpPr>
        <p:spPr>
          <a:xfrm>
            <a:off x="10286238" y="1911096"/>
            <a:ext cx="1283665"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Application</a:t>
            </a:r>
            <a:endParaRPr lang="en-US" sz="1050" dirty="0"/>
          </a:p>
        </p:txBody>
      </p:sp>
      <p:sp>
        <p:nvSpPr>
          <p:cNvPr id="33" name="Shape 26"/>
          <p:cNvSpPr/>
          <p:nvPr/>
        </p:nvSpPr>
        <p:spPr>
          <a:xfrm>
            <a:off x="10699471" y="1554480"/>
            <a:ext cx="457200" cy="457200"/>
          </a:xfrm>
          <a:prstGeom prst="ellipse">
            <a:avLst/>
          </a:prstGeom>
          <a:solidFill>
            <a:srgbClr val="F2B134"/>
          </a:solidFill>
          <a:ln w="25400">
            <a:solidFill>
              <a:srgbClr val="FFFFFF"/>
            </a:solidFill>
            <a:prstDash val="solid"/>
          </a:ln>
        </p:spPr>
      </p:sp>
      <p:pic>
        <p:nvPicPr>
          <p:cNvPr id="34" name="Image 5" descr="/home/claude/formation-genai-de/assets/png/icon-apps-navy.png">    </p:cNvPr>
          <p:cNvPicPr>
            <a:picLocks noChangeAspect="1"/>
          </p:cNvPicPr>
          <p:nvPr/>
        </p:nvPicPr>
        <p:blipFill>
          <a:blip r:embed="rId6"/>
          <a:stretch>
            <a:fillRect/>
          </a:stretch>
        </p:blipFill>
        <p:spPr>
          <a:xfrm>
            <a:off x="10800055" y="1655064"/>
            <a:ext cx="256032" cy="256032"/>
          </a:xfrm>
          <a:prstGeom prst="rect">
            <a:avLst/>
          </a:prstGeom>
        </p:spPr>
      </p:pic>
      <p:sp>
        <p:nvSpPr>
          <p:cNvPr id="36" name="Text 27"/>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37" name="Text 28"/>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094415" cy="1051560"/>
          </a:xfrm>
          <a:prstGeom prst="roundRect">
            <a:avLst>
              <a:gd name="adj" fmla="val 5217"/>
            </a:avLst>
          </a:prstGeom>
          <a:solidFill>
            <a:srgbClr val="1E2761"/>
          </a:solidFill>
          <a:ln/>
        </p:spPr>
      </p:sp>
      <p:sp>
        <p:nvSpPr>
          <p:cNvPr id="3" name="Text 1"/>
          <p:cNvSpPr/>
          <p:nvPr/>
        </p:nvSpPr>
        <p:spPr>
          <a:xfrm>
            <a:off x="822960" y="548640"/>
            <a:ext cx="7315200" cy="274320"/>
          </a:xfrm>
          <a:prstGeom prst="rect">
            <a:avLst/>
          </a:prstGeom>
          <a:noFill/>
          <a:ln/>
        </p:spPr>
        <p:txBody>
          <a:bodyPr wrap="square" lIns="0" tIns="0" rIns="0" bIns="0" rtlCol="0" anchor="ctr"/>
          <a:lstStyle/>
          <a:p>
            <a:pPr indent="0" marL="0">
              <a:buNone/>
            </a:pPr>
            <a:r>
              <a:rPr lang="en-US" sz="1200" b="1" spc="150" kern="0" dirty="0">
                <a:solidFill>
                  <a:srgbClr val="F2B134"/>
                </a:solidFill>
                <a:latin typeface="Calibri" pitchFamily="34" charset="0"/>
                <a:ea typeface="Calibri" pitchFamily="34" charset="-122"/>
                <a:cs typeface="Calibri" pitchFamily="34" charset="-120"/>
              </a:rPr>
              <a:t>TRAVAUX PRATIQUES  N°7</a:t>
            </a:r>
            <a:endParaRPr lang="en-US" sz="1200" dirty="0"/>
          </a:p>
        </p:txBody>
      </p:sp>
      <p:sp>
        <p:nvSpPr>
          <p:cNvPr id="4" name="Text 2"/>
          <p:cNvSpPr/>
          <p:nvPr/>
        </p:nvSpPr>
        <p:spPr>
          <a:xfrm>
            <a:off x="822960" y="804672"/>
            <a:ext cx="777240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Mise en place d'un proxy API avec filtrage des entrees</a:t>
            </a:r>
            <a:endParaRPr lang="en-US" sz="1800" dirty="0"/>
          </a:p>
        </p:txBody>
      </p:sp>
      <p:sp>
        <p:nvSpPr>
          <p:cNvPr id="5" name="Text 3"/>
          <p:cNvSpPr/>
          <p:nvPr/>
        </p:nvSpPr>
        <p:spPr>
          <a:xfrm>
            <a:off x="9265615" y="548640"/>
            <a:ext cx="2103120" cy="274320"/>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Duree : 70 min</a:t>
            </a:r>
            <a:endParaRPr lang="en-US" sz="1150" dirty="0"/>
          </a:p>
        </p:txBody>
      </p:sp>
      <p:sp>
        <p:nvSpPr>
          <p:cNvPr id="6" name="Text 4"/>
          <p:cNvSpPr/>
          <p:nvPr/>
        </p:nvSpPr>
        <p:spPr>
          <a:xfrm>
            <a:off x="548640" y="1783080"/>
            <a:ext cx="54864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Consignes</a:t>
            </a:r>
            <a:endParaRPr lang="en-US" sz="1400" dirty="0"/>
          </a:p>
        </p:txBody>
      </p:sp>
      <p:sp>
        <p:nvSpPr>
          <p:cNvPr id="7" name="Text 5"/>
          <p:cNvSpPr/>
          <p:nvPr/>
        </p:nvSpPr>
        <p:spPr>
          <a:xfrm>
            <a:off x="548640" y="2194560"/>
            <a:ext cx="11094415" cy="384048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Concevoir (schema ou pseudo-code) un proxy applicatif s'interposant entre l'application et l'API du LLM</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Definir les regles de filtrage a appliquer sur les entrees : detection de donnees personnelles/sensibles avant envoi, longueur maximale, liste de mots-cles interdits</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Definir le niveau de logging a mettre en place : quoi logger, quoi masquer, duree de retention</a:t>
            </a:r>
            <a:endParaRPr lang="en-US" sz="1400" dirty="0"/>
          </a:p>
        </p:txBody>
      </p:sp>
      <p:sp>
        <p:nvSpPr>
          <p:cNvPr id="9" name="Text 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0" name="Text 7"/>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TP7 · Module 7</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48640" cy="548640"/>
          </a:xfrm>
          <a:prstGeom prst="ellipse">
            <a:avLst/>
          </a:prstGeom>
          <a:solidFill>
            <a:srgbClr val="2E7D32"/>
          </a:solidFill>
          <a:ln/>
        </p:spPr>
      </p:sp>
      <p:sp>
        <p:nvSpPr>
          <p:cNvPr id="3" name="Text 1"/>
          <p:cNvSpPr/>
          <p:nvPr/>
        </p:nvSpPr>
        <p:spPr>
          <a:xfrm>
            <a:off x="548640" y="411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4" name="Text 2"/>
          <p:cNvSpPr/>
          <p:nvPr/>
        </p:nvSpPr>
        <p:spPr>
          <a:xfrm>
            <a:off x="1325880" y="411480"/>
            <a:ext cx="8229600" cy="54864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Elements de reponse - TP n°7</a:t>
            </a:r>
            <a:endParaRPr lang="en-US" sz="2000" dirty="0"/>
          </a:p>
        </p:txBody>
      </p:sp>
      <p:sp>
        <p:nvSpPr>
          <p:cNvPr id="5" name="Shape 3"/>
          <p:cNvSpPr/>
          <p:nvPr/>
        </p:nvSpPr>
        <p:spPr>
          <a:xfrm>
            <a:off x="548640" y="2587231"/>
            <a:ext cx="11094415" cy="1774977"/>
          </a:xfrm>
          <a:prstGeom prst="roundRect">
            <a:avLst>
              <a:gd name="adj" fmla="val 4121"/>
            </a:avLst>
          </a:prstGeom>
          <a:solidFill>
            <a:srgbClr val="F3F6FC"/>
          </a:solidFill>
          <a:ln/>
        </p:spPr>
      </p:sp>
      <p:sp>
        <p:nvSpPr>
          <p:cNvPr id="6" name="Text 4"/>
          <p:cNvSpPr/>
          <p:nvPr/>
        </p:nvSpPr>
        <p:spPr>
          <a:xfrm>
            <a:off x="868680" y="2815831"/>
            <a:ext cx="10454335" cy="1317777"/>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Schema attendu : Application -&gt; Filtre d'entree -&gt; Proxy/Gateway -&gt; API LLM -&gt; Filtre de sortie -&gt; Application</a:t>
            </a:r>
            <a:endParaRPr lang="en-US" sz="1350" dirty="0"/>
          </a:p>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Niveau de logging attendu : logger systematiquement les metadonnees et le statut de chaque appel ; masquer ou ne pas logger le contenu des prompts contenant des donnees personnelles detectees ; rétention alignee sur la politique RGPD interne (ex. 30 jours) ; alerting en cas de detection repetee de donnees sensibles</a:t>
            </a:r>
            <a:endParaRPr lang="en-US" sz="135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Corrige TP7 · Module 7</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234440" y="457200"/>
            <a:ext cx="941832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Cas d'usage avances</a:t>
            </a:r>
            <a:endParaRPr lang="en-US" sz="2100" dirty="0"/>
          </a:p>
        </p:txBody>
      </p:sp>
      <p:sp>
        <p:nvSpPr>
          <p:cNvPr id="5" name="Text 3"/>
          <p:cNvSpPr/>
          <p:nvPr/>
        </p:nvSpPr>
        <p:spPr>
          <a:xfrm>
            <a:off x="548640" y="1143000"/>
            <a:ext cx="11094415" cy="457200"/>
          </a:xfrm>
          <a:prstGeom prst="rect">
            <a:avLst/>
          </a:prstGeom>
          <a:noFill/>
          <a:ln/>
        </p:spPr>
        <p:txBody>
          <a:bodyPr wrap="square" lIns="0" tIns="0" rIns="0" bIns="0" rtlCol="0" anchor="ctr"/>
          <a:lstStyle/>
          <a:p>
            <a:pPr indent="0" marL="0">
              <a:buNone/>
            </a:pPr>
            <a:r>
              <a:rPr lang="en-US" sz="1250" i="1" dirty="0">
                <a:solidFill>
                  <a:srgbClr val="7C8194"/>
                </a:solidFill>
                <a:latin typeface="Calibri" pitchFamily="34" charset="0"/>
                <a:ea typeface="Calibri" pitchFamily="34" charset="-122"/>
                <a:cs typeface="Calibri" pitchFamily="34" charset="-120"/>
              </a:rPr>
              <a:t>Objectif : Mettre en oeuvre un copilote IA generative sur un flux de donnees concret.</a:t>
            </a:r>
            <a:endParaRPr lang="en-US" sz="1250" dirty="0"/>
          </a:p>
        </p:txBody>
      </p:sp>
      <p:sp>
        <p:nvSpPr>
          <p:cNvPr id="6" name="Text 4"/>
          <p:cNvSpPr/>
          <p:nvPr/>
        </p:nvSpPr>
        <p:spPr>
          <a:xfrm>
            <a:off x="548640" y="1737360"/>
            <a:ext cx="11094415" cy="438912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Resume automatique de logs : synthese de logs applicatifs volumineux, detection d'anomalies recurrentes, priorisation des incidents</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Documentation de code automatisee : generation de docstrings, de README, de schemas d'architecture a partir du code existant</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Generation de SQL a la volee : traduction langage naturel vers SQL (text-to-SQL), assistance a l'ecriture de requetes complexes</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IA copilote pour l'ingestion de donnees : detection automatique de schema, proposition de mapping source/cible, generation de scripts d'ingestion</a:t>
            </a:r>
            <a:endParaRPr lang="en-US" sz="150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234440" y="457200"/>
            <a:ext cx="822960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Cas d'usage avances · Schema</a:t>
            </a:r>
            <a:endParaRPr lang="en-US" sz="2100" dirty="0"/>
          </a:p>
        </p:txBody>
      </p:sp>
      <p:sp>
        <p:nvSpPr>
          <p:cNvPr id="5" name="Text 3"/>
          <p:cNvSpPr/>
          <p:nvPr/>
        </p:nvSpPr>
        <p:spPr>
          <a:xfrm>
            <a:off x="9357055" y="502920"/>
            <a:ext cx="2286000" cy="274320"/>
          </a:xfrm>
          <a:prstGeom prst="rect">
            <a:avLst/>
          </a:prstGeom>
          <a:noFill/>
          <a:ln/>
        </p:spPr>
        <p:txBody>
          <a:bodyPr wrap="square" lIns="0" tIns="0" rIns="0" bIns="0" rtlCol="0" anchor="ctr"/>
          <a:lstStyle/>
          <a:p>
            <a:pPr algn="r" indent="0" marL="0">
              <a:buNone/>
            </a:pPr>
            <a:r>
              <a:rPr lang="en-US" sz="1000" b="1" spc="200" kern="0" dirty="0">
                <a:solidFill>
                  <a:srgbClr val="1E2761"/>
                </a:solidFill>
                <a:latin typeface="Calibri" pitchFamily="34" charset="0"/>
                <a:ea typeface="Calibri" pitchFamily="34" charset="-122"/>
                <a:cs typeface="Calibri" pitchFamily="34" charset="-120"/>
              </a:rPr>
              <a:t>SCHEMA</a:t>
            </a:r>
            <a:endParaRPr lang="en-US" sz="1000" dirty="0"/>
          </a:p>
        </p:txBody>
      </p:sp>
      <p:sp>
        <p:nvSpPr>
          <p:cNvPr id="6" name="Shape 4"/>
          <p:cNvSpPr/>
          <p:nvPr/>
        </p:nvSpPr>
        <p:spPr>
          <a:xfrm>
            <a:off x="548640" y="1463040"/>
            <a:ext cx="5432908" cy="2093976"/>
          </a:xfrm>
          <a:prstGeom prst="roundRect">
            <a:avLst>
              <a:gd name="adj" fmla="val 3493"/>
            </a:avLst>
          </a:prstGeom>
          <a:solidFill>
            <a:srgbClr val="F3F6FC"/>
          </a:solidFill>
          <a:ln/>
        </p:spPr>
      </p:sp>
      <p:sp>
        <p:nvSpPr>
          <p:cNvPr id="7" name="Shape 5"/>
          <p:cNvSpPr/>
          <p:nvPr/>
        </p:nvSpPr>
        <p:spPr>
          <a:xfrm>
            <a:off x="548640" y="1463040"/>
            <a:ext cx="82296" cy="2093976"/>
          </a:xfrm>
          <a:prstGeom prst="rect">
            <a:avLst/>
          </a:prstGeom>
          <a:solidFill>
            <a:srgbClr val="F2B134"/>
          </a:solidFill>
          <a:ln/>
        </p:spPr>
      </p:sp>
      <p:sp>
        <p:nvSpPr>
          <p:cNvPr id="8" name="Shape 6"/>
          <p:cNvSpPr/>
          <p:nvPr/>
        </p:nvSpPr>
        <p:spPr>
          <a:xfrm>
            <a:off x="822960" y="1664208"/>
            <a:ext cx="512064" cy="512064"/>
          </a:xfrm>
          <a:prstGeom prst="ellipse">
            <a:avLst/>
          </a:prstGeom>
          <a:solidFill>
            <a:srgbClr val="1E2761"/>
          </a:solidFill>
          <a:ln/>
        </p:spPr>
      </p:sp>
      <p:pic>
        <p:nvPicPr>
          <p:cNvPr id="9" name="Image 0" descr="/home/claude/formation-genai-de/assets/png/icon-file-text-gold.png">    </p:cNvPr>
          <p:cNvPicPr>
            <a:picLocks noChangeAspect="1"/>
          </p:cNvPicPr>
          <p:nvPr/>
        </p:nvPicPr>
        <p:blipFill>
          <a:blip r:embed="rId1"/>
          <a:stretch>
            <a:fillRect/>
          </a:stretch>
        </p:blipFill>
        <p:spPr>
          <a:xfrm>
            <a:off x="914400" y="1755648"/>
            <a:ext cx="329184" cy="329184"/>
          </a:xfrm>
          <a:prstGeom prst="rect">
            <a:avLst/>
          </a:prstGeom>
        </p:spPr>
      </p:pic>
      <p:sp>
        <p:nvSpPr>
          <p:cNvPr id="10" name="Text 7"/>
          <p:cNvSpPr/>
          <p:nvPr/>
        </p:nvSpPr>
        <p:spPr>
          <a:xfrm>
            <a:off x="1517904" y="1591056"/>
            <a:ext cx="4235044" cy="65836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Resume de logs</a:t>
            </a:r>
            <a:endParaRPr lang="en-US" sz="1350" dirty="0"/>
          </a:p>
        </p:txBody>
      </p:sp>
      <p:sp>
        <p:nvSpPr>
          <p:cNvPr id="11" name="Text 8"/>
          <p:cNvSpPr/>
          <p:nvPr/>
        </p:nvSpPr>
        <p:spPr>
          <a:xfrm>
            <a:off x="822960" y="2322576"/>
            <a:ext cx="4929988" cy="1124712"/>
          </a:xfrm>
          <a:prstGeom prst="rect">
            <a:avLst/>
          </a:prstGeom>
          <a:noFill/>
          <a:ln/>
        </p:spPr>
        <p:txBody>
          <a:bodyPr wrap="square" lIns="0" tIns="0" rIns="0" bIns="0" rtlCol="0" anchor="t"/>
          <a:lstStyle/>
          <a:p>
            <a:pPr indent="0" marL="0">
              <a:lnSpc>
                <a:spcPct val="120000"/>
              </a:lnSpc>
              <a:buNone/>
            </a:pPr>
            <a:r>
              <a:rPr lang="en-US" sz="1100" dirty="0">
                <a:solidFill>
                  <a:srgbClr val="26293A"/>
                </a:solidFill>
                <a:latin typeface="Calibri" pitchFamily="34" charset="0"/>
                <a:ea typeface="Calibri" pitchFamily="34" charset="-122"/>
                <a:cs typeface="Calibri" pitchFamily="34" charset="-120"/>
              </a:rPr>
              <a:t>Synthese, detection d'anomalies, priorisation des incidents</a:t>
            </a:r>
            <a:endParaRPr lang="en-US" sz="1100" dirty="0"/>
          </a:p>
        </p:txBody>
      </p:sp>
      <p:sp>
        <p:nvSpPr>
          <p:cNvPr id="12" name="Shape 9"/>
          <p:cNvSpPr/>
          <p:nvPr/>
        </p:nvSpPr>
        <p:spPr>
          <a:xfrm>
            <a:off x="6210148" y="1463040"/>
            <a:ext cx="5432908" cy="2093976"/>
          </a:xfrm>
          <a:prstGeom prst="roundRect">
            <a:avLst>
              <a:gd name="adj" fmla="val 3493"/>
            </a:avLst>
          </a:prstGeom>
          <a:solidFill>
            <a:srgbClr val="F3F6FC"/>
          </a:solidFill>
          <a:ln/>
        </p:spPr>
      </p:sp>
      <p:sp>
        <p:nvSpPr>
          <p:cNvPr id="13" name="Shape 10"/>
          <p:cNvSpPr/>
          <p:nvPr/>
        </p:nvSpPr>
        <p:spPr>
          <a:xfrm>
            <a:off x="6210148" y="1463040"/>
            <a:ext cx="82296" cy="2093976"/>
          </a:xfrm>
          <a:prstGeom prst="rect">
            <a:avLst/>
          </a:prstGeom>
          <a:solidFill>
            <a:srgbClr val="F2B134"/>
          </a:solidFill>
          <a:ln/>
        </p:spPr>
      </p:sp>
      <p:sp>
        <p:nvSpPr>
          <p:cNvPr id="14" name="Shape 11"/>
          <p:cNvSpPr/>
          <p:nvPr/>
        </p:nvSpPr>
        <p:spPr>
          <a:xfrm>
            <a:off x="6484468" y="1664208"/>
            <a:ext cx="512064" cy="512064"/>
          </a:xfrm>
          <a:prstGeom prst="ellipse">
            <a:avLst/>
          </a:prstGeom>
          <a:solidFill>
            <a:srgbClr val="1E2761"/>
          </a:solidFill>
          <a:ln/>
        </p:spPr>
      </p:sp>
      <p:pic>
        <p:nvPicPr>
          <p:cNvPr id="15" name="Image 1" descr="/home/claude/formation-genai-de/assets/png/icon-code-gold.png">    </p:cNvPr>
          <p:cNvPicPr>
            <a:picLocks noChangeAspect="1"/>
          </p:cNvPicPr>
          <p:nvPr/>
        </p:nvPicPr>
        <p:blipFill>
          <a:blip r:embed="rId2"/>
          <a:stretch>
            <a:fillRect/>
          </a:stretch>
        </p:blipFill>
        <p:spPr>
          <a:xfrm>
            <a:off x="6575908" y="1755648"/>
            <a:ext cx="329184" cy="329184"/>
          </a:xfrm>
          <a:prstGeom prst="rect">
            <a:avLst/>
          </a:prstGeom>
        </p:spPr>
      </p:pic>
      <p:sp>
        <p:nvSpPr>
          <p:cNvPr id="16" name="Text 12"/>
          <p:cNvSpPr/>
          <p:nvPr/>
        </p:nvSpPr>
        <p:spPr>
          <a:xfrm>
            <a:off x="7179412" y="1591056"/>
            <a:ext cx="4235044" cy="65836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Documentation de code</a:t>
            </a:r>
            <a:endParaRPr lang="en-US" sz="1350" dirty="0"/>
          </a:p>
        </p:txBody>
      </p:sp>
      <p:sp>
        <p:nvSpPr>
          <p:cNvPr id="17" name="Text 13"/>
          <p:cNvSpPr/>
          <p:nvPr/>
        </p:nvSpPr>
        <p:spPr>
          <a:xfrm>
            <a:off x="6484468" y="2322576"/>
            <a:ext cx="4929988" cy="1124712"/>
          </a:xfrm>
          <a:prstGeom prst="rect">
            <a:avLst/>
          </a:prstGeom>
          <a:noFill/>
          <a:ln/>
        </p:spPr>
        <p:txBody>
          <a:bodyPr wrap="square" lIns="0" tIns="0" rIns="0" bIns="0" rtlCol="0" anchor="t"/>
          <a:lstStyle/>
          <a:p>
            <a:pPr indent="0" marL="0">
              <a:lnSpc>
                <a:spcPct val="120000"/>
              </a:lnSpc>
              <a:buNone/>
            </a:pPr>
            <a:r>
              <a:rPr lang="en-US" sz="1100" dirty="0">
                <a:solidFill>
                  <a:srgbClr val="26293A"/>
                </a:solidFill>
                <a:latin typeface="Calibri" pitchFamily="34" charset="0"/>
                <a:ea typeface="Calibri" pitchFamily="34" charset="-122"/>
                <a:cs typeface="Calibri" pitchFamily="34" charset="-120"/>
              </a:rPr>
              <a:t>Docstrings, README, schemas d'architecture generes</a:t>
            </a:r>
            <a:endParaRPr lang="en-US" sz="1100" dirty="0"/>
          </a:p>
        </p:txBody>
      </p:sp>
      <p:sp>
        <p:nvSpPr>
          <p:cNvPr id="18" name="Shape 14"/>
          <p:cNvSpPr/>
          <p:nvPr/>
        </p:nvSpPr>
        <p:spPr>
          <a:xfrm>
            <a:off x="548640" y="3758184"/>
            <a:ext cx="5432908" cy="2093976"/>
          </a:xfrm>
          <a:prstGeom prst="roundRect">
            <a:avLst>
              <a:gd name="adj" fmla="val 3493"/>
            </a:avLst>
          </a:prstGeom>
          <a:solidFill>
            <a:srgbClr val="F3F6FC"/>
          </a:solidFill>
          <a:ln/>
        </p:spPr>
      </p:sp>
      <p:sp>
        <p:nvSpPr>
          <p:cNvPr id="19" name="Shape 15"/>
          <p:cNvSpPr/>
          <p:nvPr/>
        </p:nvSpPr>
        <p:spPr>
          <a:xfrm>
            <a:off x="548640" y="3758184"/>
            <a:ext cx="82296" cy="2093976"/>
          </a:xfrm>
          <a:prstGeom prst="rect">
            <a:avLst/>
          </a:prstGeom>
          <a:solidFill>
            <a:srgbClr val="F2B134"/>
          </a:solidFill>
          <a:ln/>
        </p:spPr>
      </p:sp>
      <p:sp>
        <p:nvSpPr>
          <p:cNvPr id="20" name="Shape 16"/>
          <p:cNvSpPr/>
          <p:nvPr/>
        </p:nvSpPr>
        <p:spPr>
          <a:xfrm>
            <a:off x="822960" y="3959352"/>
            <a:ext cx="512064" cy="512064"/>
          </a:xfrm>
          <a:prstGeom prst="ellipse">
            <a:avLst/>
          </a:prstGeom>
          <a:solidFill>
            <a:srgbClr val="1E2761"/>
          </a:solidFill>
          <a:ln/>
        </p:spPr>
      </p:sp>
      <p:pic>
        <p:nvPicPr>
          <p:cNvPr id="21" name="Image 2" descr="/home/claude/formation-genai-de/assets/png/icon-database-cog-gold.png">    </p:cNvPr>
          <p:cNvPicPr>
            <a:picLocks noChangeAspect="1"/>
          </p:cNvPicPr>
          <p:nvPr/>
        </p:nvPicPr>
        <p:blipFill>
          <a:blip r:embed="rId3"/>
          <a:stretch>
            <a:fillRect/>
          </a:stretch>
        </p:blipFill>
        <p:spPr>
          <a:xfrm>
            <a:off x="914400" y="4050792"/>
            <a:ext cx="329184" cy="329184"/>
          </a:xfrm>
          <a:prstGeom prst="rect">
            <a:avLst/>
          </a:prstGeom>
        </p:spPr>
      </p:pic>
      <p:sp>
        <p:nvSpPr>
          <p:cNvPr id="22" name="Text 17"/>
          <p:cNvSpPr/>
          <p:nvPr/>
        </p:nvSpPr>
        <p:spPr>
          <a:xfrm>
            <a:off x="1517904" y="3886200"/>
            <a:ext cx="4235044" cy="65836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Text-to-SQL</a:t>
            </a:r>
            <a:endParaRPr lang="en-US" sz="1350" dirty="0"/>
          </a:p>
        </p:txBody>
      </p:sp>
      <p:sp>
        <p:nvSpPr>
          <p:cNvPr id="23" name="Text 18"/>
          <p:cNvSpPr/>
          <p:nvPr/>
        </p:nvSpPr>
        <p:spPr>
          <a:xfrm>
            <a:off x="822960" y="4617720"/>
            <a:ext cx="4929988" cy="1124712"/>
          </a:xfrm>
          <a:prstGeom prst="rect">
            <a:avLst/>
          </a:prstGeom>
          <a:noFill/>
          <a:ln/>
        </p:spPr>
        <p:txBody>
          <a:bodyPr wrap="square" lIns="0" tIns="0" rIns="0" bIns="0" rtlCol="0" anchor="t"/>
          <a:lstStyle/>
          <a:p>
            <a:pPr indent="0" marL="0">
              <a:lnSpc>
                <a:spcPct val="120000"/>
              </a:lnSpc>
              <a:buNone/>
            </a:pPr>
            <a:r>
              <a:rPr lang="en-US" sz="1100" dirty="0">
                <a:solidFill>
                  <a:srgbClr val="26293A"/>
                </a:solidFill>
                <a:latin typeface="Calibri" pitchFamily="34" charset="0"/>
                <a:ea typeface="Calibri" pitchFamily="34" charset="-122"/>
                <a:cs typeface="Calibri" pitchFamily="34" charset="-120"/>
              </a:rPr>
              <a:t>Traduction langage naturel vers requete SQL</a:t>
            </a:r>
            <a:endParaRPr lang="en-US" sz="1100" dirty="0"/>
          </a:p>
        </p:txBody>
      </p:sp>
      <p:sp>
        <p:nvSpPr>
          <p:cNvPr id="24" name="Shape 19"/>
          <p:cNvSpPr/>
          <p:nvPr/>
        </p:nvSpPr>
        <p:spPr>
          <a:xfrm>
            <a:off x="6210148" y="3758184"/>
            <a:ext cx="5432908" cy="2093976"/>
          </a:xfrm>
          <a:prstGeom prst="roundRect">
            <a:avLst>
              <a:gd name="adj" fmla="val 3493"/>
            </a:avLst>
          </a:prstGeom>
          <a:solidFill>
            <a:srgbClr val="F3F6FC"/>
          </a:solidFill>
          <a:ln/>
        </p:spPr>
      </p:sp>
      <p:sp>
        <p:nvSpPr>
          <p:cNvPr id="25" name="Shape 20"/>
          <p:cNvSpPr/>
          <p:nvPr/>
        </p:nvSpPr>
        <p:spPr>
          <a:xfrm>
            <a:off x="6210148" y="3758184"/>
            <a:ext cx="82296" cy="2093976"/>
          </a:xfrm>
          <a:prstGeom prst="rect">
            <a:avLst/>
          </a:prstGeom>
          <a:solidFill>
            <a:srgbClr val="F2B134"/>
          </a:solidFill>
          <a:ln/>
        </p:spPr>
      </p:sp>
      <p:sp>
        <p:nvSpPr>
          <p:cNvPr id="26" name="Shape 21"/>
          <p:cNvSpPr/>
          <p:nvPr/>
        </p:nvSpPr>
        <p:spPr>
          <a:xfrm>
            <a:off x="6484468" y="3959352"/>
            <a:ext cx="512064" cy="512064"/>
          </a:xfrm>
          <a:prstGeom prst="ellipse">
            <a:avLst/>
          </a:prstGeom>
          <a:solidFill>
            <a:srgbClr val="1E2761"/>
          </a:solidFill>
          <a:ln/>
        </p:spPr>
      </p:sp>
      <p:pic>
        <p:nvPicPr>
          <p:cNvPr id="27" name="Image 3" descr="/home/claude/formation-genai-de/assets/png/icon-plug-connected-gold.png">    </p:cNvPr>
          <p:cNvPicPr>
            <a:picLocks noChangeAspect="1"/>
          </p:cNvPicPr>
          <p:nvPr/>
        </p:nvPicPr>
        <p:blipFill>
          <a:blip r:embed="rId4"/>
          <a:stretch>
            <a:fillRect/>
          </a:stretch>
        </p:blipFill>
        <p:spPr>
          <a:xfrm>
            <a:off x="6575908" y="4050792"/>
            <a:ext cx="329184" cy="329184"/>
          </a:xfrm>
          <a:prstGeom prst="rect">
            <a:avLst/>
          </a:prstGeom>
        </p:spPr>
      </p:pic>
      <p:sp>
        <p:nvSpPr>
          <p:cNvPr id="28" name="Text 22"/>
          <p:cNvSpPr/>
          <p:nvPr/>
        </p:nvSpPr>
        <p:spPr>
          <a:xfrm>
            <a:off x="7179412" y="3886200"/>
            <a:ext cx="4235044" cy="658368"/>
          </a:xfrm>
          <a:prstGeom prst="rect">
            <a:avLst/>
          </a:prstGeom>
          <a:noFill/>
          <a:ln/>
        </p:spPr>
        <p:txBody>
          <a:bodyPr wrap="square" lIns="0" tIns="0" rIns="0" bIns="0" rtlCol="0" anchor="ctr"/>
          <a:lstStyle/>
          <a:p>
            <a:pPr indent="0" marL="0">
              <a:buNone/>
            </a:pPr>
            <a:r>
              <a:rPr lang="en-US" sz="1350" b="1" dirty="0">
                <a:solidFill>
                  <a:srgbClr val="1E2761"/>
                </a:solidFill>
                <a:latin typeface="Calibri" pitchFamily="34" charset="0"/>
                <a:ea typeface="Calibri" pitchFamily="34" charset="-122"/>
                <a:cs typeface="Calibri" pitchFamily="34" charset="-120"/>
              </a:rPr>
              <a:t>Copilote d'ingestion</a:t>
            </a:r>
            <a:endParaRPr lang="en-US" sz="1350" dirty="0"/>
          </a:p>
        </p:txBody>
      </p:sp>
      <p:sp>
        <p:nvSpPr>
          <p:cNvPr id="29" name="Text 23"/>
          <p:cNvSpPr/>
          <p:nvPr/>
        </p:nvSpPr>
        <p:spPr>
          <a:xfrm>
            <a:off x="6484468" y="4617720"/>
            <a:ext cx="4929988" cy="1124712"/>
          </a:xfrm>
          <a:prstGeom prst="rect">
            <a:avLst/>
          </a:prstGeom>
          <a:noFill/>
          <a:ln/>
        </p:spPr>
        <p:txBody>
          <a:bodyPr wrap="square" lIns="0" tIns="0" rIns="0" bIns="0" rtlCol="0" anchor="t"/>
          <a:lstStyle/>
          <a:p>
            <a:pPr indent="0" marL="0">
              <a:lnSpc>
                <a:spcPct val="120000"/>
              </a:lnSpc>
              <a:buNone/>
            </a:pPr>
            <a:r>
              <a:rPr lang="en-US" sz="1100" dirty="0">
                <a:solidFill>
                  <a:srgbClr val="26293A"/>
                </a:solidFill>
                <a:latin typeface="Calibri" pitchFamily="34" charset="0"/>
                <a:ea typeface="Calibri" pitchFamily="34" charset="-122"/>
                <a:cs typeface="Calibri" pitchFamily="34" charset="-120"/>
              </a:rPr>
              <a:t>Detection de schema, mapping source/cible, script genere</a:t>
            </a:r>
            <a:endParaRPr lang="en-US" sz="1100" dirty="0"/>
          </a:p>
        </p:txBody>
      </p:sp>
      <p:sp>
        <p:nvSpPr>
          <p:cNvPr id="31" name="Text 24"/>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32" name="Text 25"/>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094415" cy="1051560"/>
          </a:xfrm>
          <a:prstGeom prst="roundRect">
            <a:avLst>
              <a:gd name="adj" fmla="val 5217"/>
            </a:avLst>
          </a:prstGeom>
          <a:solidFill>
            <a:srgbClr val="1E2761"/>
          </a:solidFill>
          <a:ln/>
        </p:spPr>
      </p:sp>
      <p:sp>
        <p:nvSpPr>
          <p:cNvPr id="3" name="Text 1"/>
          <p:cNvSpPr/>
          <p:nvPr/>
        </p:nvSpPr>
        <p:spPr>
          <a:xfrm>
            <a:off x="822960" y="548640"/>
            <a:ext cx="7315200" cy="274320"/>
          </a:xfrm>
          <a:prstGeom prst="rect">
            <a:avLst/>
          </a:prstGeom>
          <a:noFill/>
          <a:ln/>
        </p:spPr>
        <p:txBody>
          <a:bodyPr wrap="square" lIns="0" tIns="0" rIns="0" bIns="0" rtlCol="0" anchor="ctr"/>
          <a:lstStyle/>
          <a:p>
            <a:pPr indent="0" marL="0">
              <a:buNone/>
            </a:pPr>
            <a:r>
              <a:rPr lang="en-US" sz="1200" b="1" spc="150" kern="0" dirty="0">
                <a:solidFill>
                  <a:srgbClr val="F2B134"/>
                </a:solidFill>
                <a:latin typeface="Calibri" pitchFamily="34" charset="0"/>
                <a:ea typeface="Calibri" pitchFamily="34" charset="-122"/>
                <a:cs typeface="Calibri" pitchFamily="34" charset="-120"/>
              </a:rPr>
              <a:t>TRAVAUX PRATIQUES  N°8</a:t>
            </a:r>
            <a:endParaRPr lang="en-US" sz="1200" dirty="0"/>
          </a:p>
        </p:txBody>
      </p:sp>
      <p:sp>
        <p:nvSpPr>
          <p:cNvPr id="4" name="Text 2"/>
          <p:cNvSpPr/>
          <p:nvPr/>
        </p:nvSpPr>
        <p:spPr>
          <a:xfrm>
            <a:off x="822960" y="804672"/>
            <a:ext cx="777240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Assistant generatif pour analyser des logs</a:t>
            </a:r>
            <a:endParaRPr lang="en-US" sz="1800" dirty="0"/>
          </a:p>
        </p:txBody>
      </p:sp>
      <p:sp>
        <p:nvSpPr>
          <p:cNvPr id="5" name="Text 3"/>
          <p:cNvSpPr/>
          <p:nvPr/>
        </p:nvSpPr>
        <p:spPr>
          <a:xfrm>
            <a:off x="9265615" y="548640"/>
            <a:ext cx="2103120" cy="274320"/>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Duree : 70 min</a:t>
            </a:r>
            <a:endParaRPr lang="en-US" sz="1150" dirty="0"/>
          </a:p>
        </p:txBody>
      </p:sp>
      <p:sp>
        <p:nvSpPr>
          <p:cNvPr id="6" name="Text 4"/>
          <p:cNvSpPr/>
          <p:nvPr/>
        </p:nvSpPr>
        <p:spPr>
          <a:xfrm>
            <a:off x="548640" y="1783080"/>
            <a:ext cx="54864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Consignes</a:t>
            </a:r>
            <a:endParaRPr lang="en-US" sz="1400" dirty="0"/>
          </a:p>
        </p:txBody>
      </p:sp>
      <p:sp>
        <p:nvSpPr>
          <p:cNvPr id="7" name="Text 5"/>
          <p:cNvSpPr/>
          <p:nvPr/>
        </p:nvSpPr>
        <p:spPr>
          <a:xfrm>
            <a:off x="548640" y="2194560"/>
            <a:ext cx="11094415" cy="384048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A partir d'un extrait de logs fourni (ou simule), rediger un prompt permettant d'obtenir un resume structure (nombre d'erreurs, types d'erreurs, recommandation)</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Tester le prompt et evaluer la pertinence du resume obtenu</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Identifier les types de logs les mieux adaptes a un traitement par IA generative, et ceux qui ne le sont pas</a:t>
            </a:r>
            <a:endParaRPr lang="en-US" sz="1400" dirty="0"/>
          </a:p>
        </p:txBody>
      </p:sp>
      <p:sp>
        <p:nvSpPr>
          <p:cNvPr id="9" name="Text 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0" name="Text 7"/>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TP8 · Module 8</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48640" cy="548640"/>
          </a:xfrm>
          <a:prstGeom prst="ellipse">
            <a:avLst/>
          </a:prstGeom>
          <a:solidFill>
            <a:srgbClr val="2E7D32"/>
          </a:solidFill>
          <a:ln/>
        </p:spPr>
      </p:sp>
      <p:sp>
        <p:nvSpPr>
          <p:cNvPr id="3" name="Text 1"/>
          <p:cNvSpPr/>
          <p:nvPr/>
        </p:nvSpPr>
        <p:spPr>
          <a:xfrm>
            <a:off x="548640" y="411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4" name="Text 2"/>
          <p:cNvSpPr/>
          <p:nvPr/>
        </p:nvSpPr>
        <p:spPr>
          <a:xfrm>
            <a:off x="1325880" y="411480"/>
            <a:ext cx="8229600" cy="54864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Elements de reponse - TP n°8</a:t>
            </a:r>
            <a:endParaRPr lang="en-US" sz="2000" dirty="0"/>
          </a:p>
        </p:txBody>
      </p:sp>
      <p:sp>
        <p:nvSpPr>
          <p:cNvPr id="5" name="Shape 3"/>
          <p:cNvSpPr/>
          <p:nvPr/>
        </p:nvSpPr>
        <p:spPr>
          <a:xfrm>
            <a:off x="548640" y="2466959"/>
            <a:ext cx="11094415" cy="2015522"/>
          </a:xfrm>
          <a:prstGeom prst="roundRect">
            <a:avLst>
              <a:gd name="adj" fmla="val 3629"/>
            </a:avLst>
          </a:prstGeom>
          <a:solidFill>
            <a:srgbClr val="F3F6FC"/>
          </a:solidFill>
          <a:ln/>
        </p:spPr>
      </p:sp>
      <p:sp>
        <p:nvSpPr>
          <p:cNvPr id="6" name="Text 4"/>
          <p:cNvSpPr/>
          <p:nvPr/>
        </p:nvSpPr>
        <p:spPr>
          <a:xfrm>
            <a:off x="868680" y="2695559"/>
            <a:ext cx="10454335" cy="1558322"/>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Prompt attendu : role 'analyste SRE' + logs en entree + consigne de sortie structuree (JSON ou tableau : nb erreurs, types, criticite, recommandation)</a:t>
            </a:r>
            <a:endParaRPr lang="en-US" sz="1350" dirty="0"/>
          </a:p>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Logs bien adaptes a l'IA generative : logs texte semi-structures avec messages explicites (erreurs applicatives, stack traces courtes). Logs mal adaptes : logs tres volumineux, binaires, ou purement numeriques (metriques), mieux traites par des outils de monitoring classiques et des regles deterministes</a:t>
            </a:r>
            <a:endParaRPr lang="en-US" sz="135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Corrige TP8 · Module 8</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9144000" cy="5486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Bilan de fin de Jour 4</a:t>
            </a:r>
            <a:endParaRPr lang="en-US" sz="2600" dirty="0"/>
          </a:p>
        </p:txBody>
      </p:sp>
      <p:sp>
        <p:nvSpPr>
          <p:cNvPr id="3" name="Shape 1"/>
          <p:cNvSpPr/>
          <p:nvPr/>
        </p:nvSpPr>
        <p:spPr>
          <a:xfrm>
            <a:off x="548640" y="2532793"/>
            <a:ext cx="11094415" cy="1883854"/>
          </a:xfrm>
          <a:prstGeom prst="roundRect">
            <a:avLst>
              <a:gd name="adj" fmla="val 3883"/>
            </a:avLst>
          </a:prstGeom>
          <a:solidFill>
            <a:srgbClr val="F3F6FC"/>
          </a:solidFill>
          <a:ln/>
        </p:spPr>
      </p:sp>
      <p:sp>
        <p:nvSpPr>
          <p:cNvPr id="4" name="Text 2"/>
          <p:cNvSpPr/>
          <p:nvPr/>
        </p:nvSpPr>
        <p:spPr>
          <a:xfrm>
            <a:off x="914400" y="2852833"/>
            <a:ext cx="10362895" cy="1243775"/>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Cadre legal (RGPD, AI Act) et bonnes pratiques de securisation d'une chaine IA</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Monitoring des couts et principe du human-in-the-loop</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Cas d'usage avances : logs, documentation de code, text-to-SQL, copilote d'ingestion</a:t>
            </a:r>
            <a:endParaRPr lang="en-US" sz="1500" dirty="0"/>
          </a:p>
        </p:txBody>
      </p:sp>
      <p:sp>
        <p:nvSpPr>
          <p:cNvPr id="6" name="Text 3"/>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7" name="Text 4"/>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Bilan J4</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2173A"/>
        </a:solidFill>
      </p:bgPr>
    </p:bg>
    <p:spTree>
      <p:nvGrpSpPr>
        <p:cNvPr id="1" name=""/>
        <p:cNvGrpSpPr/>
        <p:nvPr/>
      </p:nvGrpSpPr>
      <p:grpSpPr>
        <a:xfrm>
          <a:off x="0" y="0"/>
          <a:ext cx="0" cy="0"/>
          <a:chOff x="0" y="0"/>
          <a:chExt cx="0" cy="0"/>
        </a:xfrm>
      </p:grpSpPr>
      <p:sp>
        <p:nvSpPr>
          <p:cNvPr id="2" name="Shape 0"/>
          <p:cNvSpPr/>
          <p:nvPr/>
        </p:nvSpPr>
        <p:spPr>
          <a:xfrm>
            <a:off x="9052560" y="2651760"/>
            <a:ext cx="5120640" cy="5120640"/>
          </a:xfrm>
          <a:prstGeom prst="ellipse">
            <a:avLst/>
          </a:prstGeom>
          <a:solidFill>
            <a:srgbClr val="1E2761"/>
          </a:solidFill>
          <a:ln/>
        </p:spPr>
      </p:sp>
      <p:pic>
        <p:nvPicPr>
          <p:cNvPr id="3" name="Image 0" descr="/home/claude/formation-genai-de/assets/png/icon-rocket-gold.png">    </p:cNvPr>
          <p:cNvPicPr>
            <a:picLocks noChangeAspect="1"/>
          </p:cNvPicPr>
          <p:nvPr/>
        </p:nvPicPr>
        <p:blipFill>
          <a:blip r:embed="rId1"/>
          <a:stretch>
            <a:fillRect/>
          </a:stretch>
        </p:blipFill>
        <p:spPr>
          <a:xfrm>
            <a:off x="10149840" y="3749040"/>
            <a:ext cx="2377440" cy="2377440"/>
          </a:xfrm>
          <a:prstGeom prst="rect">
            <a:avLst/>
          </a:prstGeom>
        </p:spPr>
      </p:pic>
      <p:sp>
        <p:nvSpPr>
          <p:cNvPr id="4" name="Text 1"/>
          <p:cNvSpPr/>
          <p:nvPr/>
        </p:nvSpPr>
        <p:spPr>
          <a:xfrm>
            <a:off x="548640" y="2286000"/>
            <a:ext cx="7315200" cy="365760"/>
          </a:xfrm>
          <a:prstGeom prst="rect">
            <a:avLst/>
          </a:prstGeom>
          <a:noFill/>
          <a:ln/>
        </p:spPr>
        <p:txBody>
          <a:bodyPr wrap="square" lIns="0" tIns="0" rIns="0" bIns="0" rtlCol="0" anchor="ctr"/>
          <a:lstStyle/>
          <a:p>
            <a:pPr indent="0" marL="0">
              <a:buNone/>
            </a:pPr>
            <a:r>
              <a:rPr lang="en-US" sz="1300" b="1" spc="300" kern="0" dirty="0">
                <a:solidFill>
                  <a:srgbClr val="F2B134"/>
                </a:solidFill>
                <a:latin typeface="Calibri" pitchFamily="34" charset="0"/>
                <a:ea typeface="Calibri" pitchFamily="34" charset="-122"/>
                <a:cs typeface="Calibri" pitchFamily="34" charset="-120"/>
              </a:rPr>
              <a:t>JOUR 5</a:t>
            </a:r>
            <a:endParaRPr lang="en-US" sz="1300" dirty="0"/>
          </a:p>
        </p:txBody>
      </p:sp>
      <p:sp>
        <p:nvSpPr>
          <p:cNvPr id="5" name="Text 2"/>
          <p:cNvSpPr/>
          <p:nvPr/>
        </p:nvSpPr>
        <p:spPr>
          <a:xfrm>
            <a:off x="548640" y="2651760"/>
            <a:ext cx="8595360" cy="118872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Projet de fin : pipeline intelligent</a:t>
            </a:r>
            <a:endParaRPr lang="en-US" sz="3000" dirty="0"/>
          </a:p>
        </p:txBody>
      </p:sp>
      <p:sp>
        <p:nvSpPr>
          <p:cNvPr id="6" name="Text 3"/>
          <p:cNvSpPr/>
          <p:nvPr/>
        </p:nvSpPr>
        <p:spPr>
          <a:xfrm>
            <a:off x="548640" y="3794760"/>
            <a:ext cx="82296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7 heures - 9h00-12h30 / 13h30-17h00</a:t>
            </a:r>
            <a:endParaRPr lang="en-US" sz="1400" dirty="0"/>
          </a:p>
        </p:txBody>
      </p:sp>
      <p:sp>
        <p:nvSpPr>
          <p:cNvPr id="7" name="Text 4"/>
          <p:cNvSpPr/>
          <p:nvPr/>
        </p:nvSpPr>
        <p:spPr>
          <a:xfrm>
            <a:off x="548640" y="4434840"/>
            <a:ext cx="8229600" cy="137160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Module 9 - Design d'un projet integrant un LLM (3h30)</a:t>
            </a:r>
            <a:endParaRPr lang="en-US" sz="1300" dirty="0"/>
          </a:p>
          <a:p>
            <a:pPr marL="203200" indent="-203200">
              <a:spcAft>
                <a:spcPts val="800"/>
              </a:spcAft>
              <a:buSzPct val="100000"/>
              <a:buChar char="▸"/>
            </a:pPr>
            <a:r>
              <a:rPr lang="en-US" sz="1300" dirty="0">
                <a:solidFill>
                  <a:srgbClr val="CADCFC"/>
                </a:solidFill>
                <a:latin typeface="Calibri" pitchFamily="34" charset="0"/>
                <a:ea typeface="Calibri" pitchFamily="34" charset="-122"/>
                <a:cs typeface="Calibri" pitchFamily="34" charset="-120"/>
              </a:rPr>
              <a:t>Module 10 - Tests, evaluation, monitoring et presentation des projets (3h30)</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234440" y="457200"/>
            <a:ext cx="941832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Design d'un projet integrant un LLM</a:t>
            </a:r>
            <a:endParaRPr lang="en-US" sz="2100" dirty="0"/>
          </a:p>
        </p:txBody>
      </p:sp>
      <p:sp>
        <p:nvSpPr>
          <p:cNvPr id="5" name="Text 3"/>
          <p:cNvSpPr/>
          <p:nvPr/>
        </p:nvSpPr>
        <p:spPr>
          <a:xfrm>
            <a:off x="548640" y="1143000"/>
            <a:ext cx="11094415" cy="457200"/>
          </a:xfrm>
          <a:prstGeom prst="rect">
            <a:avLst/>
          </a:prstGeom>
          <a:noFill/>
          <a:ln/>
        </p:spPr>
        <p:txBody>
          <a:bodyPr wrap="square" lIns="0" tIns="0" rIns="0" bIns="0" rtlCol="0" anchor="ctr"/>
          <a:lstStyle/>
          <a:p>
            <a:pPr indent="0" marL="0">
              <a:buNone/>
            </a:pPr>
            <a:r>
              <a:rPr lang="en-US" sz="1250" i="1" dirty="0">
                <a:solidFill>
                  <a:srgbClr val="7C8194"/>
                </a:solidFill>
                <a:latin typeface="Calibri" pitchFamily="34" charset="0"/>
                <a:ea typeface="Calibri" pitchFamily="34" charset="-122"/>
                <a:cs typeface="Calibri" pitchFamily="34" charset="-120"/>
              </a:rPr>
              <a:t>Objectif : Cadrer et concevoir l'architecture du pipeline intelligent du projet fil rouge.</a:t>
            </a:r>
            <a:endParaRPr lang="en-US" sz="1250" dirty="0"/>
          </a:p>
        </p:txBody>
      </p:sp>
      <p:sp>
        <p:nvSpPr>
          <p:cNvPr id="6" name="Text 4"/>
          <p:cNvSpPr/>
          <p:nvPr/>
        </p:nvSpPr>
        <p:spPr>
          <a:xfrm>
            <a:off x="548640" y="1737360"/>
            <a:ext cx="11094415" cy="438912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Cadrage du besoin : definir un cas d'usage data engineering concret a resoudre avec un LLM (donnees de test, documentation, requetage, resume de logs...)</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Choix de l'architecture : appel API direct vs orchestration LangChain, modele unique vs routing multi-modeles, synchrone vs asynchrone</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Choix du ou des modeles : criteres de decision (cout, latence, qualite, confidentialite), modele cloud vs local</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Specification technique : schema d'entree/sortie, contraintes de validation, strategie de gestion des erreurs</a:t>
            </a:r>
            <a:endParaRPr lang="en-US" sz="150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234440" y="457200"/>
            <a:ext cx="822960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Design d'un projet integrant un LLM · Schema</a:t>
            </a:r>
            <a:endParaRPr lang="en-US" sz="2100" dirty="0"/>
          </a:p>
        </p:txBody>
      </p:sp>
      <p:sp>
        <p:nvSpPr>
          <p:cNvPr id="5" name="Text 3"/>
          <p:cNvSpPr/>
          <p:nvPr/>
        </p:nvSpPr>
        <p:spPr>
          <a:xfrm>
            <a:off x="9357055" y="502920"/>
            <a:ext cx="2286000" cy="274320"/>
          </a:xfrm>
          <a:prstGeom prst="rect">
            <a:avLst/>
          </a:prstGeom>
          <a:noFill/>
          <a:ln/>
        </p:spPr>
        <p:txBody>
          <a:bodyPr wrap="square" lIns="0" tIns="0" rIns="0" bIns="0" rtlCol="0" anchor="ctr"/>
          <a:lstStyle/>
          <a:p>
            <a:pPr algn="r" indent="0" marL="0">
              <a:buNone/>
            </a:pPr>
            <a:r>
              <a:rPr lang="en-US" sz="1000" b="1" spc="200" kern="0" dirty="0">
                <a:solidFill>
                  <a:srgbClr val="1E2761"/>
                </a:solidFill>
                <a:latin typeface="Calibri" pitchFamily="34" charset="0"/>
                <a:ea typeface="Calibri" pitchFamily="34" charset="-122"/>
                <a:cs typeface="Calibri" pitchFamily="34" charset="-120"/>
              </a:rPr>
              <a:t>SCHEMA</a:t>
            </a:r>
            <a:endParaRPr lang="en-US" sz="1000" dirty="0"/>
          </a:p>
        </p:txBody>
      </p:sp>
      <p:sp>
        <p:nvSpPr>
          <p:cNvPr id="6" name="Shape 4"/>
          <p:cNvSpPr/>
          <p:nvPr/>
        </p:nvSpPr>
        <p:spPr>
          <a:xfrm>
            <a:off x="548640" y="1783080"/>
            <a:ext cx="2396414" cy="868680"/>
          </a:xfrm>
          <a:prstGeom prst="roundRect">
            <a:avLst>
              <a:gd name="adj" fmla="val 8421"/>
            </a:avLst>
          </a:prstGeom>
          <a:solidFill>
            <a:srgbClr val="F3F6FC"/>
          </a:solidFill>
          <a:ln w="12700">
            <a:solidFill>
              <a:srgbClr val="1E2761"/>
            </a:solidFill>
            <a:prstDash val="solid"/>
          </a:ln>
        </p:spPr>
      </p:sp>
      <p:sp>
        <p:nvSpPr>
          <p:cNvPr id="7" name="Text 5"/>
          <p:cNvSpPr/>
          <p:nvPr/>
        </p:nvSpPr>
        <p:spPr>
          <a:xfrm>
            <a:off x="621792" y="1911096"/>
            <a:ext cx="2250110"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Cadrage du besoin</a:t>
            </a:r>
            <a:endParaRPr lang="en-US" sz="1050" dirty="0"/>
          </a:p>
        </p:txBody>
      </p:sp>
      <p:sp>
        <p:nvSpPr>
          <p:cNvPr id="8" name="Shape 6"/>
          <p:cNvSpPr/>
          <p:nvPr/>
        </p:nvSpPr>
        <p:spPr>
          <a:xfrm>
            <a:off x="1518247" y="1554480"/>
            <a:ext cx="457200" cy="457200"/>
          </a:xfrm>
          <a:prstGeom prst="ellipse">
            <a:avLst/>
          </a:prstGeom>
          <a:solidFill>
            <a:srgbClr val="1E2761"/>
          </a:solidFill>
          <a:ln w="25400">
            <a:solidFill>
              <a:srgbClr val="FFFFFF"/>
            </a:solidFill>
            <a:prstDash val="solid"/>
          </a:ln>
        </p:spPr>
      </p:sp>
      <p:pic>
        <p:nvPicPr>
          <p:cNvPr id="9" name="Image 0" descr="/home/claude/formation-genai-de/assets/png/icon-target-white.png">    </p:cNvPr>
          <p:cNvPicPr>
            <a:picLocks noChangeAspect="1"/>
          </p:cNvPicPr>
          <p:nvPr/>
        </p:nvPicPr>
        <p:blipFill>
          <a:blip r:embed="rId1"/>
          <a:stretch>
            <a:fillRect/>
          </a:stretch>
        </p:blipFill>
        <p:spPr>
          <a:xfrm>
            <a:off x="1618831" y="1655064"/>
            <a:ext cx="256032" cy="256032"/>
          </a:xfrm>
          <a:prstGeom prst="rect">
            <a:avLst/>
          </a:prstGeom>
        </p:spPr>
      </p:pic>
      <p:sp>
        <p:nvSpPr>
          <p:cNvPr id="10" name="Shape 7"/>
          <p:cNvSpPr/>
          <p:nvPr/>
        </p:nvSpPr>
        <p:spPr>
          <a:xfrm>
            <a:off x="2945054" y="2144268"/>
            <a:ext cx="457200" cy="146304"/>
          </a:xfrm>
          <a:prstGeom prst="rightArrow">
            <a:avLst/>
          </a:prstGeom>
          <a:solidFill>
            <a:srgbClr val="F2B134"/>
          </a:solidFill>
          <a:ln/>
        </p:spPr>
      </p:sp>
      <p:sp>
        <p:nvSpPr>
          <p:cNvPr id="11" name="Shape 8"/>
          <p:cNvSpPr/>
          <p:nvPr/>
        </p:nvSpPr>
        <p:spPr>
          <a:xfrm>
            <a:off x="3447974" y="1783080"/>
            <a:ext cx="2396414" cy="868680"/>
          </a:xfrm>
          <a:prstGeom prst="roundRect">
            <a:avLst>
              <a:gd name="adj" fmla="val 8421"/>
            </a:avLst>
          </a:prstGeom>
          <a:solidFill>
            <a:srgbClr val="F3F6FC"/>
          </a:solidFill>
          <a:ln w="12700">
            <a:solidFill>
              <a:srgbClr val="1E2761"/>
            </a:solidFill>
            <a:prstDash val="solid"/>
          </a:ln>
        </p:spPr>
      </p:sp>
      <p:sp>
        <p:nvSpPr>
          <p:cNvPr id="12" name="Text 9"/>
          <p:cNvSpPr/>
          <p:nvPr/>
        </p:nvSpPr>
        <p:spPr>
          <a:xfrm>
            <a:off x="3521126" y="1911096"/>
            <a:ext cx="2250110"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Choix de l'architecture</a:t>
            </a:r>
            <a:endParaRPr lang="en-US" sz="1050" dirty="0"/>
          </a:p>
        </p:txBody>
      </p:sp>
      <p:sp>
        <p:nvSpPr>
          <p:cNvPr id="13" name="Shape 10"/>
          <p:cNvSpPr/>
          <p:nvPr/>
        </p:nvSpPr>
        <p:spPr>
          <a:xfrm>
            <a:off x="4417581" y="1554480"/>
            <a:ext cx="457200" cy="457200"/>
          </a:xfrm>
          <a:prstGeom prst="ellipse">
            <a:avLst/>
          </a:prstGeom>
          <a:solidFill>
            <a:srgbClr val="1E2761"/>
          </a:solidFill>
          <a:ln w="25400">
            <a:solidFill>
              <a:srgbClr val="FFFFFF"/>
            </a:solidFill>
            <a:prstDash val="solid"/>
          </a:ln>
        </p:spPr>
      </p:sp>
      <p:pic>
        <p:nvPicPr>
          <p:cNvPr id="14" name="Image 1" descr="/home/claude/formation-genai-de/assets/png/icon-stack-2-white.png">    </p:cNvPr>
          <p:cNvPicPr>
            <a:picLocks noChangeAspect="1"/>
          </p:cNvPicPr>
          <p:nvPr/>
        </p:nvPicPr>
        <p:blipFill>
          <a:blip r:embed="rId2"/>
          <a:stretch>
            <a:fillRect/>
          </a:stretch>
        </p:blipFill>
        <p:spPr>
          <a:xfrm>
            <a:off x="4518165" y="1655064"/>
            <a:ext cx="256032" cy="256032"/>
          </a:xfrm>
          <a:prstGeom prst="rect">
            <a:avLst/>
          </a:prstGeom>
        </p:spPr>
      </p:pic>
      <p:sp>
        <p:nvSpPr>
          <p:cNvPr id="15" name="Shape 11"/>
          <p:cNvSpPr/>
          <p:nvPr/>
        </p:nvSpPr>
        <p:spPr>
          <a:xfrm>
            <a:off x="5844388" y="2144268"/>
            <a:ext cx="457200" cy="146304"/>
          </a:xfrm>
          <a:prstGeom prst="rightArrow">
            <a:avLst/>
          </a:prstGeom>
          <a:solidFill>
            <a:srgbClr val="F2B134"/>
          </a:solidFill>
          <a:ln/>
        </p:spPr>
      </p:sp>
      <p:sp>
        <p:nvSpPr>
          <p:cNvPr id="16" name="Shape 12"/>
          <p:cNvSpPr/>
          <p:nvPr/>
        </p:nvSpPr>
        <p:spPr>
          <a:xfrm>
            <a:off x="6347308" y="1783080"/>
            <a:ext cx="2396414" cy="868680"/>
          </a:xfrm>
          <a:prstGeom prst="roundRect">
            <a:avLst>
              <a:gd name="adj" fmla="val 8421"/>
            </a:avLst>
          </a:prstGeom>
          <a:solidFill>
            <a:srgbClr val="F3F6FC"/>
          </a:solidFill>
          <a:ln w="12700">
            <a:solidFill>
              <a:srgbClr val="1E2761"/>
            </a:solidFill>
            <a:prstDash val="solid"/>
          </a:ln>
        </p:spPr>
      </p:sp>
      <p:sp>
        <p:nvSpPr>
          <p:cNvPr id="17" name="Text 13"/>
          <p:cNvSpPr/>
          <p:nvPr/>
        </p:nvSpPr>
        <p:spPr>
          <a:xfrm>
            <a:off x="6420460" y="1911096"/>
            <a:ext cx="2250110"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Choix du/des modeles</a:t>
            </a:r>
            <a:endParaRPr lang="en-US" sz="1050" dirty="0"/>
          </a:p>
        </p:txBody>
      </p:sp>
      <p:sp>
        <p:nvSpPr>
          <p:cNvPr id="18" name="Shape 14"/>
          <p:cNvSpPr/>
          <p:nvPr/>
        </p:nvSpPr>
        <p:spPr>
          <a:xfrm>
            <a:off x="7316915" y="1554480"/>
            <a:ext cx="457200" cy="457200"/>
          </a:xfrm>
          <a:prstGeom prst="ellipse">
            <a:avLst/>
          </a:prstGeom>
          <a:solidFill>
            <a:srgbClr val="1E2761"/>
          </a:solidFill>
          <a:ln w="25400">
            <a:solidFill>
              <a:srgbClr val="FFFFFF"/>
            </a:solidFill>
            <a:prstDash val="solid"/>
          </a:ln>
        </p:spPr>
      </p:sp>
      <p:pic>
        <p:nvPicPr>
          <p:cNvPr id="19" name="Image 2" descr="/home/claude/formation-genai-de/assets/png/icon-cpu-white.png">    </p:cNvPr>
          <p:cNvPicPr>
            <a:picLocks noChangeAspect="1"/>
          </p:cNvPicPr>
          <p:nvPr/>
        </p:nvPicPr>
        <p:blipFill>
          <a:blip r:embed="rId3"/>
          <a:stretch>
            <a:fillRect/>
          </a:stretch>
        </p:blipFill>
        <p:spPr>
          <a:xfrm>
            <a:off x="7417499" y="1655064"/>
            <a:ext cx="256032" cy="256032"/>
          </a:xfrm>
          <a:prstGeom prst="rect">
            <a:avLst/>
          </a:prstGeom>
        </p:spPr>
      </p:pic>
      <p:sp>
        <p:nvSpPr>
          <p:cNvPr id="20" name="Shape 15"/>
          <p:cNvSpPr/>
          <p:nvPr/>
        </p:nvSpPr>
        <p:spPr>
          <a:xfrm>
            <a:off x="8743721" y="2144268"/>
            <a:ext cx="457200" cy="146304"/>
          </a:xfrm>
          <a:prstGeom prst="rightArrow">
            <a:avLst/>
          </a:prstGeom>
          <a:solidFill>
            <a:srgbClr val="F2B134"/>
          </a:solidFill>
          <a:ln/>
        </p:spPr>
      </p:sp>
      <p:sp>
        <p:nvSpPr>
          <p:cNvPr id="21" name="Shape 16"/>
          <p:cNvSpPr/>
          <p:nvPr/>
        </p:nvSpPr>
        <p:spPr>
          <a:xfrm>
            <a:off x="9246641" y="1783080"/>
            <a:ext cx="2396414" cy="868680"/>
          </a:xfrm>
          <a:prstGeom prst="roundRect">
            <a:avLst>
              <a:gd name="adj" fmla="val 8421"/>
            </a:avLst>
          </a:prstGeom>
          <a:solidFill>
            <a:srgbClr val="1E2761"/>
          </a:solidFill>
          <a:ln w="12700">
            <a:solidFill>
              <a:srgbClr val="1E2761"/>
            </a:solidFill>
            <a:prstDash val="solid"/>
          </a:ln>
        </p:spPr>
      </p:sp>
      <p:sp>
        <p:nvSpPr>
          <p:cNvPr id="22" name="Text 17"/>
          <p:cNvSpPr/>
          <p:nvPr/>
        </p:nvSpPr>
        <p:spPr>
          <a:xfrm>
            <a:off x="9319793" y="1911096"/>
            <a:ext cx="2250110"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Specification technique</a:t>
            </a:r>
            <a:endParaRPr lang="en-US" sz="1050" dirty="0"/>
          </a:p>
        </p:txBody>
      </p:sp>
      <p:sp>
        <p:nvSpPr>
          <p:cNvPr id="23" name="Shape 18"/>
          <p:cNvSpPr/>
          <p:nvPr/>
        </p:nvSpPr>
        <p:spPr>
          <a:xfrm>
            <a:off x="10216248" y="1554480"/>
            <a:ext cx="457200" cy="457200"/>
          </a:xfrm>
          <a:prstGeom prst="ellipse">
            <a:avLst/>
          </a:prstGeom>
          <a:solidFill>
            <a:srgbClr val="F2B134"/>
          </a:solidFill>
          <a:ln w="25400">
            <a:solidFill>
              <a:srgbClr val="FFFFFF"/>
            </a:solidFill>
            <a:prstDash val="solid"/>
          </a:ln>
        </p:spPr>
      </p:sp>
      <p:pic>
        <p:nvPicPr>
          <p:cNvPr id="24" name="Image 3" descr="/home/claude/formation-genai-de/assets/png/icon-notebook-navy.png">    </p:cNvPr>
          <p:cNvPicPr>
            <a:picLocks noChangeAspect="1"/>
          </p:cNvPicPr>
          <p:nvPr/>
        </p:nvPicPr>
        <p:blipFill>
          <a:blip r:embed="rId4"/>
          <a:stretch>
            <a:fillRect/>
          </a:stretch>
        </p:blipFill>
        <p:spPr>
          <a:xfrm>
            <a:off x="10316832" y="1655064"/>
            <a:ext cx="256032" cy="256032"/>
          </a:xfrm>
          <a:prstGeom prst="rect">
            <a:avLst/>
          </a:prstGeom>
        </p:spPr>
      </p:pic>
      <p:sp>
        <p:nvSpPr>
          <p:cNvPr id="25" name="Text 19"/>
          <p:cNvSpPr/>
          <p:nvPr/>
        </p:nvSpPr>
        <p:spPr>
          <a:xfrm>
            <a:off x="548640" y="3794760"/>
            <a:ext cx="11094415" cy="457200"/>
          </a:xfrm>
          <a:prstGeom prst="rect">
            <a:avLst/>
          </a:prstGeom>
          <a:noFill/>
          <a:ln/>
        </p:spPr>
        <p:txBody>
          <a:bodyPr wrap="square" lIns="0" tIns="0" rIns="0" bIns="0" rtlCol="0" anchor="ctr"/>
          <a:lstStyle/>
          <a:p>
            <a:pPr indent="0" marL="0">
              <a:buNone/>
            </a:pPr>
            <a:r>
              <a:rPr lang="en-US" sz="1200" i="1" dirty="0">
                <a:solidFill>
                  <a:srgbClr val="7C8194"/>
                </a:solidFill>
                <a:latin typeface="Calibri" pitchFamily="34" charset="0"/>
                <a:ea typeface="Calibri" pitchFamily="34" charset="-122"/>
                <a:cs typeface="Calibri" pitchFamily="34" charset="-120"/>
              </a:rPr>
              <a:t>Chaque etape est validee par le formateur avant de passer a la suivante, pour eviter un cadrage trop ambitieux</a:t>
            </a:r>
            <a:endParaRPr lang="en-US" sz="1200" dirty="0"/>
          </a:p>
        </p:txBody>
      </p:sp>
      <p:sp>
        <p:nvSpPr>
          <p:cNvPr id="27" name="Text 20"/>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28" name="Text 21"/>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234440" y="457200"/>
            <a:ext cx="941832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Tests, evaluation, monitoring et presentation des projets</a:t>
            </a:r>
            <a:endParaRPr lang="en-US" sz="2100" dirty="0"/>
          </a:p>
        </p:txBody>
      </p:sp>
      <p:sp>
        <p:nvSpPr>
          <p:cNvPr id="5" name="Text 3"/>
          <p:cNvSpPr/>
          <p:nvPr/>
        </p:nvSpPr>
        <p:spPr>
          <a:xfrm>
            <a:off x="548640" y="1143000"/>
            <a:ext cx="11094415" cy="457200"/>
          </a:xfrm>
          <a:prstGeom prst="rect">
            <a:avLst/>
          </a:prstGeom>
          <a:noFill/>
          <a:ln/>
        </p:spPr>
        <p:txBody>
          <a:bodyPr wrap="square" lIns="0" tIns="0" rIns="0" bIns="0" rtlCol="0" anchor="ctr"/>
          <a:lstStyle/>
          <a:p>
            <a:pPr indent="0" marL="0">
              <a:buNone/>
            </a:pPr>
            <a:r>
              <a:rPr lang="en-US" sz="1250" i="1" dirty="0">
                <a:solidFill>
                  <a:srgbClr val="7C8194"/>
                </a:solidFill>
                <a:latin typeface="Calibri" pitchFamily="34" charset="0"/>
                <a:ea typeface="Calibri" pitchFamily="34" charset="-122"/>
                <a:cs typeface="Calibri" pitchFamily="34" charset="-120"/>
              </a:rPr>
              <a:t>Objectif : Finaliser, tester et presenter le pipeline intelligent concu le matin.</a:t>
            </a:r>
            <a:endParaRPr lang="en-US" sz="1250" dirty="0"/>
          </a:p>
        </p:txBody>
      </p:sp>
      <p:sp>
        <p:nvSpPr>
          <p:cNvPr id="6" name="Text 4"/>
          <p:cNvSpPr/>
          <p:nvPr/>
        </p:nvSpPr>
        <p:spPr>
          <a:xfrm>
            <a:off x="548640" y="1737360"/>
            <a:ext cx="11094415" cy="438912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Strategie de test : jeux de test representatifs, cas limites, prompts adverses</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Evaluation : application des metriques vues en Jour 3 (conformite, plausibilite, hallucinations), controle humain</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Monitoring : logging et gestion des couts, vus en Jour 4, appliques au pipeline du projet</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Presentation des projets a la classe : format de restitution, grille d'evaluation, retours d'experience</a:t>
            </a:r>
            <a:endParaRPr lang="en-US" sz="150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1E2761"/>
          </a:solidFill>
          <a:ln/>
        </p:spPr>
      </p:sp>
      <p:sp>
        <p:nvSpPr>
          <p:cNvPr id="3" name="Text 1"/>
          <p:cNvSpPr/>
          <p:nvPr/>
        </p:nvSpPr>
        <p:spPr>
          <a:xfrm>
            <a:off x="548640" y="45720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234440" y="457200"/>
            <a:ext cx="8229600" cy="64008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Tests, evaluation, monitoring et presentation des projets · Schema</a:t>
            </a:r>
            <a:endParaRPr lang="en-US" sz="2100" dirty="0"/>
          </a:p>
        </p:txBody>
      </p:sp>
      <p:sp>
        <p:nvSpPr>
          <p:cNvPr id="5" name="Text 3"/>
          <p:cNvSpPr/>
          <p:nvPr/>
        </p:nvSpPr>
        <p:spPr>
          <a:xfrm>
            <a:off x="9357055" y="502920"/>
            <a:ext cx="2286000" cy="274320"/>
          </a:xfrm>
          <a:prstGeom prst="rect">
            <a:avLst/>
          </a:prstGeom>
          <a:noFill/>
          <a:ln/>
        </p:spPr>
        <p:txBody>
          <a:bodyPr wrap="square" lIns="0" tIns="0" rIns="0" bIns="0" rtlCol="0" anchor="ctr"/>
          <a:lstStyle/>
          <a:p>
            <a:pPr algn="r" indent="0" marL="0">
              <a:buNone/>
            </a:pPr>
            <a:r>
              <a:rPr lang="en-US" sz="1000" b="1" spc="200" kern="0" dirty="0">
                <a:solidFill>
                  <a:srgbClr val="1E2761"/>
                </a:solidFill>
                <a:latin typeface="Calibri" pitchFamily="34" charset="0"/>
                <a:ea typeface="Calibri" pitchFamily="34" charset="-122"/>
                <a:cs typeface="Calibri" pitchFamily="34" charset="-120"/>
              </a:rPr>
              <a:t>SCHEMA</a:t>
            </a:r>
            <a:endParaRPr lang="en-US" sz="1000" dirty="0"/>
          </a:p>
        </p:txBody>
      </p:sp>
      <p:sp>
        <p:nvSpPr>
          <p:cNvPr id="6" name="Shape 4"/>
          <p:cNvSpPr/>
          <p:nvPr/>
        </p:nvSpPr>
        <p:spPr>
          <a:xfrm>
            <a:off x="548640" y="1783080"/>
            <a:ext cx="1816547" cy="868680"/>
          </a:xfrm>
          <a:prstGeom prst="roundRect">
            <a:avLst>
              <a:gd name="adj" fmla="val 8421"/>
            </a:avLst>
          </a:prstGeom>
          <a:solidFill>
            <a:srgbClr val="F3F6FC"/>
          </a:solidFill>
          <a:ln w="12700">
            <a:solidFill>
              <a:srgbClr val="1E2761"/>
            </a:solidFill>
            <a:prstDash val="solid"/>
          </a:ln>
        </p:spPr>
      </p:sp>
      <p:sp>
        <p:nvSpPr>
          <p:cNvPr id="7" name="Text 5"/>
          <p:cNvSpPr/>
          <p:nvPr/>
        </p:nvSpPr>
        <p:spPr>
          <a:xfrm>
            <a:off x="621792"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Jeux de test</a:t>
            </a:r>
            <a:endParaRPr lang="en-US" sz="1050" dirty="0"/>
          </a:p>
        </p:txBody>
      </p:sp>
      <p:sp>
        <p:nvSpPr>
          <p:cNvPr id="8" name="Shape 6"/>
          <p:cNvSpPr/>
          <p:nvPr/>
        </p:nvSpPr>
        <p:spPr>
          <a:xfrm>
            <a:off x="1228314" y="1554480"/>
            <a:ext cx="457200" cy="457200"/>
          </a:xfrm>
          <a:prstGeom prst="ellipse">
            <a:avLst/>
          </a:prstGeom>
          <a:solidFill>
            <a:srgbClr val="1E2761"/>
          </a:solidFill>
          <a:ln w="25400">
            <a:solidFill>
              <a:srgbClr val="FFFFFF"/>
            </a:solidFill>
            <a:prstDash val="solid"/>
          </a:ln>
        </p:spPr>
      </p:sp>
      <p:pic>
        <p:nvPicPr>
          <p:cNvPr id="9" name="Image 0" descr="/home/claude/formation-genai-de/assets/png/icon-flask-white.png">    </p:cNvPr>
          <p:cNvPicPr>
            <a:picLocks noChangeAspect="1"/>
          </p:cNvPicPr>
          <p:nvPr/>
        </p:nvPicPr>
        <p:blipFill>
          <a:blip r:embed="rId1"/>
          <a:stretch>
            <a:fillRect/>
          </a:stretch>
        </p:blipFill>
        <p:spPr>
          <a:xfrm>
            <a:off x="1328898" y="1655064"/>
            <a:ext cx="256032" cy="256032"/>
          </a:xfrm>
          <a:prstGeom prst="rect">
            <a:avLst/>
          </a:prstGeom>
        </p:spPr>
      </p:pic>
      <p:sp>
        <p:nvSpPr>
          <p:cNvPr id="10" name="Shape 7"/>
          <p:cNvSpPr/>
          <p:nvPr/>
        </p:nvSpPr>
        <p:spPr>
          <a:xfrm>
            <a:off x="2365187" y="2144268"/>
            <a:ext cx="457200" cy="146304"/>
          </a:xfrm>
          <a:prstGeom prst="rightArrow">
            <a:avLst/>
          </a:prstGeom>
          <a:solidFill>
            <a:srgbClr val="F2B134"/>
          </a:solidFill>
          <a:ln/>
        </p:spPr>
      </p:sp>
      <p:sp>
        <p:nvSpPr>
          <p:cNvPr id="11" name="Shape 8"/>
          <p:cNvSpPr/>
          <p:nvPr/>
        </p:nvSpPr>
        <p:spPr>
          <a:xfrm>
            <a:off x="2868107" y="1783080"/>
            <a:ext cx="1816547" cy="868680"/>
          </a:xfrm>
          <a:prstGeom prst="roundRect">
            <a:avLst>
              <a:gd name="adj" fmla="val 8421"/>
            </a:avLst>
          </a:prstGeom>
          <a:solidFill>
            <a:srgbClr val="F3F6FC"/>
          </a:solidFill>
          <a:ln w="12700">
            <a:solidFill>
              <a:srgbClr val="1E2761"/>
            </a:solidFill>
            <a:prstDash val="solid"/>
          </a:ln>
        </p:spPr>
      </p:sp>
      <p:sp>
        <p:nvSpPr>
          <p:cNvPr id="12" name="Text 9"/>
          <p:cNvSpPr/>
          <p:nvPr/>
        </p:nvSpPr>
        <p:spPr>
          <a:xfrm>
            <a:off x="2941259"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Execution du pipeline</a:t>
            </a:r>
            <a:endParaRPr lang="en-US" sz="1050" dirty="0"/>
          </a:p>
        </p:txBody>
      </p:sp>
      <p:sp>
        <p:nvSpPr>
          <p:cNvPr id="13" name="Shape 10"/>
          <p:cNvSpPr/>
          <p:nvPr/>
        </p:nvSpPr>
        <p:spPr>
          <a:xfrm>
            <a:off x="3547781" y="1554480"/>
            <a:ext cx="457200" cy="457200"/>
          </a:xfrm>
          <a:prstGeom prst="ellipse">
            <a:avLst/>
          </a:prstGeom>
          <a:solidFill>
            <a:srgbClr val="1E2761"/>
          </a:solidFill>
          <a:ln w="25400">
            <a:solidFill>
              <a:srgbClr val="FFFFFF"/>
            </a:solidFill>
            <a:prstDash val="solid"/>
          </a:ln>
        </p:spPr>
      </p:sp>
      <p:pic>
        <p:nvPicPr>
          <p:cNvPr id="14" name="Image 1" descr="/home/claude/formation-genai-de/assets/png/icon-player-play-white.png">    </p:cNvPr>
          <p:cNvPicPr>
            <a:picLocks noChangeAspect="1"/>
          </p:cNvPicPr>
          <p:nvPr/>
        </p:nvPicPr>
        <p:blipFill>
          <a:blip r:embed="rId2"/>
          <a:stretch>
            <a:fillRect/>
          </a:stretch>
        </p:blipFill>
        <p:spPr>
          <a:xfrm>
            <a:off x="3648365" y="1655064"/>
            <a:ext cx="256032" cy="256032"/>
          </a:xfrm>
          <a:prstGeom prst="rect">
            <a:avLst/>
          </a:prstGeom>
        </p:spPr>
      </p:pic>
      <p:sp>
        <p:nvSpPr>
          <p:cNvPr id="15" name="Shape 11"/>
          <p:cNvSpPr/>
          <p:nvPr/>
        </p:nvSpPr>
        <p:spPr>
          <a:xfrm>
            <a:off x="4684654" y="2144268"/>
            <a:ext cx="457200" cy="146304"/>
          </a:xfrm>
          <a:prstGeom prst="rightArrow">
            <a:avLst/>
          </a:prstGeom>
          <a:solidFill>
            <a:srgbClr val="F2B134"/>
          </a:solidFill>
          <a:ln/>
        </p:spPr>
      </p:sp>
      <p:sp>
        <p:nvSpPr>
          <p:cNvPr id="16" name="Shape 12"/>
          <p:cNvSpPr/>
          <p:nvPr/>
        </p:nvSpPr>
        <p:spPr>
          <a:xfrm>
            <a:off x="5187574" y="1783080"/>
            <a:ext cx="1816547" cy="868680"/>
          </a:xfrm>
          <a:prstGeom prst="roundRect">
            <a:avLst>
              <a:gd name="adj" fmla="val 8421"/>
            </a:avLst>
          </a:prstGeom>
          <a:solidFill>
            <a:srgbClr val="F3F6FC"/>
          </a:solidFill>
          <a:ln w="12700">
            <a:solidFill>
              <a:srgbClr val="1E2761"/>
            </a:solidFill>
            <a:prstDash val="solid"/>
          </a:ln>
        </p:spPr>
      </p:sp>
      <p:sp>
        <p:nvSpPr>
          <p:cNvPr id="17" name="Text 13"/>
          <p:cNvSpPr/>
          <p:nvPr/>
        </p:nvSpPr>
        <p:spPr>
          <a:xfrm>
            <a:off x="5260726"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Evaluation (metriques J3)</a:t>
            </a:r>
            <a:endParaRPr lang="en-US" sz="1050" dirty="0"/>
          </a:p>
        </p:txBody>
      </p:sp>
      <p:sp>
        <p:nvSpPr>
          <p:cNvPr id="18" name="Shape 14"/>
          <p:cNvSpPr/>
          <p:nvPr/>
        </p:nvSpPr>
        <p:spPr>
          <a:xfrm>
            <a:off x="5867248" y="1554480"/>
            <a:ext cx="457200" cy="457200"/>
          </a:xfrm>
          <a:prstGeom prst="ellipse">
            <a:avLst/>
          </a:prstGeom>
          <a:solidFill>
            <a:srgbClr val="1E2761"/>
          </a:solidFill>
          <a:ln w="25400">
            <a:solidFill>
              <a:srgbClr val="FFFFFF"/>
            </a:solidFill>
            <a:prstDash val="solid"/>
          </a:ln>
        </p:spPr>
      </p:sp>
      <p:pic>
        <p:nvPicPr>
          <p:cNvPr id="19" name="Image 2" descr="/home/claude/formation-genai-de/assets/png/icon-chart-dots-white.png">    </p:cNvPr>
          <p:cNvPicPr>
            <a:picLocks noChangeAspect="1"/>
          </p:cNvPicPr>
          <p:nvPr/>
        </p:nvPicPr>
        <p:blipFill>
          <a:blip r:embed="rId3"/>
          <a:stretch>
            <a:fillRect/>
          </a:stretch>
        </p:blipFill>
        <p:spPr>
          <a:xfrm>
            <a:off x="5967832" y="1655064"/>
            <a:ext cx="256032" cy="256032"/>
          </a:xfrm>
          <a:prstGeom prst="rect">
            <a:avLst/>
          </a:prstGeom>
        </p:spPr>
      </p:pic>
      <p:sp>
        <p:nvSpPr>
          <p:cNvPr id="20" name="Shape 15"/>
          <p:cNvSpPr/>
          <p:nvPr/>
        </p:nvSpPr>
        <p:spPr>
          <a:xfrm>
            <a:off x="7004121" y="2144268"/>
            <a:ext cx="457200" cy="146304"/>
          </a:xfrm>
          <a:prstGeom prst="rightArrow">
            <a:avLst/>
          </a:prstGeom>
          <a:solidFill>
            <a:srgbClr val="F2B134"/>
          </a:solidFill>
          <a:ln/>
        </p:spPr>
      </p:sp>
      <p:sp>
        <p:nvSpPr>
          <p:cNvPr id="21" name="Shape 16"/>
          <p:cNvSpPr/>
          <p:nvPr/>
        </p:nvSpPr>
        <p:spPr>
          <a:xfrm>
            <a:off x="7507041" y="1783080"/>
            <a:ext cx="1816547" cy="868680"/>
          </a:xfrm>
          <a:prstGeom prst="roundRect">
            <a:avLst>
              <a:gd name="adj" fmla="val 8421"/>
            </a:avLst>
          </a:prstGeom>
          <a:solidFill>
            <a:srgbClr val="F3F6FC"/>
          </a:solidFill>
          <a:ln w="12700">
            <a:solidFill>
              <a:srgbClr val="1E2761"/>
            </a:solidFill>
            <a:prstDash val="solid"/>
          </a:ln>
        </p:spPr>
      </p:sp>
      <p:sp>
        <p:nvSpPr>
          <p:cNvPr id="22" name="Text 17"/>
          <p:cNvSpPr/>
          <p:nvPr/>
        </p:nvSpPr>
        <p:spPr>
          <a:xfrm>
            <a:off x="7580193"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1E2761"/>
                </a:solidFill>
                <a:latin typeface="Calibri" pitchFamily="34" charset="0"/>
                <a:ea typeface="Calibri" pitchFamily="34" charset="-122"/>
                <a:cs typeface="Calibri" pitchFamily="34" charset="-120"/>
              </a:rPr>
              <a:t>Monitoring (cout/logs J4)</a:t>
            </a:r>
            <a:endParaRPr lang="en-US" sz="1050" dirty="0"/>
          </a:p>
        </p:txBody>
      </p:sp>
      <p:sp>
        <p:nvSpPr>
          <p:cNvPr id="23" name="Shape 18"/>
          <p:cNvSpPr/>
          <p:nvPr/>
        </p:nvSpPr>
        <p:spPr>
          <a:xfrm>
            <a:off x="8186715" y="1554480"/>
            <a:ext cx="457200" cy="457200"/>
          </a:xfrm>
          <a:prstGeom prst="ellipse">
            <a:avLst/>
          </a:prstGeom>
          <a:solidFill>
            <a:srgbClr val="1E2761"/>
          </a:solidFill>
          <a:ln w="25400">
            <a:solidFill>
              <a:srgbClr val="FFFFFF"/>
            </a:solidFill>
            <a:prstDash val="solid"/>
          </a:ln>
        </p:spPr>
      </p:sp>
      <p:pic>
        <p:nvPicPr>
          <p:cNvPr id="24" name="Image 3" descr="/home/claude/formation-genai-de/assets/png/icon-activity-white.png">    </p:cNvPr>
          <p:cNvPicPr>
            <a:picLocks noChangeAspect="1"/>
          </p:cNvPicPr>
          <p:nvPr/>
        </p:nvPicPr>
        <p:blipFill>
          <a:blip r:embed="rId4"/>
          <a:stretch>
            <a:fillRect/>
          </a:stretch>
        </p:blipFill>
        <p:spPr>
          <a:xfrm>
            <a:off x="8287299" y="1655064"/>
            <a:ext cx="256032" cy="256032"/>
          </a:xfrm>
          <a:prstGeom prst="rect">
            <a:avLst/>
          </a:prstGeom>
        </p:spPr>
      </p:pic>
      <p:sp>
        <p:nvSpPr>
          <p:cNvPr id="25" name="Shape 19"/>
          <p:cNvSpPr/>
          <p:nvPr/>
        </p:nvSpPr>
        <p:spPr>
          <a:xfrm>
            <a:off x="9323588" y="2144268"/>
            <a:ext cx="457200" cy="146304"/>
          </a:xfrm>
          <a:prstGeom prst="rightArrow">
            <a:avLst/>
          </a:prstGeom>
          <a:solidFill>
            <a:srgbClr val="F2B134"/>
          </a:solidFill>
          <a:ln/>
        </p:spPr>
      </p:sp>
      <p:sp>
        <p:nvSpPr>
          <p:cNvPr id="26" name="Shape 20"/>
          <p:cNvSpPr/>
          <p:nvPr/>
        </p:nvSpPr>
        <p:spPr>
          <a:xfrm>
            <a:off x="9826508" y="1783080"/>
            <a:ext cx="1816547" cy="868680"/>
          </a:xfrm>
          <a:prstGeom prst="roundRect">
            <a:avLst>
              <a:gd name="adj" fmla="val 8421"/>
            </a:avLst>
          </a:prstGeom>
          <a:solidFill>
            <a:srgbClr val="1E2761"/>
          </a:solidFill>
          <a:ln w="12700">
            <a:solidFill>
              <a:srgbClr val="1E2761"/>
            </a:solidFill>
            <a:prstDash val="solid"/>
          </a:ln>
        </p:spPr>
      </p:sp>
      <p:sp>
        <p:nvSpPr>
          <p:cNvPr id="27" name="Text 21"/>
          <p:cNvSpPr/>
          <p:nvPr/>
        </p:nvSpPr>
        <p:spPr>
          <a:xfrm>
            <a:off x="9899660" y="1911096"/>
            <a:ext cx="1670243" cy="740664"/>
          </a:xfrm>
          <a:prstGeom prst="rect">
            <a:avLst/>
          </a:prstGeom>
          <a:noFill/>
          <a:ln/>
        </p:spPr>
        <p:txBody>
          <a:bodyPr wrap="square" lIns="0" tIns="0" rIns="0" bIns="0" rtlCol="0" anchor="ctr"/>
          <a:lstStyle/>
          <a:p>
            <a:pPr algn="ctr" indent="0" marL="0">
              <a:lnSpc>
                <a:spcPct val="100000"/>
              </a:lnSpc>
              <a:buNone/>
            </a:pPr>
            <a:r>
              <a:rPr lang="en-US" sz="1050" b="1" dirty="0">
                <a:solidFill>
                  <a:srgbClr val="FFFFFF"/>
                </a:solidFill>
                <a:latin typeface="Calibri" pitchFamily="34" charset="0"/>
                <a:ea typeface="Calibri" pitchFamily="34" charset="-122"/>
                <a:cs typeface="Calibri" pitchFamily="34" charset="-120"/>
              </a:rPr>
              <a:t>Presentation</a:t>
            </a:r>
            <a:endParaRPr lang="en-US" sz="1050" dirty="0"/>
          </a:p>
        </p:txBody>
      </p:sp>
      <p:sp>
        <p:nvSpPr>
          <p:cNvPr id="28" name="Shape 22"/>
          <p:cNvSpPr/>
          <p:nvPr/>
        </p:nvSpPr>
        <p:spPr>
          <a:xfrm>
            <a:off x="10506182" y="1554480"/>
            <a:ext cx="457200" cy="457200"/>
          </a:xfrm>
          <a:prstGeom prst="ellipse">
            <a:avLst/>
          </a:prstGeom>
          <a:solidFill>
            <a:srgbClr val="F2B134"/>
          </a:solidFill>
          <a:ln w="25400">
            <a:solidFill>
              <a:srgbClr val="FFFFFF"/>
            </a:solidFill>
            <a:prstDash val="solid"/>
          </a:ln>
        </p:spPr>
      </p:sp>
      <p:pic>
        <p:nvPicPr>
          <p:cNvPr id="29" name="Image 4" descr="/home/claude/formation-genai-de/assets/png/icon-presentation-navy.png">    </p:cNvPr>
          <p:cNvPicPr>
            <a:picLocks noChangeAspect="1"/>
          </p:cNvPicPr>
          <p:nvPr/>
        </p:nvPicPr>
        <p:blipFill>
          <a:blip r:embed="rId5"/>
          <a:stretch>
            <a:fillRect/>
          </a:stretch>
        </p:blipFill>
        <p:spPr>
          <a:xfrm>
            <a:off x="10606766" y="1655064"/>
            <a:ext cx="256032" cy="256032"/>
          </a:xfrm>
          <a:prstGeom prst="rect">
            <a:avLst/>
          </a:prstGeom>
        </p:spPr>
      </p:pic>
      <p:sp>
        <p:nvSpPr>
          <p:cNvPr id="30" name="Text 23"/>
          <p:cNvSpPr/>
          <p:nvPr/>
        </p:nvSpPr>
        <p:spPr>
          <a:xfrm>
            <a:off x="548640" y="3794760"/>
            <a:ext cx="11094415" cy="457200"/>
          </a:xfrm>
          <a:prstGeom prst="rect">
            <a:avLst/>
          </a:prstGeom>
          <a:noFill/>
          <a:ln/>
        </p:spPr>
        <p:txBody>
          <a:bodyPr wrap="square" lIns="0" tIns="0" rIns="0" bIns="0" rtlCol="0" anchor="ctr"/>
          <a:lstStyle/>
          <a:p>
            <a:pPr indent="0" marL="0">
              <a:buNone/>
            </a:pPr>
            <a:r>
              <a:rPr lang="en-US" sz="1200" i="1" dirty="0">
                <a:solidFill>
                  <a:srgbClr val="7C8194"/>
                </a:solidFill>
                <a:latin typeface="Calibri" pitchFamily="34" charset="0"/>
                <a:ea typeface="Calibri" pitchFamily="34" charset="-122"/>
                <a:cs typeface="Calibri" pitchFamily="34" charset="-120"/>
              </a:rPr>
              <a:t>Un pipeline n'est termine que lorsqu'il a ete teste sur des cas limites et que son cout/latence a ete mesure</a:t>
            </a:r>
            <a:endParaRPr lang="en-US" sz="1200" dirty="0"/>
          </a:p>
        </p:txBody>
      </p:sp>
      <p:sp>
        <p:nvSpPr>
          <p:cNvPr id="32" name="Text 24"/>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33" name="Text 25"/>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11094415" cy="1051560"/>
          </a:xfrm>
          <a:prstGeom prst="roundRect">
            <a:avLst>
              <a:gd name="adj" fmla="val 5217"/>
            </a:avLst>
          </a:prstGeom>
          <a:solidFill>
            <a:srgbClr val="1E2761"/>
          </a:solidFill>
          <a:ln/>
        </p:spPr>
      </p:sp>
      <p:sp>
        <p:nvSpPr>
          <p:cNvPr id="3" name="Text 1"/>
          <p:cNvSpPr/>
          <p:nvPr/>
        </p:nvSpPr>
        <p:spPr>
          <a:xfrm>
            <a:off x="822960" y="548640"/>
            <a:ext cx="7315200" cy="274320"/>
          </a:xfrm>
          <a:prstGeom prst="rect">
            <a:avLst/>
          </a:prstGeom>
          <a:noFill/>
          <a:ln/>
        </p:spPr>
        <p:txBody>
          <a:bodyPr wrap="square" lIns="0" tIns="0" rIns="0" bIns="0" rtlCol="0" anchor="ctr"/>
          <a:lstStyle/>
          <a:p>
            <a:pPr indent="0" marL="0">
              <a:buNone/>
            </a:pPr>
            <a:r>
              <a:rPr lang="en-US" sz="1200" b="1" spc="150" kern="0" dirty="0">
                <a:solidFill>
                  <a:srgbClr val="F2B134"/>
                </a:solidFill>
                <a:latin typeface="Calibri" pitchFamily="34" charset="0"/>
                <a:ea typeface="Calibri" pitchFamily="34" charset="-122"/>
                <a:cs typeface="Calibri" pitchFamily="34" charset="-120"/>
              </a:rPr>
              <a:t>TRAVAUX PRATIQUES  N°9</a:t>
            </a:r>
            <a:endParaRPr lang="en-US" sz="1200" dirty="0"/>
          </a:p>
        </p:txBody>
      </p:sp>
      <p:sp>
        <p:nvSpPr>
          <p:cNvPr id="4" name="Text 2"/>
          <p:cNvSpPr/>
          <p:nvPr/>
        </p:nvSpPr>
        <p:spPr>
          <a:xfrm>
            <a:off x="822960" y="804672"/>
            <a:ext cx="777240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Projet fil rouge : pipeline intelligent (voir Projet pedagogique)</a:t>
            </a:r>
            <a:endParaRPr lang="en-US" sz="1800" dirty="0"/>
          </a:p>
        </p:txBody>
      </p:sp>
      <p:sp>
        <p:nvSpPr>
          <p:cNvPr id="5" name="Text 3"/>
          <p:cNvSpPr/>
          <p:nvPr/>
        </p:nvSpPr>
        <p:spPr>
          <a:xfrm>
            <a:off x="9265615" y="548640"/>
            <a:ext cx="2103120" cy="274320"/>
          </a:xfrm>
          <a:prstGeom prst="rect">
            <a:avLst/>
          </a:prstGeom>
          <a:noFill/>
          <a:ln/>
        </p:spPr>
        <p:txBody>
          <a:bodyPr wrap="square" lIns="0" tIns="0" rIns="0" bIns="0" rtlCol="0" anchor="ctr"/>
          <a:lstStyle/>
          <a:p>
            <a:pPr algn="r" indent="0" marL="0">
              <a:buNone/>
            </a:pPr>
            <a:r>
              <a:rPr lang="en-US" sz="1150" dirty="0">
                <a:solidFill>
                  <a:srgbClr val="CADCFC"/>
                </a:solidFill>
                <a:latin typeface="Calibri" pitchFamily="34" charset="0"/>
                <a:ea typeface="Calibri" pitchFamily="34" charset="-122"/>
                <a:cs typeface="Calibri" pitchFamily="34" charset="-120"/>
              </a:rPr>
              <a:t>Duree : 210 min</a:t>
            </a:r>
            <a:endParaRPr lang="en-US" sz="1150" dirty="0"/>
          </a:p>
        </p:txBody>
      </p:sp>
      <p:sp>
        <p:nvSpPr>
          <p:cNvPr id="6" name="Text 4"/>
          <p:cNvSpPr/>
          <p:nvPr/>
        </p:nvSpPr>
        <p:spPr>
          <a:xfrm>
            <a:off x="548640" y="1783080"/>
            <a:ext cx="548640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Consignes</a:t>
            </a:r>
            <a:endParaRPr lang="en-US" sz="1400" dirty="0"/>
          </a:p>
        </p:txBody>
      </p:sp>
      <p:sp>
        <p:nvSpPr>
          <p:cNvPr id="7" name="Text 5"/>
          <p:cNvSpPr/>
          <p:nvPr/>
        </p:nvSpPr>
        <p:spPr>
          <a:xfrm>
            <a:off x="548640" y="2194560"/>
            <a:ext cx="11094415" cy="384048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Implementer le pipeline specifie le matin : appel(s) LLM, validation de la sortie, logging</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Tester le pipeline sur au moins un cas limite ou un prompt adverse</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Mesurer le cout et la latence du pipeline sur un jeu de test representatif</a:t>
            </a:r>
            <a:endParaRPr lang="en-US" sz="1400" dirty="0"/>
          </a:p>
          <a:p>
            <a:pPr marL="228600" indent="-228600">
              <a:lnSpc>
                <a:spcPct val="115000"/>
              </a:lnSpc>
              <a:spcAft>
                <a:spcPts val="1200"/>
              </a:spcAft>
              <a:buSzPct val="100000"/>
              <a:buChar char="●"/>
            </a:pPr>
            <a:r>
              <a:rPr lang="en-US" sz="1400" dirty="0">
                <a:solidFill>
                  <a:srgbClr val="26293A"/>
                </a:solidFill>
                <a:latin typeface="Calibri" pitchFamily="34" charset="0"/>
                <a:ea typeface="Calibri" pitchFamily="34" charset="-122"/>
                <a:cs typeface="Calibri" pitchFamily="34" charset="-120"/>
              </a:rPr>
              <a:t>Preparer une presentation de 10 minutes : cas d'usage, architecture, demonstration, retour d'experience</a:t>
            </a:r>
            <a:endParaRPr lang="en-US" sz="1400" dirty="0"/>
          </a:p>
        </p:txBody>
      </p:sp>
      <p:sp>
        <p:nvSpPr>
          <p:cNvPr id="9" name="Text 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0" name="Text 7"/>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TP9 · Module 10</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11480"/>
            <a:ext cx="548640" cy="548640"/>
          </a:xfrm>
          <a:prstGeom prst="ellipse">
            <a:avLst/>
          </a:prstGeom>
          <a:solidFill>
            <a:srgbClr val="2E7D32"/>
          </a:solidFill>
          <a:ln/>
        </p:spPr>
      </p:sp>
      <p:sp>
        <p:nvSpPr>
          <p:cNvPr id="3" name="Text 1"/>
          <p:cNvSpPr/>
          <p:nvPr/>
        </p:nvSpPr>
        <p:spPr>
          <a:xfrm>
            <a:off x="548640" y="41148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4" name="Text 2"/>
          <p:cNvSpPr/>
          <p:nvPr/>
        </p:nvSpPr>
        <p:spPr>
          <a:xfrm>
            <a:off x="1325880" y="411480"/>
            <a:ext cx="8229600" cy="54864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Elements de reponse - TP n°9</a:t>
            </a:r>
            <a:endParaRPr lang="en-US" sz="2000" dirty="0"/>
          </a:p>
        </p:txBody>
      </p:sp>
      <p:sp>
        <p:nvSpPr>
          <p:cNvPr id="5" name="Shape 3"/>
          <p:cNvSpPr/>
          <p:nvPr/>
        </p:nvSpPr>
        <p:spPr>
          <a:xfrm>
            <a:off x="548640" y="2743200"/>
            <a:ext cx="11094415" cy="1463040"/>
          </a:xfrm>
          <a:prstGeom prst="roundRect">
            <a:avLst>
              <a:gd name="adj" fmla="val 5000"/>
            </a:avLst>
          </a:prstGeom>
          <a:solidFill>
            <a:srgbClr val="F3F6FC"/>
          </a:solidFill>
          <a:ln/>
        </p:spPr>
      </p:sp>
      <p:sp>
        <p:nvSpPr>
          <p:cNvPr id="6" name="Text 4"/>
          <p:cNvSpPr/>
          <p:nvPr/>
        </p:nvSpPr>
        <p:spPr>
          <a:xfrm>
            <a:off x="868680" y="2971800"/>
            <a:ext cx="10454335" cy="100584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350" dirty="0">
                <a:solidFill>
                  <a:srgbClr val="26293A"/>
                </a:solidFill>
                <a:latin typeface="Calibri" pitchFamily="34" charset="0"/>
                <a:ea typeface="Calibri" pitchFamily="34" charset="-122"/>
                <a:cs typeface="Calibri" pitchFamily="34" charset="-120"/>
              </a:rPr>
              <a:t>Le detail des livrables attendus et de la grille d'evaluation figure dans le document Projet pedagogique remis separement.</a:t>
            </a:r>
            <a:endParaRPr lang="en-US" sz="135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Corrige TP9 · Module 10</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640080"/>
          </a:xfrm>
          <a:prstGeom prst="rect">
            <a:avLst/>
          </a:prstGeom>
          <a:noFill/>
          <a:ln/>
        </p:spPr>
        <p:txBody>
          <a:bodyPr wrap="square" lIns="0" tIns="0" rIns="0" bIns="0"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Projet fil rouge - Conception d'un pipeline intelligent</a:t>
            </a:r>
            <a:endParaRPr lang="en-US" sz="2400" dirty="0"/>
          </a:p>
        </p:txBody>
      </p:sp>
      <p:sp>
        <p:nvSpPr>
          <p:cNvPr id="3" name="Text 1"/>
          <p:cNvSpPr/>
          <p:nvPr/>
        </p:nvSpPr>
        <p:spPr>
          <a:xfrm>
            <a:off x="548640" y="1143000"/>
            <a:ext cx="11094415" cy="1005840"/>
          </a:xfrm>
          <a:prstGeom prst="rect">
            <a:avLst/>
          </a:prstGeom>
          <a:noFill/>
          <a:ln/>
        </p:spPr>
        <p:txBody>
          <a:bodyPr wrap="square" lIns="0" tIns="0" rIns="0" bIns="0" rtlCol="0" anchor="ctr"/>
          <a:lstStyle/>
          <a:p>
            <a:pPr indent="0" marL="0">
              <a:lnSpc>
                <a:spcPct val="120000"/>
              </a:lnSpc>
              <a:buNone/>
            </a:pPr>
            <a:r>
              <a:rPr lang="en-US" sz="1200" dirty="0">
                <a:solidFill>
                  <a:srgbClr val="26293A"/>
                </a:solidFill>
                <a:latin typeface="Calibri" pitchFamily="34" charset="0"/>
                <a:ea typeface="Calibri" pitchFamily="34" charset="-122"/>
                <a:cs typeface="Calibri" pitchFamily="34" charset="-120"/>
              </a:rPr>
              <a:t>Le dernier jour de la formation est consacre a un projet de synthese realise en petits groupes (3 a 4 personnes). Chaque groupe concoit, implemente et presente un pipeline de donnees integrant un ou plusieurs appels a un LLM, en appliquant l'ensemble des notions vues durant la semaine : manipulation de l'API, orchestration, generation et validation de donnees, securisation, monitoring.</a:t>
            </a:r>
            <a:endParaRPr lang="en-US" sz="1200" dirty="0"/>
          </a:p>
        </p:txBody>
      </p:sp>
      <p:sp>
        <p:nvSpPr>
          <p:cNvPr id="4" name="Text 2"/>
          <p:cNvSpPr/>
          <p:nvPr/>
        </p:nvSpPr>
        <p:spPr>
          <a:xfrm>
            <a:off x="548640" y="2240280"/>
            <a:ext cx="51206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Cas d'usage suggeres</a:t>
            </a:r>
            <a:endParaRPr lang="en-US" sz="1400" dirty="0"/>
          </a:p>
        </p:txBody>
      </p:sp>
      <p:sp>
        <p:nvSpPr>
          <p:cNvPr id="5" name="Text 3"/>
          <p:cNvSpPr/>
          <p:nvPr/>
        </p:nvSpPr>
        <p:spPr>
          <a:xfrm>
            <a:off x="548640" y="2606040"/>
            <a:ext cx="5120640" cy="3108960"/>
          </a:xfrm>
          <a:prstGeom prst="rect">
            <a:avLst/>
          </a:prstGeom>
          <a:noFill/>
          <a:ln/>
        </p:spPr>
        <p:txBody>
          <a:bodyPr wrap="square" lIns="0" tIns="0" rIns="0" bIns="0" rtlCol="0" anchor="t"/>
          <a:lstStyle/>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Generateur de jeux de donnees de test synthetiques et valides pour un environnement de recette</a:t>
            </a:r>
            <a:endParaRPr lang="en-US" sz="1150" dirty="0"/>
          </a:p>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Assistant de documentation automatique d'un schema de donnees ou d'un pipeline existant</a:t>
            </a:r>
            <a:endParaRPr lang="en-US" sz="1150" dirty="0"/>
          </a:p>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Copilote de generation de requetes SQL a partir d'une demande en langage naturel</a:t>
            </a:r>
            <a:endParaRPr lang="en-US" sz="1150" dirty="0"/>
          </a:p>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Assistant de resume et de priorisation de logs applicatifs</a:t>
            </a:r>
            <a:endParaRPr lang="en-US" sz="1150" dirty="0"/>
          </a:p>
          <a:p>
            <a:pPr marL="228600" indent="-228600">
              <a:lnSpc>
                <a:spcPct val="115000"/>
              </a:lnSpc>
              <a:spcAft>
                <a:spcPts val="800"/>
              </a:spcAft>
              <a:buSzPct val="100000"/>
              <a:buChar char="●"/>
            </a:pPr>
            <a:r>
              <a:rPr lang="en-US" sz="1150" dirty="0">
                <a:solidFill>
                  <a:srgbClr val="26293A"/>
                </a:solidFill>
                <a:latin typeface="Calibri" pitchFamily="34" charset="0"/>
                <a:ea typeface="Calibri" pitchFamily="34" charset="-122"/>
                <a:cs typeface="Calibri" pitchFamily="34" charset="-120"/>
              </a:rPr>
              <a:t>Pipeline d'anonymisation assistee par IA d'un jeu de donnees fictif</a:t>
            </a:r>
            <a:endParaRPr lang="en-US" sz="1150" dirty="0"/>
          </a:p>
        </p:txBody>
      </p:sp>
      <p:sp>
        <p:nvSpPr>
          <p:cNvPr id="6" name="Text 4"/>
          <p:cNvSpPr/>
          <p:nvPr/>
        </p:nvSpPr>
        <p:spPr>
          <a:xfrm>
            <a:off x="6309360" y="2240280"/>
            <a:ext cx="5120640" cy="32004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Livrables attendus</a:t>
            </a:r>
            <a:endParaRPr lang="en-US" sz="1400" dirty="0"/>
          </a:p>
        </p:txBody>
      </p:sp>
      <p:sp>
        <p:nvSpPr>
          <p:cNvPr id="7" name="Text 5"/>
          <p:cNvSpPr/>
          <p:nvPr/>
        </p:nvSpPr>
        <p:spPr>
          <a:xfrm>
            <a:off x="6309360" y="2606040"/>
            <a:ext cx="5120640" cy="3108960"/>
          </a:xfrm>
          <a:prstGeom prst="rect">
            <a:avLst/>
          </a:prstGeom>
          <a:noFill/>
          <a:ln/>
        </p:spPr>
        <p:txBody>
          <a:bodyPr wrap="square" lIns="0" tIns="0" rIns="0" bIns="0" rtlCol="0" anchor="t"/>
          <a:lstStyle/>
          <a:p>
            <a:pPr marL="228600" indent="-228600">
              <a:lnSpc>
                <a:spcPct val="115000"/>
              </a:lnSpc>
              <a:spcAft>
                <a:spcPts val="700"/>
              </a:spcAft>
              <a:buSzPct val="100000"/>
              <a:buChar char="●"/>
            </a:pPr>
            <a:r>
              <a:rPr lang="en-US" sz="1100" dirty="0">
                <a:solidFill>
                  <a:srgbClr val="26293A"/>
                </a:solidFill>
                <a:latin typeface="Calibri" pitchFamily="34" charset="0"/>
                <a:ea typeface="Calibri" pitchFamily="34" charset="-122"/>
                <a:cs typeface="Calibri" pitchFamily="34" charset="-120"/>
              </a:rPr>
              <a:t>Une specification courte (1 page) : cas d'usage, schema d'entree/sortie, contraintes de validation</a:t>
            </a:r>
            <a:endParaRPr lang="en-US" sz="1100" dirty="0"/>
          </a:p>
          <a:p>
            <a:pPr marL="228600" indent="-228600">
              <a:lnSpc>
                <a:spcPct val="115000"/>
              </a:lnSpc>
              <a:spcAft>
                <a:spcPts val="700"/>
              </a:spcAft>
              <a:buSzPct val="100000"/>
              <a:buChar char="●"/>
            </a:pPr>
            <a:r>
              <a:rPr lang="en-US" sz="1100" dirty="0">
                <a:solidFill>
                  <a:srgbClr val="26293A"/>
                </a:solidFill>
                <a:latin typeface="Calibri" pitchFamily="34" charset="0"/>
                <a:ea typeface="Calibri" pitchFamily="34" charset="-122"/>
                <a:cs typeface="Calibri" pitchFamily="34" charset="-120"/>
              </a:rPr>
              <a:t>Un pipeline fonctionnel (script ou notebook Python) integrant au moins un appel LLM et une etape de validation de la sortie</a:t>
            </a:r>
            <a:endParaRPr lang="en-US" sz="1100" dirty="0"/>
          </a:p>
          <a:p>
            <a:pPr marL="228600" indent="-228600">
              <a:lnSpc>
                <a:spcPct val="115000"/>
              </a:lnSpc>
              <a:spcAft>
                <a:spcPts val="700"/>
              </a:spcAft>
              <a:buSzPct val="100000"/>
              <a:buChar char="●"/>
            </a:pPr>
            <a:r>
              <a:rPr lang="en-US" sz="1100" dirty="0">
                <a:solidFill>
                  <a:srgbClr val="26293A"/>
                </a:solidFill>
                <a:latin typeface="Calibri" pitchFamily="34" charset="0"/>
                <a:ea typeface="Calibri" pitchFamily="34" charset="-122"/>
                <a:cs typeface="Calibri" pitchFamily="34" charset="-120"/>
              </a:rPr>
              <a:t>Un mecanisme de logging minimal (prompt, reponse, duree, statut) sur chaque appel</a:t>
            </a:r>
            <a:endParaRPr lang="en-US" sz="1100" dirty="0"/>
          </a:p>
          <a:p>
            <a:pPr marL="228600" indent="-228600">
              <a:lnSpc>
                <a:spcPct val="115000"/>
              </a:lnSpc>
              <a:spcAft>
                <a:spcPts val="700"/>
              </a:spcAft>
              <a:buSzPct val="100000"/>
              <a:buChar char="●"/>
            </a:pPr>
            <a:r>
              <a:rPr lang="en-US" sz="1100" dirty="0">
                <a:solidFill>
                  <a:srgbClr val="26293A"/>
                </a:solidFill>
                <a:latin typeface="Calibri" pitchFamily="34" charset="0"/>
                <a:ea typeface="Calibri" pitchFamily="34" charset="-122"/>
                <a:cs typeface="Calibri" pitchFamily="34" charset="-120"/>
              </a:rPr>
              <a:t>Un jeu de test (au moins 3 cas, dont 1 cas limite ou adverse) et les resultats obtenus</a:t>
            </a:r>
            <a:endParaRPr lang="en-US" sz="1100" dirty="0"/>
          </a:p>
          <a:p>
            <a:pPr marL="228600" indent="-228600">
              <a:lnSpc>
                <a:spcPct val="115000"/>
              </a:lnSpc>
              <a:spcAft>
                <a:spcPts val="700"/>
              </a:spcAft>
              <a:buSzPct val="100000"/>
              <a:buChar char="●"/>
            </a:pPr>
            <a:r>
              <a:rPr lang="en-US" sz="1100" dirty="0">
                <a:solidFill>
                  <a:srgbClr val="26293A"/>
                </a:solidFill>
                <a:latin typeface="Calibri" pitchFamily="34" charset="0"/>
                <a:ea typeface="Calibri" pitchFamily="34" charset="-122"/>
                <a:cs typeface="Calibri" pitchFamily="34" charset="-120"/>
              </a:rPr>
              <a:t>Une mesure indicative du cout et de la latence du pipeline sur le jeu de test</a:t>
            </a:r>
            <a:endParaRPr lang="en-US" sz="1100" dirty="0"/>
          </a:p>
          <a:p>
            <a:pPr marL="228600" indent="-228600">
              <a:lnSpc>
                <a:spcPct val="115000"/>
              </a:lnSpc>
              <a:spcAft>
                <a:spcPts val="700"/>
              </a:spcAft>
              <a:buSzPct val="100000"/>
              <a:buChar char="●"/>
            </a:pPr>
            <a:r>
              <a:rPr lang="en-US" sz="1100" dirty="0">
                <a:solidFill>
                  <a:srgbClr val="26293A"/>
                </a:solidFill>
                <a:latin typeface="Calibri" pitchFamily="34" charset="0"/>
                <a:ea typeface="Calibri" pitchFamily="34" charset="-122"/>
                <a:cs typeface="Calibri" pitchFamily="34" charset="-120"/>
              </a:rPr>
              <a:t>Un support de presentation de 10 minutes (slides ou demonstration live)</a:t>
            </a:r>
            <a:endParaRPr lang="en-US" sz="1100" dirty="0"/>
          </a:p>
        </p:txBody>
      </p:sp>
      <p:sp>
        <p:nvSpPr>
          <p:cNvPr id="9" name="Text 6"/>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0" name="Text 7"/>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Projet fil rouge</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54864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Projet fil rouge · Planning et evaluation</a:t>
            </a:r>
            <a:endParaRPr lang="en-US" sz="2200" dirty="0"/>
          </a:p>
        </p:txBody>
      </p:sp>
      <p:sp>
        <p:nvSpPr>
          <p:cNvPr id="3" name="Text 1"/>
          <p:cNvSpPr/>
          <p:nvPr/>
        </p:nvSpPr>
        <p:spPr>
          <a:xfrm>
            <a:off x="548640" y="1143000"/>
            <a:ext cx="51206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Planning du Jour 5</a:t>
            </a:r>
            <a:endParaRPr lang="en-US" sz="13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5120640" cy="914400"/>
        </p:xfrm>
        <a:graphic>
          <a:graphicData uri="http://schemas.openxmlformats.org/drawingml/2006/table">
            <a:tbl>
              <a:tblPr/>
              <a:tblGrid>
                <a:gridCol w="1463040"/>
                <a:gridCol w="3657600"/>
              </a:tblGrid>
              <a:tr h="0">
                <a:tc>
                  <a:txBody>
                    <a:bodyPr/>
                    <a:lstStyle/>
                    <a:p>
                      <a:pPr indent="0" marL="0">
                        <a:buNone/>
                      </a:pPr>
                      <a:r>
                        <a:rPr lang="en-US" sz="1000" b="1" dirty="0">
                          <a:solidFill>
                            <a:srgbClr val="1E2761"/>
                          </a:solidFill>
                          <a:latin typeface="Calibri" pitchFamily="34" charset="0"/>
                          <a:ea typeface="Calibri" pitchFamily="34" charset="-122"/>
                          <a:cs typeface="Calibri" pitchFamily="34" charset="-120"/>
                        </a:rPr>
                        <a:t>9h00 - 9h20</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1000" dirty="0">
                          <a:solidFill>
                            <a:srgbClr val="26293A"/>
                          </a:solidFill>
                          <a:latin typeface="Calibri" pitchFamily="34" charset="0"/>
                          <a:ea typeface="Calibri" pitchFamily="34" charset="-122"/>
                          <a:cs typeface="Calibri" pitchFamily="34" charset="-120"/>
                        </a:rPr>
                        <a:t>Lancement, presentation des consignes et des cas d'usage suggeres</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E2761"/>
                          </a:solidFill>
                          <a:latin typeface="Calibri" pitchFamily="34" charset="0"/>
                          <a:ea typeface="Calibri" pitchFamily="34" charset="-122"/>
                          <a:cs typeface="Calibri" pitchFamily="34" charset="-120"/>
                        </a:rPr>
                        <a:t>9h20 - 11h15</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1000" dirty="0">
                          <a:solidFill>
                            <a:srgbClr val="26293A"/>
                          </a:solidFill>
                          <a:latin typeface="Calibri" pitchFamily="34" charset="0"/>
                          <a:ea typeface="Calibri" pitchFamily="34" charset="-122"/>
                          <a:cs typeface="Calibri" pitchFamily="34" charset="-120"/>
                        </a:rPr>
                        <a:t>Cadrage (module 9) : choix du cas d'usage, architecture, specification technique</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E2761"/>
                          </a:solidFill>
                          <a:latin typeface="Calibri" pitchFamily="34" charset="0"/>
                          <a:ea typeface="Calibri" pitchFamily="34" charset="-122"/>
                          <a:cs typeface="Calibri" pitchFamily="34" charset="-120"/>
                        </a:rPr>
                        <a:t>11h15 - 12h30</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1000" dirty="0">
                          <a:solidFill>
                            <a:srgbClr val="26293A"/>
                          </a:solidFill>
                          <a:latin typeface="Calibri" pitchFamily="34" charset="0"/>
                          <a:ea typeface="Calibri" pitchFamily="34" charset="-122"/>
                          <a:cs typeface="Calibri" pitchFamily="34" charset="-120"/>
                        </a:rPr>
                        <a:t>Debut d'implementation en autonomie (sur la base de la specification validee)</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E2761"/>
                          </a:solidFill>
                          <a:latin typeface="Calibri" pitchFamily="34" charset="0"/>
                          <a:ea typeface="Calibri" pitchFamily="34" charset="-122"/>
                          <a:cs typeface="Calibri" pitchFamily="34" charset="-120"/>
                        </a:rPr>
                        <a:t>12h30 - 13h30</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1000" dirty="0">
                          <a:solidFill>
                            <a:srgbClr val="26293A"/>
                          </a:solidFill>
                          <a:latin typeface="Calibri" pitchFamily="34" charset="0"/>
                          <a:ea typeface="Calibri" pitchFamily="34" charset="-122"/>
                          <a:cs typeface="Calibri" pitchFamily="34" charset="-120"/>
                        </a:rPr>
                        <a:t>Pause dejeuner</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E2761"/>
                          </a:solidFill>
                          <a:latin typeface="Calibri" pitchFamily="34" charset="0"/>
                          <a:ea typeface="Calibri" pitchFamily="34" charset="-122"/>
                          <a:cs typeface="Calibri" pitchFamily="34" charset="-120"/>
                        </a:rPr>
                        <a:t>13h30 - 15h00</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1000" dirty="0">
                          <a:solidFill>
                            <a:srgbClr val="26293A"/>
                          </a:solidFill>
                          <a:latin typeface="Calibri" pitchFamily="34" charset="0"/>
                          <a:ea typeface="Calibri" pitchFamily="34" charset="-122"/>
                          <a:cs typeface="Calibri" pitchFamily="34" charset="-120"/>
                        </a:rPr>
                        <a:t>Implementation du pipeline en autonomie</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E2761"/>
                          </a:solidFill>
                          <a:latin typeface="Calibri" pitchFamily="34" charset="0"/>
                          <a:ea typeface="Calibri" pitchFamily="34" charset="-122"/>
                          <a:cs typeface="Calibri" pitchFamily="34" charset="-120"/>
                        </a:rPr>
                        <a:t>15h00 - 15h30</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1000" dirty="0">
                          <a:solidFill>
                            <a:srgbClr val="26293A"/>
                          </a:solidFill>
                          <a:latin typeface="Calibri" pitchFamily="34" charset="0"/>
                          <a:ea typeface="Calibri" pitchFamily="34" charset="-122"/>
                          <a:cs typeface="Calibri" pitchFamily="34" charset="-120"/>
                        </a:rPr>
                        <a:t>Tests, evaluation, mesure du cout et de la latence</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E2761"/>
                          </a:solidFill>
                          <a:latin typeface="Calibri" pitchFamily="34" charset="0"/>
                          <a:ea typeface="Calibri" pitchFamily="34" charset="-122"/>
                          <a:cs typeface="Calibri" pitchFamily="34" charset="-120"/>
                        </a:rPr>
                        <a:t>15h30 - 15h45</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1000" dirty="0">
                          <a:solidFill>
                            <a:srgbClr val="26293A"/>
                          </a:solidFill>
                          <a:latin typeface="Calibri" pitchFamily="34" charset="0"/>
                          <a:ea typeface="Calibri" pitchFamily="34" charset="-122"/>
                          <a:cs typeface="Calibri" pitchFamily="34" charset="-120"/>
                        </a:rPr>
                        <a:t>Pause</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E2761"/>
                          </a:solidFill>
                          <a:latin typeface="Calibri" pitchFamily="34" charset="0"/>
                          <a:ea typeface="Calibri" pitchFamily="34" charset="-122"/>
                          <a:cs typeface="Calibri" pitchFamily="34" charset="-120"/>
                        </a:rPr>
                        <a:t>15h45 - 16h30</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1000" dirty="0">
                          <a:solidFill>
                            <a:srgbClr val="26293A"/>
                          </a:solidFill>
                          <a:latin typeface="Calibri" pitchFamily="34" charset="0"/>
                          <a:ea typeface="Calibri" pitchFamily="34" charset="-122"/>
                          <a:cs typeface="Calibri" pitchFamily="34" charset="-120"/>
                        </a:rPr>
                        <a:t>Presentations des projets (10 min par groupe)</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r h="0">
                <a:tc>
                  <a:txBody>
                    <a:bodyPr/>
                    <a:lstStyle/>
                    <a:p>
                      <a:pPr indent="0" marL="0">
                        <a:buNone/>
                      </a:pPr>
                      <a:r>
                        <a:rPr lang="en-US" sz="1000" b="1" dirty="0">
                          <a:solidFill>
                            <a:srgbClr val="1E2761"/>
                          </a:solidFill>
                          <a:latin typeface="Calibri" pitchFamily="34" charset="0"/>
                          <a:ea typeface="Calibri" pitchFamily="34" charset="-122"/>
                          <a:cs typeface="Calibri" pitchFamily="34" charset="-120"/>
                        </a:rPr>
                        <a:t>16h30 - 17h00</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1000" dirty="0">
                          <a:solidFill>
                            <a:srgbClr val="26293A"/>
                          </a:solidFill>
                          <a:latin typeface="Calibri" pitchFamily="34" charset="0"/>
                          <a:ea typeface="Calibri" pitchFamily="34" charset="-122"/>
                          <a:cs typeface="Calibri" pitchFamily="34" charset="-120"/>
                        </a:rPr>
                        <a:t>Debriefing collectif, quiz de revision, bilan de formation</a:t>
                      </a:r>
                      <a:endParaRPr lang="en-US" sz="10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bl>
          </a:graphicData>
        </a:graphic>
      </p:graphicFrame>
      <p:sp>
        <p:nvSpPr>
          <p:cNvPr id="5" name="Text 2"/>
          <p:cNvSpPr/>
          <p:nvPr/>
        </p:nvSpPr>
        <p:spPr>
          <a:xfrm>
            <a:off x="6309360" y="1143000"/>
            <a:ext cx="5120640" cy="32004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Grille d'evaluation (retour formatif)</a:t>
            </a:r>
            <a:endParaRPr lang="en-US" sz="1300" dirty="0"/>
          </a:p>
        </p:txBody>
      </p:sp>
      <p:graphicFrame>
        <p:nvGraphicFramePr>
          <p:cNvPr id="113" name="Table 1"/>
          <p:cNvGraphicFramePr>
            <a:graphicFrameLocks noGrp="1"/>
          </p:cNvGraphicFramePr>
          <p:nvPr>
            <p:extLst>
              <p:ext uri="{D42A27DB-BD31-4B8C-83A1-F6EECF244321}">
                <p14:modId xmlns:p14="http://schemas.microsoft.com/office/powerpoint/2010/main" val="1579011935"/>
              </p:ext>
            </p:extLst>
          </p:nvPr>
        </p:nvGraphicFramePr>
        <p:xfrm>
          <a:off x="6309360" y="1508760"/>
          <a:ext cx="5120640" cy="914400"/>
        </p:xfrm>
        <a:graphic>
          <a:graphicData uri="http://schemas.openxmlformats.org/drawingml/2006/table">
            <a:tbl>
              <a:tblPr/>
              <a:tblGrid>
                <a:gridCol w="1554480"/>
                <a:gridCol w="3566160"/>
              </a:tblGrid>
              <a:tr h="0">
                <a:tc>
                  <a:txBody>
                    <a:bodyPr/>
                    <a:lstStyle/>
                    <a:p>
                      <a:pPr indent="0" marL="0">
                        <a:buNone/>
                      </a:pPr>
                      <a:r>
                        <a:rPr lang="en-US" sz="950" b="1" dirty="0">
                          <a:solidFill>
                            <a:srgbClr val="1E2761"/>
                          </a:solidFill>
                          <a:latin typeface="Calibri" pitchFamily="34" charset="0"/>
                          <a:ea typeface="Calibri" pitchFamily="34" charset="-122"/>
                          <a:cs typeface="Calibri" pitchFamily="34" charset="-120"/>
                        </a:rPr>
                        <a:t>Pertinence du cas d'usage</a:t>
                      </a:r>
                      <a:endParaRPr lang="en-US" sz="95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900" dirty="0">
                          <a:solidFill>
                            <a:srgbClr val="26293A"/>
                          </a:solidFill>
                          <a:latin typeface="Calibri" pitchFamily="34" charset="0"/>
                          <a:ea typeface="Calibri" pitchFamily="34" charset="-122"/>
                          <a:cs typeface="Calibri" pitchFamily="34" charset="-120"/>
                        </a:rPr>
                        <a:t>Le cas d'usage choisi apporte une valeur claire pour un Data Engineer et le risque identifie est maitrise</a:t>
                      </a:r>
                      <a:endParaRPr lang="en-US" sz="9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E2761"/>
                          </a:solidFill>
                          <a:latin typeface="Calibri" pitchFamily="34" charset="0"/>
                          <a:ea typeface="Calibri" pitchFamily="34" charset="-122"/>
                          <a:cs typeface="Calibri" pitchFamily="34" charset="-120"/>
                        </a:rPr>
                        <a:t>Qualite de l'architecture</a:t>
                      </a:r>
                      <a:endParaRPr lang="en-US" sz="95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900" dirty="0">
                          <a:solidFill>
                            <a:srgbClr val="26293A"/>
                          </a:solidFill>
                          <a:latin typeface="Calibri" pitchFamily="34" charset="0"/>
                          <a:ea typeface="Calibri" pitchFamily="34" charset="-122"/>
                          <a:cs typeface="Calibri" pitchFamily="34" charset="-120"/>
                        </a:rPr>
                        <a:t>Les choix d'architecture (modele, orchestration, synchrone/asynchrone) sont justifies et adaptes au besoin</a:t>
                      </a:r>
                      <a:endParaRPr lang="en-US" sz="9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E2761"/>
                          </a:solidFill>
                          <a:latin typeface="Calibri" pitchFamily="34" charset="0"/>
                          <a:ea typeface="Calibri" pitchFamily="34" charset="-122"/>
                          <a:cs typeface="Calibri" pitchFamily="34" charset="-120"/>
                        </a:rPr>
                        <a:t>Robustesse du pipeline</a:t>
                      </a:r>
                      <a:endParaRPr lang="en-US" sz="95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900" dirty="0">
                          <a:solidFill>
                            <a:srgbClr val="26293A"/>
                          </a:solidFill>
                          <a:latin typeface="Calibri" pitchFamily="34" charset="0"/>
                          <a:ea typeface="Calibri" pitchFamily="34" charset="-122"/>
                          <a:cs typeface="Calibri" pitchFamily="34" charset="-120"/>
                        </a:rPr>
                        <a:t>La sortie du LLM est validee ; le pipeline gere au moins un cas limite sans echec silencieux</a:t>
                      </a:r>
                      <a:endParaRPr lang="en-US" sz="9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E2761"/>
                          </a:solidFill>
                          <a:latin typeface="Calibri" pitchFamily="34" charset="0"/>
                          <a:ea typeface="Calibri" pitchFamily="34" charset="-122"/>
                          <a:cs typeface="Calibri" pitchFamily="34" charset="-120"/>
                        </a:rPr>
                        <a:t>Securite et conformite</a:t>
                      </a:r>
                      <a:endParaRPr lang="en-US" sz="95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900" dirty="0">
                          <a:solidFill>
                            <a:srgbClr val="26293A"/>
                          </a:solidFill>
                          <a:latin typeface="Calibri" pitchFamily="34" charset="0"/>
                          <a:ea typeface="Calibri" pitchFamily="34" charset="-122"/>
                          <a:cs typeface="Calibri" pitchFamily="34" charset="-120"/>
                        </a:rPr>
                        <a:t>Aucune donnee reelle utilisee, cles API gerees correctement, logging en place</a:t>
                      </a:r>
                      <a:endParaRPr lang="en-US" sz="9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r h="0">
                <a:tc>
                  <a:txBody>
                    <a:bodyPr/>
                    <a:lstStyle/>
                    <a:p>
                      <a:pPr indent="0" marL="0">
                        <a:buNone/>
                      </a:pPr>
                      <a:r>
                        <a:rPr lang="en-US" sz="950" b="1" dirty="0">
                          <a:solidFill>
                            <a:srgbClr val="1E2761"/>
                          </a:solidFill>
                          <a:latin typeface="Calibri" pitchFamily="34" charset="0"/>
                          <a:ea typeface="Calibri" pitchFamily="34" charset="-122"/>
                          <a:cs typeface="Calibri" pitchFamily="34" charset="-120"/>
                        </a:rPr>
                        <a:t>Qualite de la presentation</a:t>
                      </a:r>
                      <a:endParaRPr lang="en-US" sz="95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3F6FC"/>
                    </a:solidFill>
                  </a:tcPr>
                </a:tc>
                <a:tc>
                  <a:txBody>
                    <a:bodyPr/>
                    <a:lstStyle/>
                    <a:p>
                      <a:pPr indent="0" marL="0">
                        <a:buNone/>
                      </a:pPr>
                      <a:r>
                        <a:rPr lang="en-US" sz="900" dirty="0">
                          <a:solidFill>
                            <a:srgbClr val="26293A"/>
                          </a:solidFill>
                          <a:latin typeface="Calibri" pitchFamily="34" charset="0"/>
                          <a:ea typeface="Calibri" pitchFamily="34" charset="-122"/>
                          <a:cs typeface="Calibri" pitchFamily="34" charset="-120"/>
                        </a:rPr>
                        <a:t>La demonstration est claire, tient dans le temps imparti et explicite les retours d'experience</a:t>
                      </a:r>
                      <a:endParaRPr lang="en-US" sz="900" dirty="0">
                        <a:latin typeface="Calibri" charset="0"/>
                        <a:ea typeface="Calibri" charset="0"/>
                        <a:cs typeface="Calibri" charset="0"/>
                      </a:endParaRPr>
                    </a:p>
                  </a:txBody>
                  <a:tcPr marL="76200" marR="76200" marT="38100" marB="38100" anchor="ctr">
                    <a:lnL w="9525" cap="flat" cmpd="sng" algn="ctr">
                      <a:solidFill>
                        <a:srgbClr val="E3E6F0"/>
                      </a:solidFill>
                      <a:prstDash val="solid"/>
                      <a:round/>
                      <a:headEnd type="none" w="med" len="med"/>
                      <a:tailEnd type="none" w="med" len="med"/>
                    </a:lnL>
                    <a:lnR w="9525" cap="flat" cmpd="sng" algn="ctr">
                      <a:solidFill>
                        <a:srgbClr val="E3E6F0"/>
                      </a:solidFill>
                      <a:prstDash val="solid"/>
                      <a:round/>
                      <a:headEnd type="none" w="med" len="med"/>
                      <a:tailEnd type="none" w="med" len="med"/>
                    </a:lnR>
                    <a:lnT w="9525" cap="flat" cmpd="sng" algn="ctr">
                      <a:solidFill>
                        <a:srgbClr val="E3E6F0"/>
                      </a:solidFill>
                      <a:prstDash val="solid"/>
                      <a:round/>
                      <a:headEnd type="none" w="med" len="med"/>
                      <a:tailEnd type="none" w="med" len="med"/>
                    </a:lnT>
                    <a:lnB w="9525" cap="flat" cmpd="sng" algn="ctr">
                      <a:solidFill>
                        <a:srgbClr val="E3E6F0"/>
                      </a:solidFill>
                      <a:prstDash val="solid"/>
                      <a:round/>
                      <a:headEnd type="none" w="med" len="med"/>
                      <a:tailEnd type="none" w="med" len="med"/>
                    </a:lnB>
                    <a:solidFill>
                      <a:srgbClr val="FFFFFF"/>
                    </a:solidFill>
                  </a:tcPr>
                </a:tc>
              </a:tr>
            </a:tbl>
          </a:graphicData>
        </a:graphic>
      </p:graphicFrame>
      <p:sp>
        <p:nvSpPr>
          <p:cNvPr id="7" name="Text 3"/>
          <p:cNvSpPr/>
          <p:nvPr/>
        </p:nvSpPr>
        <p:spPr>
          <a:xfrm>
            <a:off x="548640" y="6172200"/>
            <a:ext cx="11094415" cy="274320"/>
          </a:xfrm>
          <a:prstGeom prst="rect">
            <a:avLst/>
          </a:prstGeom>
          <a:noFill/>
          <a:ln/>
        </p:spPr>
        <p:txBody>
          <a:bodyPr wrap="square" lIns="0" tIns="0" rIns="0" bIns="0" rtlCol="0" anchor="ctr"/>
          <a:lstStyle/>
          <a:p>
            <a:pPr indent="0" marL="0">
              <a:buNone/>
            </a:pPr>
            <a:r>
              <a:rPr lang="en-US" sz="1000" i="1" dirty="0">
                <a:solidFill>
                  <a:srgbClr val="7C8194"/>
                </a:solidFill>
                <a:latin typeface="Calibri" pitchFamily="34" charset="0"/>
                <a:ea typeface="Calibri" pitchFamily="34" charset="-122"/>
                <a:cs typeface="Calibri" pitchFamily="34" charset="-120"/>
              </a:rPr>
              <a:t>Detail complet des consignes et de la grille : voir le document « Projet pedagogique » remis separement.</a:t>
            </a:r>
            <a:endParaRPr lang="en-US" sz="1000" dirty="0"/>
          </a:p>
        </p:txBody>
      </p:sp>
      <p:sp>
        <p:nvSpPr>
          <p:cNvPr id="9" name="Text 4"/>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0" name="Text 5"/>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Projet fil rouge</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0292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Quiz de revision (corrige) — 1/3</a:t>
            </a:r>
            <a:endParaRPr lang="en-US" sz="2200" dirty="0"/>
          </a:p>
        </p:txBody>
      </p:sp>
      <p:sp>
        <p:nvSpPr>
          <p:cNvPr id="3" name="Text 1"/>
          <p:cNvSpPr/>
          <p:nvPr/>
        </p:nvSpPr>
        <p:spPr>
          <a:xfrm>
            <a:off x="548640" y="1097280"/>
            <a:ext cx="11094415" cy="384048"/>
          </a:xfrm>
          <a:prstGeom prst="rect">
            <a:avLst/>
          </a:prstGeom>
          <a:noFill/>
          <a:ln/>
        </p:spPr>
        <p:txBody>
          <a:bodyPr wrap="square" lIns="0" tIns="0" rIns="0" bIns="0" rtlCol="0" anchor="ctr"/>
          <a:lstStyle/>
          <a:p>
            <a:pPr indent="0" marL="0">
              <a:lnSpc>
                <a:spcPct val="105000"/>
              </a:lnSpc>
              <a:buNone/>
            </a:pPr>
            <a:r>
              <a:rPr lang="en-US" sz="1200" b="1" dirty="0">
                <a:solidFill>
                  <a:srgbClr val="1E2761"/>
                </a:solidFill>
                <a:latin typeface="Calibri" pitchFamily="34" charset="0"/>
                <a:ea typeface="Calibri" pitchFamily="34" charset="-122"/>
                <a:cs typeface="Calibri" pitchFamily="34" charset="-120"/>
              </a:rPr>
              <a:t>1. Quelle est la difference fondamentale entre IA classique et IA generative ?</a:t>
            </a:r>
            <a:endParaRPr lang="en-US" sz="1200" dirty="0"/>
          </a:p>
        </p:txBody>
      </p:sp>
      <p:sp>
        <p:nvSpPr>
          <p:cNvPr id="4" name="Text 2"/>
          <p:cNvSpPr/>
          <p:nvPr/>
        </p:nvSpPr>
        <p:spPr>
          <a:xfrm>
            <a:off x="777240" y="1463040"/>
            <a:ext cx="10865815" cy="902970"/>
          </a:xfrm>
          <a:prstGeom prst="rect">
            <a:avLst/>
          </a:prstGeom>
          <a:noFill/>
          <a:ln/>
        </p:spPr>
        <p:txBody>
          <a:bodyPr wrap="square" lIns="0" tIns="0" rIns="0" bIns="0" rtlCol="0" anchor="t"/>
          <a:lstStyle/>
          <a:p>
            <a:pPr indent="0" marL="0">
              <a:lnSpc>
                <a:spcPct val="108000"/>
              </a:lnSpc>
              <a:buNone/>
            </a:pPr>
            <a:r>
              <a:rPr lang="en-US" sz="1050" dirty="0">
                <a:solidFill>
                  <a:srgbClr val="26293A"/>
                </a:solidFill>
                <a:latin typeface="Calibri" pitchFamily="34" charset="0"/>
                <a:ea typeface="Calibri" pitchFamily="34" charset="-122"/>
                <a:cs typeface="Calibri" pitchFamily="34" charset="-120"/>
              </a:rPr>
              <a:t>L'IA classique produit une sortie bornee (une classe, un score) a partir de regles ou d'un apprentissage supervise ; l'IA generative produit un contenu nouveau (texte, code, donnees) a partir de modeles pre-entraines sur de grands volumes de donnees.</a:t>
            </a:r>
            <a:endParaRPr lang="en-US" sz="1050" dirty="0"/>
          </a:p>
        </p:txBody>
      </p:sp>
      <p:sp>
        <p:nvSpPr>
          <p:cNvPr id="5" name="Text 3"/>
          <p:cNvSpPr/>
          <p:nvPr/>
        </p:nvSpPr>
        <p:spPr>
          <a:xfrm>
            <a:off x="548640" y="2411730"/>
            <a:ext cx="11094415" cy="384048"/>
          </a:xfrm>
          <a:prstGeom prst="rect">
            <a:avLst/>
          </a:prstGeom>
          <a:noFill/>
          <a:ln/>
        </p:spPr>
        <p:txBody>
          <a:bodyPr wrap="square" lIns="0" tIns="0" rIns="0" bIns="0" rtlCol="0" anchor="ctr"/>
          <a:lstStyle/>
          <a:p>
            <a:pPr indent="0" marL="0">
              <a:lnSpc>
                <a:spcPct val="105000"/>
              </a:lnSpc>
              <a:buNone/>
            </a:pPr>
            <a:r>
              <a:rPr lang="en-US" sz="1200" b="1" dirty="0">
                <a:solidFill>
                  <a:srgbClr val="1E2761"/>
                </a:solidFill>
                <a:latin typeface="Calibri" pitchFamily="34" charset="0"/>
                <a:ea typeface="Calibri" pitchFamily="34" charset="-122"/>
                <a:cs typeface="Calibri" pitchFamily="34" charset="-120"/>
              </a:rPr>
              <a:t>2. Qu'est-ce qu'un token et pourquoi son nombre influence-t-il le cout d'un appel API a un LLM ?</a:t>
            </a:r>
            <a:endParaRPr lang="en-US" sz="1200" dirty="0"/>
          </a:p>
        </p:txBody>
      </p:sp>
      <p:sp>
        <p:nvSpPr>
          <p:cNvPr id="6" name="Text 4"/>
          <p:cNvSpPr/>
          <p:nvPr/>
        </p:nvSpPr>
        <p:spPr>
          <a:xfrm>
            <a:off x="777240" y="2777490"/>
            <a:ext cx="10865815" cy="902970"/>
          </a:xfrm>
          <a:prstGeom prst="rect">
            <a:avLst/>
          </a:prstGeom>
          <a:noFill/>
          <a:ln/>
        </p:spPr>
        <p:txBody>
          <a:bodyPr wrap="square" lIns="0" tIns="0" rIns="0" bIns="0" rtlCol="0" anchor="t"/>
          <a:lstStyle/>
          <a:p>
            <a:pPr indent="0" marL="0">
              <a:lnSpc>
                <a:spcPct val="108000"/>
              </a:lnSpc>
              <a:buNone/>
            </a:pPr>
            <a:r>
              <a:rPr lang="en-US" sz="1050" dirty="0">
                <a:solidFill>
                  <a:srgbClr val="26293A"/>
                </a:solidFill>
                <a:latin typeface="Calibri" pitchFamily="34" charset="0"/>
                <a:ea typeface="Calibri" pitchFamily="34" charset="-122"/>
                <a:cs typeface="Calibri" pitchFamily="34" charset="-120"/>
              </a:rPr>
              <a:t>Un token est une unite de decoupage du texte (mot, sous-mot ou caractere) manipulee par le modele. Le nombre total de tokens en entree et en sortie determine directement le cout facture et la latence de la reponse.</a:t>
            </a:r>
            <a:endParaRPr lang="en-US" sz="1050" dirty="0"/>
          </a:p>
        </p:txBody>
      </p:sp>
      <p:sp>
        <p:nvSpPr>
          <p:cNvPr id="7" name="Text 5"/>
          <p:cNvSpPr/>
          <p:nvPr/>
        </p:nvSpPr>
        <p:spPr>
          <a:xfrm>
            <a:off x="548640" y="3726180"/>
            <a:ext cx="11094415" cy="384048"/>
          </a:xfrm>
          <a:prstGeom prst="rect">
            <a:avLst/>
          </a:prstGeom>
          <a:noFill/>
          <a:ln/>
        </p:spPr>
        <p:txBody>
          <a:bodyPr wrap="square" lIns="0" tIns="0" rIns="0" bIns="0" rtlCol="0" anchor="ctr"/>
          <a:lstStyle/>
          <a:p>
            <a:pPr indent="0" marL="0">
              <a:lnSpc>
                <a:spcPct val="105000"/>
              </a:lnSpc>
              <a:buNone/>
            </a:pPr>
            <a:r>
              <a:rPr lang="en-US" sz="1200" b="1" dirty="0">
                <a:solidFill>
                  <a:srgbClr val="1E2761"/>
                </a:solidFill>
                <a:latin typeface="Calibri" pitchFamily="34" charset="0"/>
                <a:ea typeface="Calibri" pitchFamily="34" charset="-122"/>
                <a:cs typeface="Calibri" pitchFamily="34" charset="-120"/>
              </a:rPr>
              <a:t>3. A quoi sert le parametre 'temperature' lors d'un appel a un LLM ?</a:t>
            </a:r>
            <a:endParaRPr lang="en-US" sz="1200" dirty="0"/>
          </a:p>
        </p:txBody>
      </p:sp>
      <p:sp>
        <p:nvSpPr>
          <p:cNvPr id="8" name="Text 6"/>
          <p:cNvSpPr/>
          <p:nvPr/>
        </p:nvSpPr>
        <p:spPr>
          <a:xfrm>
            <a:off x="777240" y="4091940"/>
            <a:ext cx="10865815" cy="902970"/>
          </a:xfrm>
          <a:prstGeom prst="rect">
            <a:avLst/>
          </a:prstGeom>
          <a:noFill/>
          <a:ln/>
        </p:spPr>
        <p:txBody>
          <a:bodyPr wrap="square" lIns="0" tIns="0" rIns="0" bIns="0" rtlCol="0" anchor="t"/>
          <a:lstStyle/>
          <a:p>
            <a:pPr indent="0" marL="0">
              <a:lnSpc>
                <a:spcPct val="108000"/>
              </a:lnSpc>
              <a:buNone/>
            </a:pPr>
            <a:r>
              <a:rPr lang="en-US" sz="1050" dirty="0">
                <a:solidFill>
                  <a:srgbClr val="26293A"/>
                </a:solidFill>
                <a:latin typeface="Calibri" pitchFamily="34" charset="0"/>
                <a:ea typeface="Calibri" pitchFamily="34" charset="-122"/>
                <a:cs typeface="Calibri" pitchFamily="34" charset="-120"/>
              </a:rPr>
              <a:t>Il controle le caractere aleatoire/creatif de la generation : une temperature basse donne des reponses plus deterministes et reproductibles, une temperature elevee donne des reponses plus diverses mais moins previsibles.</a:t>
            </a:r>
            <a:endParaRPr lang="en-US" sz="1050" dirty="0"/>
          </a:p>
        </p:txBody>
      </p:sp>
      <p:sp>
        <p:nvSpPr>
          <p:cNvPr id="9" name="Text 7"/>
          <p:cNvSpPr/>
          <p:nvPr/>
        </p:nvSpPr>
        <p:spPr>
          <a:xfrm>
            <a:off x="548640" y="5040630"/>
            <a:ext cx="11094415" cy="384048"/>
          </a:xfrm>
          <a:prstGeom prst="rect">
            <a:avLst/>
          </a:prstGeom>
          <a:noFill/>
          <a:ln/>
        </p:spPr>
        <p:txBody>
          <a:bodyPr wrap="square" lIns="0" tIns="0" rIns="0" bIns="0" rtlCol="0" anchor="ctr"/>
          <a:lstStyle/>
          <a:p>
            <a:pPr indent="0" marL="0">
              <a:lnSpc>
                <a:spcPct val="105000"/>
              </a:lnSpc>
              <a:buNone/>
            </a:pPr>
            <a:r>
              <a:rPr lang="en-US" sz="1200" b="1" dirty="0">
                <a:solidFill>
                  <a:srgbClr val="1E2761"/>
                </a:solidFill>
                <a:latin typeface="Calibri" pitchFamily="34" charset="0"/>
                <a:ea typeface="Calibri" pitchFamily="34" charset="-122"/>
                <a:cs typeface="Calibri" pitchFamily="34" charset="-120"/>
              </a:rPr>
              <a:t>4. Pourquoi ne faut-il jamais ecrire une cle d'API directement dans le code ?</a:t>
            </a:r>
            <a:endParaRPr lang="en-US" sz="1200" dirty="0"/>
          </a:p>
        </p:txBody>
      </p:sp>
      <p:sp>
        <p:nvSpPr>
          <p:cNvPr id="10" name="Text 8"/>
          <p:cNvSpPr/>
          <p:nvPr/>
        </p:nvSpPr>
        <p:spPr>
          <a:xfrm>
            <a:off x="777240" y="5406390"/>
            <a:ext cx="10865815" cy="902970"/>
          </a:xfrm>
          <a:prstGeom prst="rect">
            <a:avLst/>
          </a:prstGeom>
          <a:noFill/>
          <a:ln/>
        </p:spPr>
        <p:txBody>
          <a:bodyPr wrap="square" lIns="0" tIns="0" rIns="0" bIns="0" rtlCol="0" anchor="t"/>
          <a:lstStyle/>
          <a:p>
            <a:pPr indent="0" marL="0">
              <a:lnSpc>
                <a:spcPct val="108000"/>
              </a:lnSpc>
              <a:buNone/>
            </a:pPr>
            <a:r>
              <a:rPr lang="en-US" sz="1050" dirty="0">
                <a:solidFill>
                  <a:srgbClr val="26293A"/>
                </a:solidFill>
                <a:latin typeface="Calibri" pitchFamily="34" charset="0"/>
                <a:ea typeface="Calibri" pitchFamily="34" charset="-122"/>
                <a:cs typeface="Calibri" pitchFamily="34" charset="-120"/>
              </a:rPr>
              <a:t>Risque de fuite (depot de code, historique Git), de facturation frauduleuse et de compromission du compte. Il faut utiliser une variable d'environnement ou un gestionnaire de secrets, jamais une valeur en dur.</a:t>
            </a:r>
            <a:endParaRPr lang="en-US" sz="1050" dirty="0"/>
          </a:p>
        </p:txBody>
      </p:sp>
      <p:sp>
        <p:nvSpPr>
          <p:cNvPr id="12" name="Text 9"/>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3" name="Text 10"/>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Quiz</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0292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Quiz de revision (corrige) — 2/3</a:t>
            </a:r>
            <a:endParaRPr lang="en-US" sz="2200" dirty="0"/>
          </a:p>
        </p:txBody>
      </p:sp>
      <p:sp>
        <p:nvSpPr>
          <p:cNvPr id="3" name="Text 1"/>
          <p:cNvSpPr/>
          <p:nvPr/>
        </p:nvSpPr>
        <p:spPr>
          <a:xfrm>
            <a:off x="548640" y="1097280"/>
            <a:ext cx="11094415" cy="384048"/>
          </a:xfrm>
          <a:prstGeom prst="rect">
            <a:avLst/>
          </a:prstGeom>
          <a:noFill/>
          <a:ln/>
        </p:spPr>
        <p:txBody>
          <a:bodyPr wrap="square" lIns="0" tIns="0" rIns="0" bIns="0" rtlCol="0" anchor="ctr"/>
          <a:lstStyle/>
          <a:p>
            <a:pPr indent="0" marL="0">
              <a:lnSpc>
                <a:spcPct val="105000"/>
              </a:lnSpc>
              <a:buNone/>
            </a:pPr>
            <a:r>
              <a:rPr lang="en-US" sz="1200" b="1" dirty="0">
                <a:solidFill>
                  <a:srgbClr val="1E2761"/>
                </a:solidFill>
                <a:latin typeface="Calibri" pitchFamily="34" charset="0"/>
                <a:ea typeface="Calibri" pitchFamily="34" charset="-122"/>
                <a:cs typeface="Calibri" pitchFamily="34" charset="-120"/>
              </a:rPr>
              <a:t>5. Citez deux mecanismes permettant d'orchestrer plusieurs appels LLM au sein d'un meme traitement (LangChain).</a:t>
            </a:r>
            <a:endParaRPr lang="en-US" sz="1200" dirty="0"/>
          </a:p>
        </p:txBody>
      </p:sp>
      <p:sp>
        <p:nvSpPr>
          <p:cNvPr id="4" name="Text 2"/>
          <p:cNvSpPr/>
          <p:nvPr/>
        </p:nvSpPr>
        <p:spPr>
          <a:xfrm>
            <a:off x="777240" y="1463040"/>
            <a:ext cx="10865815" cy="902970"/>
          </a:xfrm>
          <a:prstGeom prst="rect">
            <a:avLst/>
          </a:prstGeom>
          <a:noFill/>
          <a:ln/>
        </p:spPr>
        <p:txBody>
          <a:bodyPr wrap="square" lIns="0" tIns="0" rIns="0" bIns="0" rtlCol="0" anchor="t"/>
          <a:lstStyle/>
          <a:p>
            <a:pPr indent="0" marL="0">
              <a:lnSpc>
                <a:spcPct val="108000"/>
              </a:lnSpc>
              <a:buNone/>
            </a:pPr>
            <a:r>
              <a:rPr lang="en-US" sz="1050" dirty="0">
                <a:solidFill>
                  <a:srgbClr val="26293A"/>
                </a:solidFill>
                <a:latin typeface="Calibri" pitchFamily="34" charset="0"/>
                <a:ea typeface="Calibri" pitchFamily="34" charset="-122"/>
                <a:cs typeface="Calibri" pitchFamily="34" charset="-120"/>
              </a:rPr>
              <a:t>Les prompts chaines (chains, plusieurs appels successifs decomposant une tache complexe) et le couplage de modeles hybrides (routing entre un LLM puissant et un LLM leger selon l'etape, pour optimiser cout et latence).</a:t>
            </a:r>
            <a:endParaRPr lang="en-US" sz="1050" dirty="0"/>
          </a:p>
        </p:txBody>
      </p:sp>
      <p:sp>
        <p:nvSpPr>
          <p:cNvPr id="5" name="Text 3"/>
          <p:cNvSpPr/>
          <p:nvPr/>
        </p:nvSpPr>
        <p:spPr>
          <a:xfrm>
            <a:off x="548640" y="2411730"/>
            <a:ext cx="11094415" cy="384048"/>
          </a:xfrm>
          <a:prstGeom prst="rect">
            <a:avLst/>
          </a:prstGeom>
          <a:noFill/>
          <a:ln/>
        </p:spPr>
        <p:txBody>
          <a:bodyPr wrap="square" lIns="0" tIns="0" rIns="0" bIns="0" rtlCol="0" anchor="ctr"/>
          <a:lstStyle/>
          <a:p>
            <a:pPr indent="0" marL="0">
              <a:lnSpc>
                <a:spcPct val="105000"/>
              </a:lnSpc>
              <a:buNone/>
            </a:pPr>
            <a:r>
              <a:rPr lang="en-US" sz="1200" b="1" dirty="0">
                <a:solidFill>
                  <a:srgbClr val="1E2761"/>
                </a:solidFill>
                <a:latin typeface="Calibri" pitchFamily="34" charset="0"/>
                <a:ea typeface="Calibri" pitchFamily="34" charset="-122"/>
                <a:cs typeface="Calibri" pitchFamily="34" charset="-120"/>
              </a:rPr>
              <a:t>6. Quelles sont les grandes etapes d'un pipeline de generation de donnees synthetiques ?</a:t>
            </a:r>
            <a:endParaRPr lang="en-US" sz="1200" dirty="0"/>
          </a:p>
        </p:txBody>
      </p:sp>
      <p:sp>
        <p:nvSpPr>
          <p:cNvPr id="6" name="Text 4"/>
          <p:cNvSpPr/>
          <p:nvPr/>
        </p:nvSpPr>
        <p:spPr>
          <a:xfrm>
            <a:off x="777240" y="2777490"/>
            <a:ext cx="10865815" cy="902970"/>
          </a:xfrm>
          <a:prstGeom prst="rect">
            <a:avLst/>
          </a:prstGeom>
          <a:noFill/>
          <a:ln/>
        </p:spPr>
        <p:txBody>
          <a:bodyPr wrap="square" lIns="0" tIns="0" rIns="0" bIns="0" rtlCol="0" anchor="t"/>
          <a:lstStyle/>
          <a:p>
            <a:pPr indent="0" marL="0">
              <a:lnSpc>
                <a:spcPct val="108000"/>
              </a:lnSpc>
              <a:buNone/>
            </a:pPr>
            <a:r>
              <a:rPr lang="en-US" sz="1050" dirty="0">
                <a:solidFill>
                  <a:srgbClr val="26293A"/>
                </a:solidFill>
                <a:latin typeface="Calibri" pitchFamily="34" charset="0"/>
                <a:ea typeface="Calibri" pitchFamily="34" charset="-122"/>
                <a:cs typeface="Calibri" pitchFamily="34" charset="-120"/>
              </a:rPr>
              <a:t>Definition du schema cible (JSON Schema ou DDL), redaction du prompt de generation, appel au LLM, validation de la sortie (conformite au schema et aux contraintes metier), puis obtention du jeu de donnees valide.</a:t>
            </a:r>
            <a:endParaRPr lang="en-US" sz="1050" dirty="0"/>
          </a:p>
        </p:txBody>
      </p:sp>
      <p:sp>
        <p:nvSpPr>
          <p:cNvPr id="7" name="Text 5"/>
          <p:cNvSpPr/>
          <p:nvPr/>
        </p:nvSpPr>
        <p:spPr>
          <a:xfrm>
            <a:off x="548640" y="3726180"/>
            <a:ext cx="11094415" cy="384048"/>
          </a:xfrm>
          <a:prstGeom prst="rect">
            <a:avLst/>
          </a:prstGeom>
          <a:noFill/>
          <a:ln/>
        </p:spPr>
        <p:txBody>
          <a:bodyPr wrap="square" lIns="0" tIns="0" rIns="0" bIns="0" rtlCol="0" anchor="ctr"/>
          <a:lstStyle/>
          <a:p>
            <a:pPr indent="0" marL="0">
              <a:lnSpc>
                <a:spcPct val="105000"/>
              </a:lnSpc>
              <a:buNone/>
            </a:pPr>
            <a:r>
              <a:rPr lang="en-US" sz="1200" b="1" dirty="0">
                <a:solidFill>
                  <a:srgbClr val="1E2761"/>
                </a:solidFill>
                <a:latin typeface="Calibri" pitchFamily="34" charset="0"/>
                <a:ea typeface="Calibri" pitchFamily="34" charset="-122"/>
                <a:cs typeface="Calibri" pitchFamily="34" charset="-120"/>
              </a:rPr>
              <a:t>7. Citez deux metriques permettant d'evaluer la qualite d'un jeu de donnees genere par IA.</a:t>
            </a:r>
            <a:endParaRPr lang="en-US" sz="1200" dirty="0"/>
          </a:p>
        </p:txBody>
      </p:sp>
      <p:sp>
        <p:nvSpPr>
          <p:cNvPr id="8" name="Text 6"/>
          <p:cNvSpPr/>
          <p:nvPr/>
        </p:nvSpPr>
        <p:spPr>
          <a:xfrm>
            <a:off x="777240" y="4091940"/>
            <a:ext cx="10865815" cy="902970"/>
          </a:xfrm>
          <a:prstGeom prst="rect">
            <a:avLst/>
          </a:prstGeom>
          <a:noFill/>
          <a:ln/>
        </p:spPr>
        <p:txBody>
          <a:bodyPr wrap="square" lIns="0" tIns="0" rIns="0" bIns="0" rtlCol="0" anchor="t"/>
          <a:lstStyle/>
          <a:p>
            <a:pPr indent="0" marL="0">
              <a:lnSpc>
                <a:spcPct val="108000"/>
              </a:lnSpc>
              <a:buNone/>
            </a:pPr>
            <a:r>
              <a:rPr lang="en-US" sz="1050" dirty="0">
                <a:solidFill>
                  <a:srgbClr val="26293A"/>
                </a:solidFill>
                <a:latin typeface="Calibri" pitchFamily="34" charset="0"/>
                <a:ea typeface="Calibri" pitchFamily="34" charset="-122"/>
                <a:cs typeface="Calibri" pitchFamily="34" charset="-120"/>
              </a:rPr>
              <a:t>Le taux de conformite au schema attendu, la plausibilite statistique des valeurs, l'absence de doublons/la diversite, et la coherence referentielle (cles etrangeres) sont des metriques attendues (2 suffisent).</a:t>
            </a:r>
            <a:endParaRPr lang="en-US" sz="1050" dirty="0"/>
          </a:p>
        </p:txBody>
      </p:sp>
      <p:sp>
        <p:nvSpPr>
          <p:cNvPr id="9" name="Text 7"/>
          <p:cNvSpPr/>
          <p:nvPr/>
        </p:nvSpPr>
        <p:spPr>
          <a:xfrm>
            <a:off x="548640" y="5040630"/>
            <a:ext cx="11094415" cy="384048"/>
          </a:xfrm>
          <a:prstGeom prst="rect">
            <a:avLst/>
          </a:prstGeom>
          <a:noFill/>
          <a:ln/>
        </p:spPr>
        <p:txBody>
          <a:bodyPr wrap="square" lIns="0" tIns="0" rIns="0" bIns="0" rtlCol="0" anchor="ctr"/>
          <a:lstStyle/>
          <a:p>
            <a:pPr indent="0" marL="0">
              <a:lnSpc>
                <a:spcPct val="105000"/>
              </a:lnSpc>
              <a:buNone/>
            </a:pPr>
            <a:r>
              <a:rPr lang="en-US" sz="1200" b="1" dirty="0">
                <a:solidFill>
                  <a:srgbClr val="1E2761"/>
                </a:solidFill>
                <a:latin typeface="Calibri" pitchFamily="34" charset="0"/>
                <a:ea typeface="Calibri" pitchFamily="34" charset="-122"/>
                <a:cs typeface="Calibri" pitchFamily="34" charset="-120"/>
              </a:rPr>
              <a:t>8. Qu'est-ce qu'une hallucination et comment peut-on la limiter ?</a:t>
            </a:r>
            <a:endParaRPr lang="en-US" sz="1200" dirty="0"/>
          </a:p>
        </p:txBody>
      </p:sp>
      <p:sp>
        <p:nvSpPr>
          <p:cNvPr id="10" name="Text 8"/>
          <p:cNvSpPr/>
          <p:nvPr/>
        </p:nvSpPr>
        <p:spPr>
          <a:xfrm>
            <a:off x="777240" y="5406390"/>
            <a:ext cx="10865815" cy="902970"/>
          </a:xfrm>
          <a:prstGeom prst="rect">
            <a:avLst/>
          </a:prstGeom>
          <a:noFill/>
          <a:ln/>
        </p:spPr>
        <p:txBody>
          <a:bodyPr wrap="square" lIns="0" tIns="0" rIns="0" bIns="0" rtlCol="0" anchor="t"/>
          <a:lstStyle/>
          <a:p>
            <a:pPr indent="0" marL="0">
              <a:lnSpc>
                <a:spcPct val="108000"/>
              </a:lnSpc>
              <a:buNone/>
            </a:pPr>
            <a:r>
              <a:rPr lang="en-US" sz="1050" dirty="0">
                <a:solidFill>
                  <a:srgbClr val="26293A"/>
                </a:solidFill>
                <a:latin typeface="Calibri" pitchFamily="34" charset="0"/>
                <a:ea typeface="Calibri" pitchFamily="34" charset="-122"/>
                <a:cs typeface="Calibri" pitchFamily="34" charset="-120"/>
              </a:rPr>
              <a:t>Une hallucination est une information inventee par le LLM mais presentee comme factuelle. On la limite par la validation systematique de la sortie, le recoupement avec une source de verite et le controle humain (human-in-the-loop).</a:t>
            </a:r>
            <a:endParaRPr lang="en-US" sz="1050" dirty="0"/>
          </a:p>
        </p:txBody>
      </p:sp>
      <p:sp>
        <p:nvSpPr>
          <p:cNvPr id="12" name="Text 9"/>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13" name="Text 10"/>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Quiz</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058400" cy="502920"/>
          </a:xfrm>
          <a:prstGeom prst="rect">
            <a:avLst/>
          </a:prstGeom>
          <a:noFill/>
          <a:ln/>
        </p:spPr>
        <p:txBody>
          <a:bodyPr wrap="square" lIns="0" tIns="0" rIns="0" bIns="0" rtlCol="0" anchor="ctr"/>
          <a:lstStyle/>
          <a:p>
            <a:pPr indent="0" marL="0">
              <a:buNone/>
            </a:pPr>
            <a:r>
              <a:rPr lang="en-US" sz="2200" b="1" dirty="0">
                <a:solidFill>
                  <a:srgbClr val="1E2761"/>
                </a:solidFill>
                <a:latin typeface="Cambria" pitchFamily="34" charset="0"/>
                <a:ea typeface="Cambria" pitchFamily="34" charset="-122"/>
                <a:cs typeface="Cambria" pitchFamily="34" charset="-120"/>
              </a:rPr>
              <a:t>Quiz de revision (corrige) — 3/3</a:t>
            </a:r>
            <a:endParaRPr lang="en-US" sz="2200" dirty="0"/>
          </a:p>
        </p:txBody>
      </p:sp>
      <p:sp>
        <p:nvSpPr>
          <p:cNvPr id="3" name="Text 1"/>
          <p:cNvSpPr/>
          <p:nvPr/>
        </p:nvSpPr>
        <p:spPr>
          <a:xfrm>
            <a:off x="548640" y="1097280"/>
            <a:ext cx="11094415" cy="384048"/>
          </a:xfrm>
          <a:prstGeom prst="rect">
            <a:avLst/>
          </a:prstGeom>
          <a:noFill/>
          <a:ln/>
        </p:spPr>
        <p:txBody>
          <a:bodyPr wrap="square" lIns="0" tIns="0" rIns="0" bIns="0" rtlCol="0" anchor="ctr"/>
          <a:lstStyle/>
          <a:p>
            <a:pPr indent="0" marL="0">
              <a:lnSpc>
                <a:spcPct val="105000"/>
              </a:lnSpc>
              <a:buNone/>
            </a:pPr>
            <a:r>
              <a:rPr lang="en-US" sz="1200" b="1" dirty="0">
                <a:solidFill>
                  <a:srgbClr val="1E2761"/>
                </a:solidFill>
                <a:latin typeface="Calibri" pitchFamily="34" charset="0"/>
                <a:ea typeface="Calibri" pitchFamily="34" charset="-122"/>
                <a:cs typeface="Calibri" pitchFamily="34" charset="-120"/>
              </a:rPr>
              <a:t>9. Quelles sont les principales obligations a respecter lors de l'usage d'un LLM sur des donnees d'entreprise (RGPD) ?</a:t>
            </a:r>
            <a:endParaRPr lang="en-US" sz="1200" dirty="0"/>
          </a:p>
        </p:txBody>
      </p:sp>
      <p:sp>
        <p:nvSpPr>
          <p:cNvPr id="4" name="Text 2"/>
          <p:cNvSpPr/>
          <p:nvPr/>
        </p:nvSpPr>
        <p:spPr>
          <a:xfrm>
            <a:off x="777240" y="1463040"/>
            <a:ext cx="10865815" cy="2217420"/>
          </a:xfrm>
          <a:prstGeom prst="rect">
            <a:avLst/>
          </a:prstGeom>
          <a:noFill/>
          <a:ln/>
        </p:spPr>
        <p:txBody>
          <a:bodyPr wrap="square" lIns="0" tIns="0" rIns="0" bIns="0" rtlCol="0" anchor="t"/>
          <a:lstStyle/>
          <a:p>
            <a:pPr indent="0" marL="0">
              <a:lnSpc>
                <a:spcPct val="108000"/>
              </a:lnSpc>
              <a:buNone/>
            </a:pPr>
            <a:r>
              <a:rPr lang="en-US" sz="1050" dirty="0">
                <a:solidFill>
                  <a:srgbClr val="26293A"/>
                </a:solidFill>
                <a:latin typeface="Calibri" pitchFamily="34" charset="0"/>
                <a:ea typeface="Calibri" pitchFamily="34" charset="-122"/>
                <a:cs typeface="Calibri" pitchFamily="34" charset="-120"/>
              </a:rPr>
              <a:t>Minimiser les donnees personnelles envoyees dans les prompts, disposer d'une base legale, connaitre la politique de sous-traitance et de transfert du fournisseur, tracer les traitements et respecter une politique de retention des logs.</a:t>
            </a:r>
            <a:endParaRPr lang="en-US" sz="1050" dirty="0"/>
          </a:p>
        </p:txBody>
      </p:sp>
      <p:sp>
        <p:nvSpPr>
          <p:cNvPr id="5" name="Text 3"/>
          <p:cNvSpPr/>
          <p:nvPr/>
        </p:nvSpPr>
        <p:spPr>
          <a:xfrm>
            <a:off x="548640" y="3726180"/>
            <a:ext cx="11094415" cy="384048"/>
          </a:xfrm>
          <a:prstGeom prst="rect">
            <a:avLst/>
          </a:prstGeom>
          <a:noFill/>
          <a:ln/>
        </p:spPr>
        <p:txBody>
          <a:bodyPr wrap="square" lIns="0" tIns="0" rIns="0" bIns="0" rtlCol="0" anchor="ctr"/>
          <a:lstStyle/>
          <a:p>
            <a:pPr indent="0" marL="0">
              <a:lnSpc>
                <a:spcPct val="105000"/>
              </a:lnSpc>
              <a:buNone/>
            </a:pPr>
            <a:r>
              <a:rPr lang="en-US" sz="1200" b="1" dirty="0">
                <a:solidFill>
                  <a:srgbClr val="1E2761"/>
                </a:solidFill>
                <a:latin typeface="Calibri" pitchFamily="34" charset="0"/>
                <a:ea typeface="Calibri" pitchFamily="34" charset="-122"/>
                <a:cs typeface="Calibri" pitchFamily="34" charset="-120"/>
              </a:rPr>
              <a:t>10. Pourquoi le principe de 'human-in-the-loop' est-il essentiel avant tout usage en production d'une sortie generee par IA ?</a:t>
            </a:r>
            <a:endParaRPr lang="en-US" sz="1200" dirty="0"/>
          </a:p>
        </p:txBody>
      </p:sp>
      <p:sp>
        <p:nvSpPr>
          <p:cNvPr id="6" name="Text 4"/>
          <p:cNvSpPr/>
          <p:nvPr/>
        </p:nvSpPr>
        <p:spPr>
          <a:xfrm>
            <a:off x="777240" y="4091940"/>
            <a:ext cx="10865815" cy="2217420"/>
          </a:xfrm>
          <a:prstGeom prst="rect">
            <a:avLst/>
          </a:prstGeom>
          <a:noFill/>
          <a:ln/>
        </p:spPr>
        <p:txBody>
          <a:bodyPr wrap="square" lIns="0" tIns="0" rIns="0" bIns="0" rtlCol="0" anchor="t"/>
          <a:lstStyle/>
          <a:p>
            <a:pPr indent="0" marL="0">
              <a:lnSpc>
                <a:spcPct val="108000"/>
              </a:lnSpc>
              <a:buNone/>
            </a:pPr>
            <a:r>
              <a:rPr lang="en-US" sz="1050" dirty="0">
                <a:solidFill>
                  <a:srgbClr val="26293A"/>
                </a:solidFill>
                <a:latin typeface="Calibri" pitchFamily="34" charset="0"/>
                <a:ea typeface="Calibri" pitchFamily="34" charset="-122"/>
                <a:cs typeface="Calibri" pitchFamily="34" charset="-120"/>
              </a:rPr>
              <a:t>Parce qu'un LLM peut halluciner ou produire un resultat biaise ; une relecture humaine avant usage en production limite le risque d'erreur et permet d'engager la responsabilite de facon maitrisee.</a:t>
            </a:r>
            <a:endParaRPr lang="en-US" sz="1050" dirty="0"/>
          </a:p>
        </p:txBody>
      </p:sp>
      <p:sp>
        <p:nvSpPr>
          <p:cNvPr id="8" name="Text 5"/>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9" name="Text 6"/>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Quiz</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9144000" cy="548640"/>
          </a:xfrm>
          <a:prstGeom prst="rect">
            <a:avLst/>
          </a:prstGeom>
          <a:noFill/>
          <a:ln/>
        </p:spPr>
        <p:txBody>
          <a:bodyPr wrap="square" lIns="0" tIns="0" rIns="0" bIns="0"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Bilan de la formation</a:t>
            </a:r>
            <a:endParaRPr lang="en-US" sz="2600" dirty="0"/>
          </a:p>
        </p:txBody>
      </p:sp>
      <p:sp>
        <p:nvSpPr>
          <p:cNvPr id="3" name="Shape 1"/>
          <p:cNvSpPr/>
          <p:nvPr/>
        </p:nvSpPr>
        <p:spPr>
          <a:xfrm>
            <a:off x="548640" y="2399157"/>
            <a:ext cx="11094415" cy="2151126"/>
          </a:xfrm>
          <a:prstGeom prst="roundRect">
            <a:avLst>
              <a:gd name="adj" fmla="val 3401"/>
            </a:avLst>
          </a:prstGeom>
          <a:solidFill>
            <a:srgbClr val="F3F6FC"/>
          </a:solidFill>
          <a:ln/>
        </p:spPr>
      </p:sp>
      <p:sp>
        <p:nvSpPr>
          <p:cNvPr id="4" name="Text 2"/>
          <p:cNvSpPr/>
          <p:nvPr/>
        </p:nvSpPr>
        <p:spPr>
          <a:xfrm>
            <a:off x="914400" y="2719197"/>
            <a:ext cx="10362895" cy="1511046"/>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Conception, implementation et presentation d'un pipeline intelligent integrant un LLM</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Mise en pratique de l'ensemble des notions de la semaine : appels API, orchestration, generation et validation de donnees, securisation, monitoring</a:t>
            </a:r>
            <a:endParaRPr lang="en-US" sz="1500" dirty="0"/>
          </a:p>
          <a:p>
            <a:pPr marL="228600" indent="-228600">
              <a:lnSpc>
                <a:spcPct val="115000"/>
              </a:lnSpc>
              <a:spcAft>
                <a:spcPts val="1400"/>
              </a:spcAft>
              <a:buSzPct val="100000"/>
              <a:buChar char="●"/>
            </a:pPr>
            <a:r>
              <a:rPr lang="en-US" sz="1500" dirty="0">
                <a:solidFill>
                  <a:srgbClr val="26293A"/>
                </a:solidFill>
                <a:latin typeface="Calibri" pitchFamily="34" charset="0"/>
                <a:ea typeface="Calibri" pitchFamily="34" charset="-122"/>
                <a:cs typeface="Calibri" pitchFamily="34" charset="-120"/>
              </a:rPr>
              <a:t>La formation est terminee : merci pour votre participation active toute la semaine !</a:t>
            </a:r>
            <a:endParaRPr lang="en-US" sz="1500" dirty="0"/>
          </a:p>
        </p:txBody>
      </p:sp>
      <p:sp>
        <p:nvSpPr>
          <p:cNvPr id="6" name="Text 3"/>
          <p:cNvSpPr/>
          <p:nvPr/>
        </p:nvSpPr>
        <p:spPr>
          <a:xfrm>
            <a:off x="548640" y="6510528"/>
            <a:ext cx="6400800" cy="274320"/>
          </a:xfrm>
          <a:prstGeom prst="rect">
            <a:avLst/>
          </a:prstGeom>
          <a:noFill/>
          <a:ln/>
        </p:spPr>
        <p:txBody>
          <a:bodyPr wrap="square" lIns="0" tIns="0" rIns="0" bIns="0" rtlCol="0" anchor="ctr"/>
          <a:lstStyle/>
          <a:p>
            <a:pPr algn="l" indent="0" marL="0">
              <a:buNone/>
            </a:pPr>
            <a:r>
              <a:rPr lang="en-US" sz="900" dirty="0">
                <a:solidFill>
                  <a:srgbClr val="7C8194"/>
                </a:solidFill>
                <a:latin typeface="Calibri" pitchFamily="34" charset="0"/>
                <a:ea typeface="Calibri" pitchFamily="34" charset="-122"/>
                <a:cs typeface="Calibri" pitchFamily="34" charset="-120"/>
              </a:rPr>
              <a:t>IA generative pour les Data Engineers  |  BFORBANK</a:t>
            </a:r>
            <a:endParaRPr lang="en-US" sz="900" dirty="0"/>
          </a:p>
        </p:txBody>
      </p:sp>
      <p:sp>
        <p:nvSpPr>
          <p:cNvPr id="7" name="Text 4"/>
          <p:cNvSpPr/>
          <p:nvPr/>
        </p:nvSpPr>
        <p:spPr>
          <a:xfrm>
            <a:off x="7985455" y="6510528"/>
            <a:ext cx="3657600" cy="274320"/>
          </a:xfrm>
          <a:prstGeom prst="rect">
            <a:avLst/>
          </a:prstGeom>
          <a:noFill/>
          <a:ln/>
        </p:spPr>
        <p:txBody>
          <a:bodyPr wrap="square" lIns="0" tIns="0" rIns="0" bIns="0" rtlCol="0" anchor="ctr"/>
          <a:lstStyle/>
          <a:p>
            <a:pPr algn="r" indent="0" marL="0">
              <a:buNone/>
            </a:pPr>
            <a:r>
              <a:rPr lang="en-US" sz="900" dirty="0">
                <a:solidFill>
                  <a:srgbClr val="7C8194"/>
                </a:solidFill>
                <a:latin typeface="Calibri" pitchFamily="34" charset="0"/>
                <a:ea typeface="Calibri" pitchFamily="34" charset="-122"/>
                <a:cs typeface="Calibri" pitchFamily="34" charset="-120"/>
              </a:rPr>
              <a:t>Bilan</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12173A"/>
        </a:solidFill>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1E2761"/>
          </a:solidFill>
          <a:ln/>
        </p:spPr>
      </p:sp>
      <p:sp>
        <p:nvSpPr>
          <p:cNvPr id="3" name="Shape 1"/>
          <p:cNvSpPr/>
          <p:nvPr/>
        </p:nvSpPr>
        <p:spPr>
          <a:xfrm>
            <a:off x="4998568" y="4709160"/>
            <a:ext cx="2194560" cy="2194560"/>
          </a:xfrm>
          <a:prstGeom prst="ellipse">
            <a:avLst/>
          </a:prstGeom>
          <a:solidFill>
            <a:srgbClr val="1E2761"/>
          </a:solidFill>
          <a:ln/>
        </p:spPr>
      </p:sp>
      <p:pic>
        <p:nvPicPr>
          <p:cNvPr id="4" name="Image 0" descr="/home/claude/formation-genai-de/assets/png/icon-trophy-gold.png">    </p:cNvPr>
          <p:cNvPicPr>
            <a:picLocks noChangeAspect="1"/>
          </p:cNvPicPr>
          <p:nvPr/>
        </p:nvPicPr>
        <p:blipFill>
          <a:blip r:embed="rId1"/>
          <a:stretch>
            <a:fillRect/>
          </a:stretch>
        </p:blipFill>
        <p:spPr>
          <a:xfrm>
            <a:off x="5478628" y="5257800"/>
            <a:ext cx="1234440" cy="1234440"/>
          </a:xfrm>
          <a:prstGeom prst="rect">
            <a:avLst/>
          </a:prstGeom>
        </p:spPr>
      </p:pic>
      <p:sp>
        <p:nvSpPr>
          <p:cNvPr id="5" name="Text 2"/>
          <p:cNvSpPr/>
          <p:nvPr/>
        </p:nvSpPr>
        <p:spPr>
          <a:xfrm>
            <a:off x="0" y="2651760"/>
            <a:ext cx="12191695"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Merci !</a:t>
            </a:r>
            <a:endParaRPr lang="en-US" sz="4400" dirty="0"/>
          </a:p>
        </p:txBody>
      </p:sp>
      <p:sp>
        <p:nvSpPr>
          <p:cNvPr id="6" name="Text 3"/>
          <p:cNvSpPr/>
          <p:nvPr/>
        </p:nvSpPr>
        <p:spPr>
          <a:xfrm>
            <a:off x="0" y="3520440"/>
            <a:ext cx="12191695" cy="457200"/>
          </a:xfrm>
          <a:prstGeom prst="rect">
            <a:avLst/>
          </a:prstGeom>
          <a:noFill/>
          <a:ln/>
        </p:spPr>
        <p:txBody>
          <a:bodyPr wrap="square" lIns="0" tIns="0" rIns="0" bIns="0" rtlCol="0" anchor="ctr"/>
          <a:lstStyle/>
          <a:p>
            <a:pPr algn="ctr" indent="0" marL="0">
              <a:buNone/>
            </a:pPr>
            <a:r>
              <a:rPr lang="en-US" sz="1500" dirty="0">
                <a:solidFill>
                  <a:srgbClr val="F2B134"/>
                </a:solidFill>
                <a:latin typeface="Calibri" pitchFamily="34" charset="0"/>
                <a:ea typeface="Calibri" pitchFamily="34" charset="-122"/>
                <a:cs typeface="Calibri" pitchFamily="34" charset="-120"/>
              </a:rPr>
              <a:t>L'IA generative pour les Data Engineers</a:t>
            </a:r>
            <a:endParaRPr lang="en-US" sz="1500" dirty="0"/>
          </a:p>
        </p:txBody>
      </p:sp>
      <p:sp>
        <p:nvSpPr>
          <p:cNvPr id="7" name="Text 4"/>
          <p:cNvSpPr/>
          <p:nvPr/>
        </p:nvSpPr>
        <p:spPr>
          <a:xfrm>
            <a:off x="0" y="3977640"/>
            <a:ext cx="12191695" cy="365760"/>
          </a:xfrm>
          <a:prstGeom prst="rect">
            <a:avLst/>
          </a:prstGeom>
          <a:noFill/>
          <a:ln/>
        </p:spPr>
        <p:txBody>
          <a:bodyPr wrap="square" lIns="0" tIns="0" rIns="0" bIns="0" rtlCol="0" anchor="ctr"/>
          <a:lstStyle/>
          <a:p>
            <a:pPr algn="ctr" indent="0" marL="0">
              <a:buNone/>
            </a:pPr>
            <a:r>
              <a:rPr lang="en-US" sz="1200" dirty="0">
                <a:solidFill>
                  <a:srgbClr val="CADCFC"/>
                </a:solidFill>
                <a:latin typeface="Calibri" pitchFamily="34" charset="0"/>
                <a:ea typeface="Calibri" pitchFamily="34" charset="-122"/>
                <a:cs typeface="Calibri" pitchFamily="34" charset="-120"/>
              </a:rPr>
              <a:t>BFORBANK — Du 19 au 23 octobre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2026-10-08T09:10:03Z</dcterms:created>
  <dcterms:modified xsi:type="dcterms:W3CDTF">2026-10-08T09:10:03Z</dcterms:modified>
</cp:coreProperties>
</file>